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Steve Zhou</a:t>
            </a:r>
          </a:p>
          <a:p>
            <a:r>
              <a:t>Timing table (18-minute talk, 140 wpm pace)</a:t>
            </a:r>
            <a:br/>
            <a:r>
              <a:t>Steve Zhou   | slides 1-4   | 816 words   | 5:50</a:t>
            </a:r>
            <a:br/>
            <a:r>
              <a:t>Tiger Li     | slides 5-7   | 844 words   | 6:02</a:t>
            </a:r>
            <a:br/>
            <a:r>
              <a:t>Gloria Miao  | slides 8-11  | 864 words   | 6:10</a:t>
            </a:r>
            <a:br/>
            <a:r>
              <a:t>Total        | slides 1-11  | 2,524 words | 18:02  (then Q&amp;A)</a:t>
            </a:r>
          </a:p>
          <a:p>
            <a:r>
              <a:t>Target: 0:00-0:57 of the 18-minute talk</a:t>
            </a:r>
          </a:p>
          <a:p/>
          <a:p>
            <a:r>
              <a:t>Every day, satellites give us a shared clock. Your phone gets it. Cell towers get it. Even the power grid gets it. That clock comes from the Global Positioning System, or GPS. Most people just say GPS. Today we're presenting a backup for that clock. It's called Iridium STL, short for Satellite Time and Location. STL is not a new satellite system. It rides on 66 satellites that Iridium already has in space for phone calls. Nobody had to launch anything new. Here's how we'll split this talk. I'll cover what STL is and how it grew. Tiger will cover where the idea came from and who builds it. Gloria will cover the evidence for how it's actually being used, and whether it's a big deal or a small one.</a:t>
            </a:r>
          </a:p>
          <a:p/>
          <a:p>
            <a:r>
              <a:t>Sources</a:t>
            </a:r>
            <a:br/>
            <a:r>
              <a:t>Iridium. STL commercial launch. 23 May 2016.</a:t>
            </a:r>
            <a:br/>
            <a:r>
              <a:t>https://investor.iridium.com/may-23-2016</a:t>
            </a:r>
            <a:br/>
            <a:br/>
            <a:r>
              <a:t>Iridium. Satelles acquisition closes. 2 Apr 2024.</a:t>
            </a:r>
            <a:br/>
            <a:r>
              <a:t>https://investor.iridium.com/2024-04-02-Iridium-Completes-Satelles-Acquisition-Introduces-Iridium-Satellite-Time-and-Location-STL</a:t>
            </a:r>
            <a:br/>
            <a:br/>
            <a:r>
              <a:t>Thales Alenia Space. Iridium constellation illustration. 2023.</a:t>
            </a:r>
            <a:br/>
            <a:r>
              <a:t>https://www.thalesaleniaspace.com/en/press-releases/successful-launch-5-additional-spare-satellites-upgraded-iridiumr-satellite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Steve Zhou</a:t>
            </a:r>
          </a:p>
          <a:p>
            <a:r>
              <a:t>Target: 0:57-2:26 of the 18-minute talk</a:t>
            </a:r>
          </a:p>
          <a:p/>
          <a:p>
            <a:r>
              <a:t>So why do we need a backup? GPS satellites orbit about 20,000 kilometers up. That's far. By the time the signal reaches your phone, it's very weak, like someone whispering across a football field. That weak signal is easy to disrupt in two ways. Jamming is shouting over the whisper, so loud the receiver hears nothing. Spoofing is sending a fake whisper. The receiver still hears something, but it's lying about the time or the place. Militaries have jammed GPS for years. Since 2022, jamming and spoofing tied to the war in Ukraine made this a civilian problem too. Cell networks, aviation radios, and power-grid sensors all quietly depend on that same GPS clock. If the clock jumps, a 5G network can glitch, a bank's trade timestamp can be wrong, and sensors across the power grid can fall out of sync. We're not saying GPS is going away. We're saying the country built a lot of critical systems on one free, unprotected signal. In 2020, a U.S. executive order said critical infrastructure needs to survive exactly this kind of disruption. A second, independent source of time is one way to meet that goal. That's the gap STL is built to fill.</a:t>
            </a:r>
          </a:p>
          <a:p/>
          <a:p>
            <a:r>
              <a:t>Sources</a:t>
            </a:r>
            <a:br/>
            <a:r>
              <a:t>Executive Order 13905. Responsible Use of PNT Services. 12 Feb 2020.</a:t>
            </a:r>
            <a:br/>
            <a:r>
              <a:t>https://www.govinfo.gov/app/details/DCPD-202000071</a:t>
            </a:r>
            <a:br/>
            <a:br/>
            <a:r>
              <a:t>DHS / CISA. PNT Backup and Complementary Capabilities to GPS. 2020.</a:t>
            </a:r>
            <a:br/>
            <a:r>
              <a:t>https://www.cisa.gov/sites/default/files/publications/report-on-pnt-backup-complementary-capabilities-to-gps_508_0.pdf</a:t>
            </a:r>
            <a:br/>
            <a:br/>
            <a:r>
              <a:t>Johnson, Novick &amp; Lombardi, NIST. Measuring the Timing Accuracy of STL Receivers. 2023.</a:t>
            </a:r>
            <a:br/>
            <a:r>
              <a:t>https://www.nist.gov/publications/measuring-timing-accuracy-satellite-time-and-location-stl-receivers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Steve Zhou</a:t>
            </a:r>
          </a:p>
          <a:p>
            <a:r>
              <a:t>Target: 2:26-4:31 of the 18-minute talk</a:t>
            </a:r>
          </a:p>
          <a:p/>
          <a:p>
            <a:r>
              <a:t>So what is STL, exactly? Think of GPS as a city's main power line. STL is a backup generator, except nobody had to build new plants. It runs on infrastructure that already exists. Iridium's satellites were already talking to phones. STL adds a coded timing message on a channel Iridium had spare capacity on. A receiver on the ground notes when that message arrived, combines it with knowing where the satellite was at that moment, and works out the time and a rough location. Two extra features matter here. First, authentication: the receiver checks the signal is genuinely from Iridium before trusting it, which is the fix for spoofing. Second, the signal is much stronger than GPS's, which helps against jamming and lets it reach indoors, where GPS usually can't. Neither fix makes the system unbreakable, but both are real improvements. The system has three layers. In space: 66 working satellites, only about 780 kilometers up, much closer than GPS, which keeps the signal strong. On the ground: a control center in Virginia that keeps the service lined up with official U.S. time. And on the user's end: a receiver with an antenna and its own small clock, built into equipment that partners sell. This isn't built into your phone the way GPS is. How accurate is it? NIST, the government's standards lab, tested a receiver and found it stayed within 200 nanoseconds of official time — a nanosecond is a billionth of a second, so that's extremely close. A better setup did even better, within 75 nanoseconds. One sentence to remember: STL gives a very precise clock, but only a rough location. Next, Tiger picks up where this idea actually came from.</a:t>
            </a:r>
          </a:p>
          <a:p/>
          <a:p>
            <a:r>
              <a:t>Sources</a:t>
            </a:r>
            <a:br/>
            <a:r>
              <a:t>Johnson, Novick &amp; Lombardi, NIST. Measuring the Timing Accuracy of STL Receivers. 2023.</a:t>
            </a:r>
            <a:br/>
            <a:r>
              <a:t>https://www.nist.gov/publications/measuring-timing-accuracy-satellite-time-and-location-stl-receivers</a:t>
            </a:r>
            <a:br/>
            <a:br/>
            <a:r>
              <a:t>Iridium. STL commercial launch. 23 May 2016.</a:t>
            </a:r>
            <a:br/>
            <a:r>
              <a:t>https://investor.iridium.com/may-23-2016</a:t>
            </a:r>
            <a:br/>
            <a:br/>
            <a:r>
              <a:t>Thales Alenia Space. Last batch of Iridium NEXT satellites in orbit. 11 Jan 2019.</a:t>
            </a:r>
            <a:br/>
            <a:r>
              <a:t>https://www.thalesaleniaspace.com/en/press-releases/last-batch-iridium-next-satellites-orbit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Steve Zhou</a:t>
            </a:r>
          </a:p>
          <a:p>
            <a:r>
              <a:t>Target: 4:31-6:00 of the 18-minute talk</a:t>
            </a:r>
          </a:p>
          <a:p/>
          <a:p>
            <a:r>
              <a:t>Let's walk through how STL came to exist. Idea stage: before 2016, two engineers with GPS backgrounds, Gregory Gutt and Michael O'Connor, realized Iridium's leftover high-power channel could carry a clock signal without building anything new. We call this pattern recombinant — combining pieces that already exist into something new, instead of inventing brand-new technology from scratch. Prototype stage: still before 2016, they ran trials with military, academic, and commercial users, on top of a multi-billion-dollar network that already existed. Scaling stage: the official commercial service launched on May 23rd, 2016. From 2017 to 2019, Iridium swapped in newer satellites, but that upgrade didn't change how STL worked, it just kept the signal running on newer hardware. Iridium doesn't sell this to you directly; partner companies build it into timing equipment and sell that. Platform stage: in April 2024, Iridium bought Satelles outright, the company that built STL. That was Iridium's first-ever acquisition. It's worth saying clearly: GPS is still the world's dominant positioning and timing system. STL is an established, global backup, not a replacement. Next, Tiger takes it from here: where the idea came from, why we call it recombinant instead of radical, and who actually builds and controls it.</a:t>
            </a:r>
          </a:p>
          <a:p/>
          <a:p>
            <a:r>
              <a:t>Sources</a:t>
            </a:r>
            <a:br/>
            <a:r>
              <a:t>Iridium. STL commercial launch. 23 May 2016.</a:t>
            </a:r>
            <a:br/>
            <a:r>
              <a:t>https://investor.iridium.com/may-23-2016</a:t>
            </a:r>
            <a:br/>
            <a:br/>
            <a:r>
              <a:t>Iridium. Satelles acquisition closes. 2 Apr 2024.</a:t>
            </a:r>
            <a:br/>
            <a:r>
              <a:t>https://investor.iridium.com/2024-04-02-Iridium-Completes-Satelles-Acquisition-Introduces-Iridium-Satellite-Time-and-Location-STL</a:t>
            </a:r>
            <a:br/>
            <a:br/>
            <a:r>
              <a:t>Iridium Museum. Iridium Timeline. Corporate history.</a:t>
            </a:r>
            <a:br/>
            <a:r>
              <a:t>https://www.iridiummuseum.com/timeline/</a:t>
            </a:r>
            <a:br/>
            <a:br/>
            <a:r>
              <a:t>Iridium. Completion of NEXT launch campaign. 11 Jan 2019.</a:t>
            </a:r>
            <a:br/>
            <a:r>
              <a:t>https://investor.iridium.com/2019-01-11-Iridium-Completes-Historic-Satellite-Launch-Campaign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Tiger Li</a:t>
            </a:r>
          </a:p>
          <a:p>
            <a:r>
              <a:t>Target: 6:00-7:47 of the 18-minute talk</a:t>
            </a:r>
          </a:p>
          <a:p/>
          <a:p>
            <a:r>
              <a:t>Where did this idea actually come from — the military, the market, or something else? The honest answer is a mix, and the existing Iridium network is what made it possible at all. Start with the market side. Critical infrastructure had drifted onto GPS because it was free and precise. Then two costs showed up. Indoor 5G equipment and data centers still needed a GPS antenna on the roof, and banks all need one official clock so trades line up. That's demand for a trustworthy second, not for a new mapping app. Now the security side. GPS jamming is an old battlefield problem. Back in 2016, Satelles already said the Pentagon could buy this system off the shelf. The war in Ukraine, from 2022 on, didn't invent STL, but it made governments take GPS backups more seriously. A 2020 executive order calling for PNT resilience — PNT is short for positioning, navigation, and timing, basically what satellites give us — reflects that same concern. But here's the clever part, the third ingredient: stranded capacity. Motorola built Iridium in 1987 as a satellite phone network. That phone business nearly failed. The Pentagon kept the network alive with a rescue contract. Years later, that network still had a spare high-power channel doing nothing. Nobody needed a new scientific breakthrough first. One honest limit: we don't have a document saying exactly when the Pentagon first asked for this. We're inferring the demand from Iridium's own 2016 launch announcement and the policy that followed.</a:t>
            </a:r>
          </a:p>
          <a:p/>
          <a:p>
            <a:r>
              <a:t>Sources</a:t>
            </a:r>
            <a:br/>
            <a:r>
              <a:t>Iridium. STL commercial launch. 23 May 2016.</a:t>
            </a:r>
            <a:br/>
            <a:r>
              <a:t>https://investor.iridium.com/may-23-2016</a:t>
            </a:r>
            <a:br/>
            <a:br/>
            <a:r>
              <a:t>Executive Order 13905. Responsible Use of PNT Services. 12 Feb 2020.</a:t>
            </a:r>
            <a:br/>
            <a:r>
              <a:t>https://www.govinfo.gov/app/details/DCPD-202000071</a:t>
            </a:r>
            <a:br/>
            <a:br/>
            <a:r>
              <a:t>Iridium Museum. Iridium Timeline. Corporate history.</a:t>
            </a:r>
            <a:br/>
            <a:r>
              <a:t>https://www.iridiummuseum.com/timeline/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Tiger Li</a:t>
            </a:r>
          </a:p>
          <a:p>
            <a:r>
              <a:t>Target: 7:47-9:47 of the 18-minute talk</a:t>
            </a:r>
          </a:p>
          <a:p/>
          <a:p>
            <a:r>
              <a:t>Is this recombinant or radical? Here's a simple test. Recombinant is making a new playlist out of songs you already own. Radical is inventing a whole new instrument. STL didn't discover any new physics. It combines things we already understood: message timing, the way a satellite's motion shifts a signal, a technique to smooth out a receiver's own clock, and a password-like check so you can tell a real signal from a fake one. The Iridium constellation already worked before STL existed. STL just turns it into one more component inside a timing device — that's architectural innovation: the same satellites, doing a genuinely new job. The pieces on the truck didn't change. The recipe did. Here's the family tree, left to right. GPS taught the world to treat space as a public clock. Iridium taught the world how to run a strong, low-orbit radio network. Cryptography added a way to prove a signal is real. Satelles combined those three ideas — that's the lineage, not a brand-new kind of orbit. Here's why the difference matters for this class, not just for radio engineers. Ordinary civilian GPS signals are weak at your receiver and easy to spoof. STL's signal is strong, sent in bursts, and authenticated. The use case shifted too: from "where is this truck right now" to "can I trust this clock if GPS is lying to me." This is not a GPS killer. A 2020 government comparison found STL only supports the roughest location categories — think "which harbor," not "which specific field." It fails the fine-grained categories farming or construction would need. That evidence backs calling this a recombinant complement to GPS, not a replacement for it.</a:t>
            </a:r>
          </a:p>
          <a:p/>
          <a:p>
            <a:r>
              <a:t>Sources</a:t>
            </a:r>
            <a:br/>
            <a:r>
              <a:t>Iridium. STL commercial launch. 23 May 2016.</a:t>
            </a:r>
            <a:br/>
            <a:r>
              <a:t>https://investor.iridium.com/may-23-2016</a:t>
            </a:r>
            <a:br/>
            <a:br/>
            <a:r>
              <a:t>Johnson, Novick &amp; Lombardi, NIST. Measuring the Timing Accuracy of STL Receivers. 2023.</a:t>
            </a:r>
            <a:br/>
            <a:r>
              <a:t>https://www.nist.gov/publications/measuring-timing-accuracy-satellite-time-and-location-stl-receivers</a:t>
            </a:r>
            <a:br/>
            <a:br/>
            <a:r>
              <a:t>DHS / CISA. PNT Backup and Complementary Capabilities to GPS. 2020.</a:t>
            </a:r>
            <a:br/>
            <a:r>
              <a:t>https://www.cisa.gov/sites/default/files/publications/report-on-pnt-backup-complementary-capabilities-to-gps_508_0.pdf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Tiger Li</a:t>
            </a:r>
          </a:p>
          <a:p>
            <a:r>
              <a:t>Target: 9:47-12:00 of the 18-minute talk</a:t>
            </a:r>
          </a:p>
          <a:p/>
          <a:p>
            <a:r>
              <a:t>Who actually builds this, and who controls it? The supply chain crosses several countries, which matters in a geopolitics class. The timing technology itself is American, developed in Virginia and run by Iridium out of McLean. But the satellites that carry it are a French-Italian design, built by Thales Alenia Space, assembled in Arizona, and launched by SpaceX out of California — allied production, not one country alone. Swiss and French companies make the ground timing equipment, and a UK company makes some antennas. History adds a comparison: the original Iridium satellites went up on American, Russian, and Chinese rockets. The newer replacements, launched 2017 to 2019, went up on SpaceX only, so the trend is less dependence on Russian and Chinese launches, though not zero foreign involvement overall. Now the real headline: export-control tension. There's a law called ITAR, the International Traffic in Arms Regulations — the State Department's rulebook, built for weapons and military hardware. There's a separate law called EAR, the Export Administration Regulations — the Commerce Department's rulebook for regular commercial and dual-use goods, meaning goods with both civilian and military uses. In 2022, a government briefing flagged a real problem: rules written for military satellites could accidentally sweep in commercial GPS-backup satellites like this one. STL rides on a commercial phone network. We don't have Iridium's license file, so we're not claiming to know STL's legal classification. But the stakes are clear: if regulators are too strict, the U.S. could export-control its own GPS backup technology, right as Europe and China build out Galileo and BeiDou. Standards matter too — you can't plug into 5G without shared timing standards, or broadcast without government spectrum permission. Iridium's 1990s spectrum rights are part of why this network operates globally today. Next, Gloria takes over: how STL is actually being used, and whether it's a big deal or a small one.</a:t>
            </a:r>
          </a:p>
          <a:p/>
          <a:p>
            <a:r>
              <a:t>Sources</a:t>
            </a:r>
            <a:br/>
            <a:r>
              <a:t>Thales Alenia Space. Iridium NEXT production organization. 6 Jan 2017.</a:t>
            </a:r>
            <a:br/>
            <a:r>
              <a:t>https://www.thalesaleniaspace.com/en/news/iridium-next-extraordinary-production-organization</a:t>
            </a:r>
            <a:br/>
            <a:br/>
            <a:r>
              <a:t>Thales Alenia Space. Last batch of Iridium NEXT satellites in orbit. 11 Jan 2019.</a:t>
            </a:r>
            <a:br/>
            <a:r>
              <a:t>https://www.thalesaleniaspace.com/en/press-releases/last-batch-iridium-next-satellites-orbit</a:t>
            </a:r>
            <a:br/>
            <a:br/>
            <a:r>
              <a:t>Iridium. Completion of NEXT launch campaign. 11 Jan 2019.</a:t>
            </a:r>
            <a:br/>
            <a:r>
              <a:t>https://investor.iridium.com/2019-01-11-Iridium-Completes-Historic-Satellite-Launch-Campaign</a:t>
            </a:r>
            <a:br/>
            <a:br/>
            <a:r>
              <a:t>Jason Y. Kim, Office of Space Commerce. U.S. Export Controls on GPS/GNSS Equipment. 18 Mar 2022.</a:t>
            </a:r>
            <a:br/>
            <a:r>
              <a:t>https://space.commerce.gov/wp-content/uploads/2022-03-US-export-controls-GPS-GNSS-equipment.pdf</a:t>
            </a:r>
            <a:br/>
            <a:br/>
            <a:r>
              <a:t>Iridium Museum. Iridium Timeline. Corporate history.</a:t>
            </a:r>
            <a:br/>
            <a:r>
              <a:t>https://www.iridiummuseum.com/timeline/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Gloria Miao</a:t>
            </a:r>
          </a:p>
          <a:p>
            <a:r>
              <a:t>Target: 12:00-14:00 of the 18-minute talk</a:t>
            </a:r>
          </a:p>
          <a:p/>
          <a:p>
            <a:r>
              <a:t>Now for the evidence. We're calling this technology dual-use, meaning the same system can serve regular civilian customers and also be useful to governments and militaries. A civilian company selling it doesn't automatically prove the military is using it — think of a pickup truck: farmers buy it, and armies buy it too, for different reasons. There's a name for this direction of travel: spin-on. That's when something built for civilians later gets picked up by government or military users. It's the reverse of the more familiar story, spin-off, where military technology becomes a civilian product — GPS itself is a spin-off story, since it started as a military system and ended up in everyone's phone. STL runs the other way: a civilian satellite-phone network is now a timing input for the FAA's ground network, and potentially for military operations too. What's the actual evidence? A 2020 government report listed STL as one of several nationwide commercial timing options, though it noted the government hadn't independently verified every vendor's numbers. In 2023, NIST, the government's own standards lab, independently measured STL's timing accuracy and confirmed it performs well. In 2024, we get a named civilian contract, which I'll cover next. Iridium's original 2016 launch announcement also mentioned military, academic, and commercial trials, and offered the system to government buyers directly. That supports the dual-use story. It doesn't tell us how large any military use actually is. One more label to rule out: general-purpose. GPS itself is closer to a general-purpose technology, useful almost everywhere. STL is a specialized backup, not an economy-wide platform like that. Taken together, the evidence moves in one direction: from a company's own claims, to independent lab testing, to an actual paying government customer.</a:t>
            </a:r>
          </a:p>
          <a:p/>
          <a:p>
            <a:r>
              <a:t>Sources</a:t>
            </a:r>
            <a:br/>
            <a:r>
              <a:t>Iridium. STL commercial launch. 23 May 2016.</a:t>
            </a:r>
            <a:br/>
            <a:r>
              <a:t>https://investor.iridium.com/may-23-2016</a:t>
            </a:r>
            <a:br/>
            <a:br/>
            <a:r>
              <a:t>Johnson, Novick &amp; Lombardi, NIST. Measuring the Timing Accuracy of STL Receivers. 2023.</a:t>
            </a:r>
            <a:br/>
            <a:r>
              <a:t>https://www.nist.gov/publications/measuring-timing-accuracy-satellite-time-and-location-stl-receivers</a:t>
            </a:r>
            <a:br/>
            <a:br/>
            <a:r>
              <a:t>DHS / CISA. PNT Backup and Complementary Capabilities to GPS. 2020.</a:t>
            </a:r>
            <a:br/>
            <a:r>
              <a:t>https://www.cisa.gov/sites/default/files/publications/report-on-pnt-backup-complementary-capabilities-to-gps_508_0.pdf</a:t>
            </a:r>
            <a:br/>
            <a:br/>
            <a:r>
              <a:t>Iridium. Five-year L3Harris / FAA contract. 9 Apr 2024.</a:t>
            </a:r>
            <a:br/>
            <a:r>
              <a:t>https://investor.iridium.com/2024-04-09-Iridium-Signs-Five-Year-Contract-with-L3Harris-to-Protect-FAA-Critical-Infrastructure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Gloria Miao</a:t>
            </a:r>
          </a:p>
          <a:p>
            <a:r>
              <a:t>Target: 14:00-15:32 of the 18-minute talk</a:t>
            </a:r>
          </a:p>
          <a:p/>
          <a:p>
            <a:r>
              <a:t>Here's the named buyer I mentioned. In April 2024, the same month Iridium finished buying Satelles, Iridium announced a five-year contract with L3Harris. It covers more than 36 L3Harris network nodes, plus a similar number of FAA facilities — the FAA being the Federal Aviation Administration, which runs U.S. air traffic control. The stated goal is a timing system that removes dependence on GPS as the primary clock source. This isn't a fighter jet. It's the ground communications network underneath civilian air traffic control, exactly the kind of critical infrastructure this class means when it talks about a state protecting its clocks. The same equipment could serve other customers too: a data center that doesn't want a rooftop GPS antenna, or a 5G company that needs a reliable master clock. A 2020 government report listed STL alongside other options for that broader group — power companies, banks, communications providers — not as a precision-navigation backup. We don't have a named electric-utility contract in public sources; the FAA deal is the concrete one we can point to. The bigger point: governments can buy a commercial timing service that's already running, instead of building their own new satellites from scratch. That's the shift this class cares about: a state renting commercial capacity, instead of designing and launching a whole new system by itself.</a:t>
            </a:r>
          </a:p>
          <a:p/>
          <a:p>
            <a:r>
              <a:t>Sources</a:t>
            </a:r>
            <a:br/>
            <a:r>
              <a:t>Iridium. Five-year L3Harris / FAA contract. 9 Apr 2024.</a:t>
            </a:r>
            <a:br/>
            <a:r>
              <a:t>https://investor.iridium.com/2024-04-09-Iridium-Signs-Five-Year-Contract-with-L3Harris-to-Protect-FAA-Critical-Infrastructure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Gloria Miao</a:t>
            </a:r>
          </a:p>
          <a:p>
            <a:r>
              <a:t>Target: 15:32-17:00 of the 18-minute talk</a:t>
            </a:r>
          </a:p>
          <a:p/>
          <a:p>
            <a:r>
              <a:t>Now the big question: is this incremental, a small improvement, or disruptive, something that actually changes the market? Does it create new markets, push out any dominant companies, and are there other effects? Backup timing looks disruptive. STL works indoors and resists spoofing, exactly where GPS is weakest. Navigation is different — only an incremental complement, because STL's location data is too rough to replace precise GPS navigation. On new markets: yes. This created a commercial market for GPS-backup clocks, not a new navigation market. On displacement: no. GPS and its suppliers are still exactly where they were. Iridium buying Satelles is the backup company being absorbed into Iridium, not GPS being replaced by anything. One other effect worth naming: governments and critical infrastructure operators can now buy timing resilience as a service, instead of building and launching their own backup satellites. At the 2024 acquisition, Iridium projected over 100 million dollars a year in STL revenue by 2030 — a company forecast, not a result we've already seen. We found no evidence in our sources that STL has displaced Qualcomm, Lockheed, Europe's Galileo, or China's BeiDou. What actually changed is Iridium's own identity: this was its first-ever acquisition, and timing is now a real line of business for the company.</a:t>
            </a:r>
          </a:p>
          <a:p/>
          <a:p>
            <a:r>
              <a:t>Sources</a:t>
            </a:r>
            <a:br/>
            <a:r>
              <a:t>Iridium. Satelles acquisition closes. 2 Apr 2024.</a:t>
            </a:r>
            <a:br/>
            <a:r>
              <a:t>https://investor.iridium.com/2024-04-02-Iridium-Completes-Satelles-Acquisition-Introduces-Iridium-Satellite-Time-and-Location-STL</a:t>
            </a:r>
            <a:br/>
            <a:br/>
            <a:r>
              <a:t>Executive Order 13905. Responsible Use of PNT Services. 12 Feb 2020.</a:t>
            </a:r>
            <a:br/>
            <a:r>
              <a:t>https://www.govinfo.gov/app/details/DCPD-202000071</a:t>
            </a:r>
            <a:br/>
            <a:br/>
            <a:r>
              <a:t>DHS / CISA. PNT Backup and Complementary Capabilities to GPS. 2020.</a:t>
            </a:r>
            <a:br/>
            <a:r>
              <a:t>https://www.cisa.gov/sites/default/files/publications/report-on-pnt-backup-complementary-capabilities-to-gps_508_0.pdf</a:t>
            </a:r>
            <a:br/>
            <a:br/>
            <a:r>
              <a:t>Iridium. Five-year L3Harris / FAA contract. 9 Apr 2024.</a:t>
            </a:r>
            <a:br/>
            <a:r>
              <a:t>https://investor.iridium.com/2024-04-09-Iridium-Signs-Five-Year-Contract-with-L3Harris-to-Protect-FAA-Critical-Infrastructure</a:t>
            </a:r>
            <a:br/>
            <a:br/>
            <a:r>
              <a:t>Jason Y. Kim, Office of Space Commerce. U.S. Export Controls on GPS/GNSS Equipment. 18 Mar 2022.</a:t>
            </a:r>
            <a:br/>
            <a:r>
              <a:t>https://space.commerce.gov/wp-content/uploads/2022-03-US-export-controls-GPS-GNSS-equipment.pdf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Gloria Miao</a:t>
            </a:r>
          </a:p>
          <a:p>
            <a:r>
              <a:t>Target: 17:00-18:00 of the 18-minute talk</a:t>
            </a:r>
          </a:p>
          <a:p/>
          <a:p>
            <a:r>
              <a:t>So, three takeaways. First, Iridium STL is recombinant, not radical — a new recipe from an old kitchen, not a new invention. Second, it's dual-use, with a clear spin-on path: a civilian network is now serving critical infrastructure and, potentially, military needs, backed by a real FAA contract. Third, its strongest claim is disruption in one specific niche, backup timing, while GPS navigation itself keeps doing what it's always done. That's the technology map in three sentences. All of our sources — NIST, the government's standards lab; CISA, the Department of Homeland Security's infrastructure-security agency; Iridium's own announcements; and the Office of Space Commerce's export-control briefing — are listed in the appendix if anyone wants to check our evidence. If you remember one line from all of this, remember this: GPS isn't being replaced, it just got a backup. We're happy to take questions.</a:t>
            </a:r>
          </a:p>
          <a:p/>
          <a:p>
            <a:r>
              <a:t>Sources</a:t>
            </a:r>
            <a:br/>
            <a:r>
              <a:t>Iridium. STL commercial launch. 23 May 2016.</a:t>
            </a:r>
            <a:br/>
            <a:r>
              <a:t>https://investor.iridium.com/may-23-2016</a:t>
            </a:r>
            <a:br/>
            <a:br/>
            <a:r>
              <a:t>Iridium. Satelles acquisition closes. 2 Apr 2024.</a:t>
            </a:r>
            <a:br/>
            <a:r>
              <a:t>https://investor.iridium.com/2024-04-02-Iridium-Completes-Satelles-Acquisition-Introduces-Iridium-Satellite-Time-and-Location-STL</a:t>
            </a:r>
            <a:br/>
            <a:br/>
            <a:r>
              <a:t>Johnson, Novick &amp; Lombardi, NIST. Measuring the Timing Accuracy of STL Receivers. 2023.</a:t>
            </a:r>
            <a:br/>
            <a:r>
              <a:t>https://www.nist.gov/publications/measuring-timing-accuracy-satellite-time-and-location-stl-receivers</a:t>
            </a:r>
            <a:br/>
            <a:br/>
            <a:r>
              <a:t>Iridium. Five-year L3Harris / FAA contract. 9 Apr 2024.</a:t>
            </a:r>
            <a:br/>
            <a:r>
              <a:t>https://investor.iridium.com/2024-04-09-Iridium-Signs-Five-Year-Contract-with-L3Harris-to-Protect-FAA-Critical-Infrastructure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for Q&amp;A, outside the 20-minute talk</a:t>
            </a:r>
          </a:p>
          <a:p>
            <a:endParaRPr/>
          </a:p>
          <a:p>
            <a:r>
              <a:t>Primary sources for product function, lifecycle, measured timing performance, the named FAA-related contract, and the host constellation.</a:t>
            </a:r>
          </a:p>
          <a:p>
            <a:endParaRPr/>
          </a:p>
          <a:p>
            <a:endParaRPr/>
          </a:p>
          <a:p>
            <a:endParaRPr/>
          </a:p>
          <a:p>
            <a:r>
              <a:t>Sources</a:t>
            </a:r>
          </a:p>
          <a:p>
            <a:r>
              <a:t>Iridium. STL commercial launch. 23 May 2016.</a:t>
            </a:r>
          </a:p>
          <a:p>
            <a:r>
              <a:t>https://investor.iridium.com/may-23-2016</a:t>
            </a:r>
          </a:p>
          <a:p>
            <a:endParaRPr/>
          </a:p>
          <a:p>
            <a:r>
              <a:t>Iridium. Satelles acquisition closes. 2 Apr 2024.</a:t>
            </a:r>
          </a:p>
          <a:p>
            <a:r>
              <a:t>https://investor.iridium.com/2024-04-02-Iridium-Completes-Satelles-Acquisition-Introduces-Iridium-Satellite-Time-and-Location-STL</a:t>
            </a:r>
          </a:p>
          <a:p>
            <a:endParaRPr/>
          </a:p>
          <a:p>
            <a:r>
              <a:t>Johnson, Novick &amp; Lombardi, NIST. Measuring the Timing Accuracy of STL Receivers. 2023.</a:t>
            </a:r>
          </a:p>
          <a:p>
            <a:r>
              <a:t>https://www.nist.gov/publications/measuring-timing-accuracy-satellite-time-and-location-stl-receivers</a:t>
            </a:r>
          </a:p>
          <a:p>
            <a:endParaRPr/>
          </a:p>
          <a:p>
            <a:r>
              <a:t>Iridium. Five-year L3Harris / FAA contract. 9 Apr 2024.</a:t>
            </a:r>
          </a:p>
          <a:p>
            <a:r>
              <a:t>https://investor.iridium.com/2024-04-09-Iridium-Signs-Five-Year-Contract-with-L3Harris-to-Protect-FAA-Critical-Infrastructure</a:t>
            </a:r>
          </a:p>
          <a:p>
            <a:endParaRPr/>
          </a:p>
          <a:p>
            <a:r>
              <a:t>Thales Alenia Space. Last batch of Iridium NEXT satellites in orbit. 11 Jan 2019.</a:t>
            </a:r>
          </a:p>
          <a:p>
            <a:r>
              <a:t>https://www.thalesaleniaspace.com/en/press-releases/last-batch-iridium-next-satellites-orbit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for Q&amp;A, outside the 20-minute talk</a:t>
            </a:r>
          </a:p>
          <a:p>
            <a:endParaRPr/>
          </a:p>
          <a:p>
            <a:r>
              <a:t>The source guide provides the course framing (Arthur, Henderson &amp; Clark, Cronin, Godin, and Kline &amp; Pinch). Those labels are interpretations rather than product facts. The 2022 Office of Space Commerce briefing is historical context, not a present-day STL export determination.</a:t>
            </a:r>
          </a:p>
          <a:p>
            <a:endParaRPr/>
          </a:p>
          <a:p>
            <a:endParaRPr/>
          </a:p>
          <a:p>
            <a:endParaRPr/>
          </a:p>
          <a:p>
            <a:r>
              <a:t>Sources</a:t>
            </a:r>
          </a:p>
          <a:p>
            <a:r>
              <a:t>DHS / CISA. PNT Backup and Complementary Capabilities to GPS. 2020.</a:t>
            </a:r>
          </a:p>
          <a:p>
            <a:r>
              <a:t>https://www.cisa.gov/sites/default/files/publications/report-on-pnt-backup-complementary-capabilities-to-gps_508_0.pdf</a:t>
            </a:r>
          </a:p>
          <a:p>
            <a:endParaRPr/>
          </a:p>
          <a:p>
            <a:r>
              <a:t>Executive Order 13905. Responsible Use of PNT Services. 12 Feb 2020.</a:t>
            </a:r>
          </a:p>
          <a:p>
            <a:r>
              <a:t>https://www.govinfo.gov/app/details/DCPD-202000071</a:t>
            </a:r>
          </a:p>
          <a:p>
            <a:endParaRPr/>
          </a:p>
          <a:p>
            <a:r>
              <a:t>Jason Y. Kim, Office of Space Commerce. U.S. Export Controls on GPS/GNSS Equipment. 18 Mar 2022.</a:t>
            </a:r>
          </a:p>
          <a:p>
            <a:r>
              <a:t>https://space.commerce.gov/wp-content/uploads/2022-03-US-export-controls-GPS-GNSS-equipment.pdf</a:t>
            </a:r>
          </a:p>
          <a:p>
            <a:endParaRPr/>
          </a:p>
          <a:p>
            <a:r>
              <a:t>Thales Alenia Space. Iridium NEXT production organization. 6 Jan 2017.</a:t>
            </a:r>
          </a:p>
          <a:p>
            <a:r>
              <a:t>https://www.thalesaleniaspace.com/en/news/iridium-next-extraordinary-production-organization</a:t>
            </a:r>
          </a:p>
          <a:p>
            <a:endParaRPr/>
          </a:p>
          <a:p>
            <a:r>
              <a:t>Iridium Museum. Iridium Timeline. Corporate history.</a:t>
            </a:r>
          </a:p>
          <a:p>
            <a:r>
              <a:t>https://www.iridiummuseum.com/timeline/</a:t>
            </a:r>
          </a:p>
          <a:p>
            <a:endParaRPr/>
          </a:p>
          <a:p>
            <a:r>
              <a:t>Iridium. Completion of NEXT launch campaign. 11 Jan 2019.</a:t>
            </a:r>
          </a:p>
          <a:p>
            <a:r>
              <a:t>https://investor.iridium.com/2019-01-11-Iridium-Completes-Historic-Satellite-Launch-Campaign</a:t>
            </a:r>
          </a:p>
          <a:p>
            <a:endParaRPr/>
          </a:p>
          <a:p>
            <a:r>
              <a:t>Thales Alenia Space. Iridium constellation illustration. 2023.</a:t>
            </a:r>
          </a:p>
          <a:p>
            <a:r>
              <a:t>https://www.thalesaleniaspace.com/en/press-releases/successful-launch-5-additional-spare-satellites-upgraded-iridiumr-satellite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for Q&amp;A, outside the 20-minute talk</a:t>
            </a:r>
          </a:p>
          <a:p>
            <a:endParaRPr/>
          </a:p>
          <a:p>
            <a:r>
              <a:t>Likely discussant answers:</a:t>
            </a:r>
          </a:p>
          <a:p>
            <a:endParaRPr/>
          </a:p>
          <a:p>
            <a:r>
              <a:t>Arthur: a new combination of existing radio infrastructure, authentication, and timing estimation.</a:t>
            </a:r>
          </a:p>
          <a:p>
            <a:endParaRPr/>
          </a:p>
          <a:p>
            <a:r>
              <a:t>Henderson &amp; Clark: architectural innovation because the existing network takes on a new system function.</a:t>
            </a:r>
          </a:p>
          <a:p>
            <a:endParaRPr/>
          </a:p>
          <a:p>
            <a:r>
              <a:t>Cronin: a state can procure useful commercial capability rather than originate the entire technical system.</a:t>
            </a:r>
          </a:p>
          <a:p>
            <a:endParaRPr/>
          </a:p>
          <a:p>
            <a:r>
              <a:t>Godin: demand and spare network capacity offer a less linear account than basic science followed by commercialization.</a:t>
            </a:r>
          </a:p>
          <a:p>
            <a:endParaRPr/>
          </a:p>
          <a:p>
            <a:r>
              <a:t>General-purpose technology: STL is a specialized timing and location complement. Broad economic usefulness alone is not enough to establish the stronger GPT classification.</a:t>
            </a:r>
          </a:p>
          <a:p>
            <a:endParaRPr/>
          </a:p>
          <a:p>
            <a:r>
              <a:t>Disruption: defend the backup-timing use case, while acknowledging that incumbent displacement has not been demonstrated.</a:t>
            </a:r>
          </a:p>
          <a:p>
            <a:endParaRPr/>
          </a:p>
          <a:p>
            <a:r>
              <a:t>Export controls: distinguish the constellation, signal technology, and user equipment. This presentation offers no device classification or legal determination.</a:t>
            </a:r>
          </a:p>
          <a:p>
            <a:endParaRPr/>
          </a:p>
          <a:p>
            <a:endParaRPr/>
          </a:p>
          <a:p>
            <a:endParaRPr/>
          </a:p>
          <a:p>
            <a:r>
              <a:t>Sources</a:t>
            </a:r>
          </a:p>
          <a:p>
            <a:r>
              <a:t>Johnson, Novick &amp; Lombardi, NIST. Measuring the Timing Accuracy of STL Receivers. 2023.</a:t>
            </a:r>
          </a:p>
          <a:p>
            <a:r>
              <a:t>https://www.nist.gov/publications/measuring-timing-accuracy-satellite-time-and-location-stl-receivers</a:t>
            </a:r>
          </a:p>
          <a:p>
            <a:endParaRPr/>
          </a:p>
          <a:p>
            <a:r>
              <a:t>DHS / CISA. PNT Backup and Complementary Capabilities to GPS. 2020.</a:t>
            </a:r>
          </a:p>
          <a:p>
            <a:r>
              <a:t>https://www.cisa.gov/sites/default/files/publications/report-on-pnt-backup-complementary-capabilities-to-gps_508_0.pdf</a:t>
            </a:r>
          </a:p>
          <a:p>
            <a:endParaRPr/>
          </a:p>
          <a:p>
            <a:r>
              <a:t>Iridium. STL commercial launch. 23 May 2016.</a:t>
            </a:r>
          </a:p>
          <a:p>
            <a:r>
              <a:t>https://investor.iridium.com/may-23-2016</a:t>
            </a:r>
          </a:p>
          <a:p>
            <a:endParaRPr/>
          </a:p>
          <a:p>
            <a:r>
              <a:t>Iridium. Five-year L3Harris / FAA contract. 9 Apr 2024.</a:t>
            </a:r>
          </a:p>
          <a:p>
            <a:r>
              <a:t>https://investor.iridium.com/2024-04-09-Iridium-Signs-Five-Year-Contract-with-L3Harris-to-Protect-FAA-Critical-Infrastructure</a:t>
            </a:r>
          </a:p>
          <a:p>
            <a:endParaRPr/>
          </a:p>
          <a:p>
            <a:r>
              <a:t>Jason Y. Kim, Office of Space Commerce. U.S. Export Controls on GPS/GNSS Equipment. 18 Mar 2022.</a:t>
            </a:r>
          </a:p>
          <a:p>
            <a:r>
              <a:t>https://space.commerce.gov/wp-content/uploads/2022-03-US-export-controls-GPS-GNSS-equipment.pdf</a:t>
            </a:r>
          </a:p>
          <a:p>
            <a:endParaRPr/>
          </a:p>
          <a:p>
            <a:r>
              <a:t>Iridium. Satelles acquisition closes. 2 Apr 2024.</a:t>
            </a:r>
          </a:p>
          <a:p>
            <a:r>
              <a:t>https://investor.iridium.com/2024-04-02-Iridium-Completes-Satelles-Acquisition-Introduces-Iridium-Satellite-Time-and-Location-STL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investor.iridium.com/may-23-2016" TargetMode="External"/><Relationship Id="rId4" Type="http://schemas.openxmlformats.org/officeDocument/2006/relationships/hyperlink" Target="https://investor.iridium.com/2024-04-02-Iridium-Completes-Satelles-Acquisition-Introduces-Iridium-Satellite-Time-and-Location-STL" TargetMode="External"/><Relationship Id="rId5" Type="http://schemas.openxmlformats.org/officeDocument/2006/relationships/hyperlink" Target="https://www.nist.gov/publications/measuring-timing-accuracy-satellite-time-and-location-stl-receivers" TargetMode="External"/><Relationship Id="rId6" Type="http://schemas.openxmlformats.org/officeDocument/2006/relationships/hyperlink" Target="https://investor.iridium.com/2024-04-09-Iridium-Signs-Five-Year-Contract-with-L3Harris-to-Protect-FAA-Critical-Infrastructure" TargetMode="External"/><Relationship Id="rId7" Type="http://schemas.openxmlformats.org/officeDocument/2006/relationships/hyperlink" Target="https://www.thalesaleniaspace.com/en/press-releases/last-batch-iridium-next-satellites-orbi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www.cisa.gov/sites/default/files/publications/report-on-pnt-backup-complementary-capabilities-to-gps_508_0.pdf" TargetMode="External"/><Relationship Id="rId4" Type="http://schemas.openxmlformats.org/officeDocument/2006/relationships/hyperlink" Target="https://www.govinfo.gov/app/details/DCPD-202000071" TargetMode="External"/><Relationship Id="rId5" Type="http://schemas.openxmlformats.org/officeDocument/2006/relationships/hyperlink" Target="https://space.commerce.gov/wp-content/uploads/2022-03-US-export-controls-GPS-GNSS-equipment.pdf" TargetMode="External"/><Relationship Id="rId6" Type="http://schemas.openxmlformats.org/officeDocument/2006/relationships/hyperlink" Target="https://www.thalesaleniaspace.com/en/news/iridium-next-extraordinary-production-organization" TargetMode="External"/><Relationship Id="rId7" Type="http://schemas.openxmlformats.org/officeDocument/2006/relationships/hyperlink" Target="https://www.iridiummuseum.com/timeli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18980" r="18980"/>
          <a:stretch>
            <a:fillRect/>
          </a:stretch>
        </p:blipFill>
        <p:spPr>
          <a:xfrm>
            <a:off x="6257925" y="0"/>
            <a:ext cx="5934075" cy="6858000"/>
          </a:xfrm>
          <a:prstGeom prst="rect">
            <a:avLst/>
          </a:prstGeom>
        </p:spPr>
      </p:pic>
      <p:sp>
        <p:nvSpPr>
          <p:cNvPr id="2" name="text-1">
            <a:extLst>
              <a:ext uri="{FF2B5EF4-FFF2-40B4-BE49-F238E27FC236}">
                <a16:creationId xmlns:a16="http://schemas.microsoft.com/office/drawing/2014/main" id="{AAB3B697-9BE3-4DC6-A698-129B8E1FD1B6}"/>
              </a:ext>
            </a:extLst>
          </p:cNvPr>
          <p:cNvSpPr>
            <a:spLocks noGrp="1"/>
          </p:cNvSpPr>
          <p:nvPr/>
        </p:nvSpPr>
        <p:spPr>
          <a:xfrm>
            <a:off x="609600" y="619125"/>
            <a:ext cx="5334000" cy="333375"/>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TECHNOLOGY MAP</a:t>
            </a:r>
          </a:p>
        </p:txBody>
      </p:sp>
      <p:sp>
        <p:nvSpPr>
          <p:cNvPr id="3" name="text-2">
            <a:extLst>
              <a:ext uri="{FF2B5EF4-FFF2-40B4-BE49-F238E27FC236}">
                <a16:creationId xmlns:a16="http://schemas.microsoft.com/office/drawing/2014/main" id="{01F580B1-B0CD-426E-AB10-2F90BC321BF6}"/>
              </a:ext>
            </a:extLst>
          </p:cNvPr>
          <p:cNvSpPr>
            <a:spLocks noGrp="1"/>
          </p:cNvSpPr>
          <p:nvPr/>
        </p:nvSpPr>
        <p:spPr>
          <a:xfrm>
            <a:off x="571500" y="1628775"/>
            <a:ext cx="5715000" cy="904875"/>
          </a:xfrm>
          <a:prstGeom prst="rect">
            <a:avLst/>
          </a:prstGeom>
          <a:noFill/>
          <a:ln w="0">
            <a:noFill/>
          </a:ln>
        </p:spPr>
        <p:txBody>
          <a:bodyPr wrap="square" lIns="0" tIns="0" rIns="0" bIns="0" anchor="t">
            <a:noAutofit/>
          </a:bodyPr>
          <a:lstStyle/>
          <a:p>
            <a:pPr>
              <a:defRPr sz="5700" b="1">
                <a:solidFill>
                  <a:srgbClr val="F3F4ED"/>
                </a:solidFill>
                <a:latin typeface="Arial"/>
                <a:ea typeface="Arial"/>
                <a:cs typeface="Arial"/>
              </a:defRPr>
            </a:pPr>
            <a:r>
              <a:rPr sz="5700" b="1">
                <a:solidFill>
                  <a:srgbClr val="F3F4ED"/>
                </a:solidFill>
                <a:latin typeface="Arial"/>
                <a:ea typeface="Arial"/>
                <a:cs typeface="Arial"/>
              </a:rPr>
              <a:t>Iridium STL</a:t>
            </a:r>
          </a:p>
        </p:txBody>
      </p:sp>
      <p:sp>
        <p:nvSpPr>
          <p:cNvPr id="4" name="text-3">
            <a:extLst>
              <a:ext uri="{FF2B5EF4-FFF2-40B4-BE49-F238E27FC236}">
                <a16:creationId xmlns:a16="http://schemas.microsoft.com/office/drawing/2014/main" id="{B59B7D7E-F871-4E6F-9FBF-1933B68A044B}"/>
              </a:ext>
            </a:extLst>
          </p:cNvPr>
          <p:cNvSpPr>
            <a:spLocks noGrp="1"/>
          </p:cNvSpPr>
          <p:nvPr/>
        </p:nvSpPr>
        <p:spPr>
          <a:xfrm>
            <a:off x="609600" y="2714625"/>
            <a:ext cx="5095875" cy="1257300"/>
          </a:xfrm>
          <a:prstGeom prst="rect">
            <a:avLst/>
          </a:prstGeom>
          <a:noFill/>
          <a:ln w="0">
            <a:noFill/>
          </a:ln>
        </p:spPr>
        <p:txBody>
          <a:bodyPr wrap="square" lIns="0" tIns="0" rIns="0" bIns="0" anchor="t">
            <a:noAutofit/>
          </a:bodyPr>
          <a:lstStyle/>
          <a:p>
            <a:pPr>
              <a:defRPr sz="2925" b="0">
                <a:solidFill>
                  <a:srgbClr val="F3F4ED"/>
                </a:solidFill>
                <a:latin typeface="Arial"/>
                <a:ea typeface="Arial"/>
                <a:cs typeface="Arial"/>
              </a:defRPr>
            </a:pPr>
            <a:r>
              <a:rPr sz="2925" b="0">
                <a:solidFill>
                  <a:srgbClr val="F3F4ED"/>
                </a:solidFill>
                <a:latin typeface="Arial"/>
                <a:ea typeface="Arial"/>
                <a:cs typeface="Arial"/>
              </a:rPr>
              <a:t>A backup clock on a</a:t>
            </a:r>
          </a:p>
          <a:p>
            <a:pPr>
              <a:defRPr sz="2925" b="0">
                <a:solidFill>
                  <a:srgbClr val="F3F4ED"/>
                </a:solidFill>
                <a:latin typeface="Arial"/>
                <a:ea typeface="Arial"/>
                <a:cs typeface="Arial"/>
              </a:defRPr>
            </a:pPr>
            <a:r>
              <a:rPr sz="2925" b="0">
                <a:solidFill>
                  <a:srgbClr val="F3F4ED"/>
                </a:solidFill>
                <a:latin typeface="Arial"/>
                <a:ea typeface="Arial"/>
                <a:cs typeface="Arial"/>
              </a:rPr>
              <a:t>satellite-phone network</a:t>
            </a:r>
          </a:p>
        </p:txBody>
      </p:sp>
      <p:sp>
        <p:nvSpPr>
          <p:cNvPr id="5" name="text-4">
            <a:extLst>
              <a:ext uri="{FF2B5EF4-FFF2-40B4-BE49-F238E27FC236}">
                <a16:creationId xmlns:a16="http://schemas.microsoft.com/office/drawing/2014/main" id="{FAA5FF69-9A50-4FCE-94A2-1C9FC25A9B17}"/>
              </a:ext>
            </a:extLst>
          </p:cNvPr>
          <p:cNvSpPr>
            <a:spLocks noGrp="1"/>
          </p:cNvSpPr>
          <p:nvPr/>
        </p:nvSpPr>
        <p:spPr>
          <a:xfrm>
            <a:off x="609600" y="4210050"/>
            <a:ext cx="5257800" cy="628650"/>
          </a:xfrm>
          <a:prstGeom prst="rect">
            <a:avLst/>
          </a:prstGeom>
          <a:noFill/>
          <a:ln w="0">
            <a:noFill/>
          </a:ln>
        </p:spPr>
        <p:txBody>
          <a:bodyPr wrap="square" lIns="0" tIns="0" rIns="0" bIns="0" anchor="t">
            <a:noAutofit/>
          </a:bodyPr>
          <a:lstStyle/>
          <a:p>
            <a:pPr>
              <a:defRPr sz="1725" b="0">
                <a:solidFill>
                  <a:srgbClr val="A8BBC5"/>
                </a:solidFill>
                <a:latin typeface="Arial"/>
                <a:ea typeface="Arial"/>
                <a:cs typeface="Arial"/>
              </a:defRPr>
            </a:pPr>
            <a:r>
              <a:rPr sz="1725" b="0">
                <a:solidFill>
                  <a:srgbClr val="A8BBC5"/>
                </a:solidFill>
                <a:latin typeface="Arial"/>
                <a:ea typeface="Arial"/>
                <a:cs typeface="Arial"/>
              </a:rPr>
              <a:t>Satellite Time and Location</a:t>
            </a:r>
          </a:p>
          <a:p>
            <a:pPr>
              <a:defRPr sz="1725" b="0">
                <a:solidFill>
                  <a:srgbClr val="A8BBC5"/>
                </a:solidFill>
                <a:latin typeface="Arial"/>
                <a:ea typeface="Arial"/>
                <a:cs typeface="Arial"/>
              </a:defRPr>
            </a:pPr>
            <a:r>
              <a:rPr sz="1725" b="0">
                <a:solidFill>
                  <a:srgbClr val="A8BBC5"/>
                </a:solidFill>
                <a:latin typeface="Arial"/>
                <a:ea typeface="Arial"/>
                <a:cs typeface="Arial"/>
              </a:rPr>
              <a:t>Positioning, Navigation, and Timing (PNT)</a:t>
            </a:r>
          </a:p>
        </p:txBody>
      </p:sp>
      <p:sp>
        <p:nvSpPr>
          <p:cNvPr id="6" name="text-5">
            <a:extLst>
              <a:ext uri="{FF2B5EF4-FFF2-40B4-BE49-F238E27FC236}">
                <a16:creationId xmlns:a16="http://schemas.microsoft.com/office/drawing/2014/main" id="{37136F0E-72B9-4A25-8021-A659CA238CF9}"/>
              </a:ext>
            </a:extLst>
          </p:cNvPr>
          <p:cNvSpPr>
            <a:spLocks noGrp="1"/>
          </p:cNvSpPr>
          <p:nvPr/>
        </p:nvSpPr>
        <p:spPr>
          <a:xfrm>
            <a:off x="609600" y="5429250"/>
            <a:ext cx="5334000" cy="295275"/>
          </a:xfrm>
          <a:prstGeom prst="rect">
            <a:avLst/>
          </a:prstGeom>
          <a:noFill/>
          <a:ln w="0">
            <a:noFill/>
          </a:ln>
        </p:spPr>
        <p:txBody>
          <a:bodyPr wrap="square" lIns="0" tIns="0" rIns="0" bIns="0" anchor="t">
            <a:noAutofit/>
          </a:bodyPr>
          <a:lstStyle/>
          <a:p>
            <a:pPr>
              <a:defRPr sz="1575" b="0">
                <a:solidFill>
                  <a:srgbClr val="F3F4ED"/>
                </a:solidFill>
                <a:latin typeface="Arial"/>
                <a:ea typeface="Arial"/>
                <a:cs typeface="Arial"/>
              </a:defRPr>
            </a:pPr>
            <a:r>
              <a:rPr sz="1575" b="0">
                <a:solidFill>
                  <a:srgbClr val="F3F4ED"/>
                </a:solidFill>
                <a:latin typeface="Arial"/>
                <a:ea typeface="Arial"/>
                <a:cs typeface="Arial"/>
              </a:rPr>
              <a:t>Steve Zhou   /   Tiger Li   /   Gloria Miao</a:t>
            </a:r>
          </a:p>
        </p:txBody>
      </p:sp>
      <p:sp>
        <p:nvSpPr>
          <p:cNvPr id="7" name="text-6">
            <a:extLst>
              <a:ext uri="{FF2B5EF4-FFF2-40B4-BE49-F238E27FC236}">
                <a16:creationId xmlns:a16="http://schemas.microsoft.com/office/drawing/2014/main" id="{DDF163AE-C0A5-4789-9A34-64EEA880A837}"/>
              </a:ext>
            </a:extLst>
          </p:cNvPr>
          <p:cNvSpPr>
            <a:spLocks noGrp="1"/>
          </p:cNvSpPr>
          <p:nvPr/>
        </p:nvSpPr>
        <p:spPr>
          <a:xfrm>
            <a:off x="609600" y="5876925"/>
            <a:ext cx="5334000" cy="581025"/>
          </a:xfrm>
          <a:prstGeom prst="rect">
            <a:avLst/>
          </a:prstGeom>
          <a:noFill/>
          <a:ln w="0">
            <a:noFill/>
          </a:ln>
        </p:spPr>
        <p:txBody>
          <a:bodyPr wrap="square" lIns="0" tIns="0" rIns="0" bIns="0" anchor="t">
            <a:noAutofit/>
          </a:bodyPr>
          <a:lstStyle/>
          <a:p>
            <a:pPr>
              <a:defRPr sz="1350" b="0">
                <a:solidFill>
                  <a:srgbClr val="A8BBC5"/>
                </a:solidFill>
                <a:latin typeface="Arial"/>
                <a:ea typeface="Arial"/>
                <a:cs typeface="Arial"/>
              </a:defRPr>
            </a:pPr>
            <a:r>
              <a:rPr sz="1350" b="0">
                <a:solidFill>
                  <a:srgbClr val="A8BBC5"/>
                </a:solidFill>
                <a:latin typeface="Arial"/>
                <a:ea typeface="Arial"/>
                <a:cs typeface="Arial"/>
              </a:rPr>
              <a:t>84-375 / 84-675 Geopolitics of Innovation</a:t>
            </a:r>
          </a:p>
          <a:p>
            <a:pPr>
              <a:defRPr sz="1350" b="0">
                <a:solidFill>
                  <a:srgbClr val="A8BBC5"/>
                </a:solidFill>
                <a:latin typeface="Arial"/>
                <a:ea typeface="Arial"/>
                <a:cs typeface="Arial"/>
              </a:defRPr>
            </a:pPr>
            <a:r>
              <a:rPr sz="1350" b="0">
                <a:solidFill>
                  <a:srgbClr val="A8BBC5"/>
                </a:solidFill>
                <a:latin typeface="Arial"/>
                <a:ea typeface="Arial"/>
                <a:cs typeface="Arial"/>
              </a:rPr>
              <a:t>28 September 2026</a:t>
            </a:r>
          </a:p>
        </p:txBody>
      </p:sp>
    </p:spTree>
    <p:extLst>
      <p:ext uri="{BB962C8B-B14F-4D97-AF65-F5344CB8AC3E}">
        <p14:creationId xmlns:p14="http://schemas.microsoft.com/office/powerpoint/2010/main" val="342772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14" name="text-7">
            <a:extLst>
              <a:ext uri="{FF2B5EF4-FFF2-40B4-BE49-F238E27FC236}">
                <a16:creationId xmlns:a16="http://schemas.microsoft.com/office/drawing/2014/main" id="{21BC10D7-97E1-4CEE-99AA-2A2216F7CF32}"/>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When the GPS clock fails</a:t>
            </a:r>
          </a:p>
        </p:txBody>
      </p:sp>
      <p:sp>
        <p:nvSpPr>
          <p:cNvPr id="2" name="rule-8">
            <a:extLst>
              <a:ext uri="{FF2B5EF4-FFF2-40B4-BE49-F238E27FC236}">
                <a16:creationId xmlns:a16="http://schemas.microsoft.com/office/drawing/2014/main" id="{54CCA2E6-D922-470D-8EFC-922E2BA556E9}"/>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3" name="text-9">
            <a:extLst>
              <a:ext uri="{FF2B5EF4-FFF2-40B4-BE49-F238E27FC236}">
                <a16:creationId xmlns:a16="http://schemas.microsoft.com/office/drawing/2014/main" id="{ADA3F1D6-5191-4815-B1ED-540A061A081A}"/>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Problem   /   Zhou / Li / Miao   /   28 Sep 2026</a:t>
            </a:r>
          </a:p>
        </p:txBody>
      </p:sp>
      <p:sp>
        <p:nvSpPr>
          <p:cNvPr id="4" name="text-10">
            <a:extLst>
              <a:ext uri="{FF2B5EF4-FFF2-40B4-BE49-F238E27FC236}">
                <a16:creationId xmlns:a16="http://schemas.microsoft.com/office/drawing/2014/main" id="{BFDEF48C-B470-425C-A7D8-E3EC35361472}"/>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02</a:t>
            </a:r>
          </a:p>
        </p:txBody>
      </p:sp>
      <p:sp>
        <p:nvSpPr>
          <p:cNvPr id="5" name="text-11">
            <a:extLst>
              <a:ext uri="{FF2B5EF4-FFF2-40B4-BE49-F238E27FC236}">
                <a16:creationId xmlns:a16="http://schemas.microsoft.com/office/drawing/2014/main" id="{CC572393-AAC1-4581-827E-44821C5BA18C}"/>
              </a:ext>
            </a:extLst>
          </p:cNvPr>
          <p:cNvSpPr>
            <a:spLocks noGrp="1"/>
          </p:cNvSpPr>
          <p:nvPr/>
        </p:nvSpPr>
        <p:spPr>
          <a:xfrm>
            <a:off x="609600" y="1743075"/>
            <a:ext cx="5143500" cy="1000125"/>
          </a:xfrm>
          <a:prstGeom prst="rect">
            <a:avLst/>
          </a:prstGeom>
          <a:noFill/>
          <a:ln w="0">
            <a:noFill/>
          </a:ln>
        </p:spPr>
        <p:txBody>
          <a:bodyPr wrap="square" lIns="0" tIns="0" rIns="0" bIns="0" anchor="t">
            <a:noAutofit/>
          </a:bodyPr>
          <a:lstStyle/>
          <a:p>
            <a:pPr>
              <a:defRPr sz="5700" b="1">
                <a:solidFill>
                  <a:srgbClr val="6EDFC3"/>
                </a:solidFill>
                <a:latin typeface="Arial"/>
                <a:ea typeface="Arial"/>
                <a:cs typeface="Arial"/>
              </a:defRPr>
            </a:pPr>
            <a:r>
              <a:rPr sz="5700" b="1">
                <a:solidFill>
                  <a:srgbClr val="6EDFC3"/>
                </a:solidFill>
                <a:latin typeface="Arial"/>
                <a:ea typeface="Arial"/>
                <a:cs typeface="Arial"/>
              </a:rPr>
              <a:t>~20,000 km</a:t>
            </a:r>
          </a:p>
        </p:txBody>
      </p:sp>
      <p:sp>
        <p:nvSpPr>
          <p:cNvPr id="6" name="text-12">
            <a:extLst>
              <a:ext uri="{FF2B5EF4-FFF2-40B4-BE49-F238E27FC236}">
                <a16:creationId xmlns:a16="http://schemas.microsoft.com/office/drawing/2014/main" id="{9ECC2766-CEF6-43AD-86E8-F11866DDEBCC}"/>
              </a:ext>
            </a:extLst>
          </p:cNvPr>
          <p:cNvSpPr>
            <a:spLocks noGrp="1"/>
          </p:cNvSpPr>
          <p:nvPr/>
        </p:nvSpPr>
        <p:spPr>
          <a:xfrm>
            <a:off x="638175" y="2838450"/>
            <a:ext cx="4953000" cy="847725"/>
          </a:xfrm>
          <a:prstGeom prst="rect">
            <a:avLst/>
          </a:prstGeom>
          <a:noFill/>
          <a:ln w="0">
            <a:noFill/>
          </a:ln>
        </p:spPr>
        <p:txBody>
          <a:bodyPr wrap="square" lIns="0" tIns="0" rIns="0" bIns="0" anchor="t">
            <a:noAutofit/>
          </a:bodyPr>
          <a:lstStyle/>
          <a:p>
            <a:pPr>
              <a:defRPr sz="2100" b="0">
                <a:solidFill>
                  <a:srgbClr val="A8BBC5"/>
                </a:solidFill>
                <a:latin typeface="Arial"/>
                <a:ea typeface="Arial"/>
                <a:cs typeface="Arial"/>
              </a:defRPr>
            </a:pPr>
            <a:r>
              <a:rPr sz="2100" b="0">
                <a:solidFill>
                  <a:srgbClr val="A8BBC5"/>
                </a:solidFill>
                <a:latin typeface="Arial"/>
                <a:ea typeface="Arial"/>
                <a:cs typeface="Arial"/>
              </a:rPr>
              <a:t>The Global Positioning System (GPS)</a:t>
            </a:r>
          </a:p>
          <a:p>
            <a:pPr>
              <a:defRPr sz="2100" b="0">
                <a:solidFill>
                  <a:srgbClr val="A8BBC5"/>
                </a:solidFill>
                <a:latin typeface="Arial"/>
                <a:ea typeface="Arial"/>
                <a:cs typeface="Arial"/>
              </a:defRPr>
            </a:pPr>
            <a:r>
              <a:rPr sz="2100" b="0">
                <a:solidFill>
                  <a:srgbClr val="A8BBC5"/>
                </a:solidFill>
                <a:latin typeface="Arial"/>
                <a:ea typeface="Arial"/>
                <a:cs typeface="Arial"/>
              </a:rPr>
              <a:t>reaches Earth as a weak radio signal.</a:t>
            </a:r>
          </a:p>
        </p:txBody>
      </p:sp>
      <p:sp>
        <p:nvSpPr>
          <p:cNvPr id="7" name="text-13">
            <a:extLst>
              <a:ext uri="{FF2B5EF4-FFF2-40B4-BE49-F238E27FC236}">
                <a16:creationId xmlns:a16="http://schemas.microsoft.com/office/drawing/2014/main" id="{113F56F1-4B0A-4142-9776-C8275F98200A}"/>
              </a:ext>
            </a:extLst>
          </p:cNvPr>
          <p:cNvSpPr>
            <a:spLocks noGrp="1"/>
          </p:cNvSpPr>
          <p:nvPr/>
        </p:nvSpPr>
        <p:spPr>
          <a:xfrm>
            <a:off x="6638925" y="1781175"/>
            <a:ext cx="4572000" cy="476250"/>
          </a:xfrm>
          <a:prstGeom prst="rect">
            <a:avLst/>
          </a:prstGeom>
          <a:noFill/>
          <a:ln w="0">
            <a:noFill/>
          </a:ln>
        </p:spPr>
        <p:txBody>
          <a:bodyPr wrap="square" lIns="0" tIns="0" rIns="0" bIns="0" anchor="t">
            <a:noAutofit/>
          </a:bodyPr>
          <a:lstStyle/>
          <a:p>
            <a:pPr>
              <a:defRPr sz="2550" b="1">
                <a:solidFill>
                  <a:srgbClr val="F3F4ED"/>
                </a:solidFill>
                <a:latin typeface="Arial"/>
                <a:ea typeface="Arial"/>
                <a:cs typeface="Arial"/>
              </a:defRPr>
            </a:pPr>
            <a:r>
              <a:rPr sz="2550" b="1">
                <a:solidFill>
                  <a:srgbClr val="F3F4ED"/>
                </a:solidFill>
                <a:latin typeface="Arial"/>
                <a:ea typeface="Arial"/>
                <a:cs typeface="Arial"/>
              </a:rPr>
              <a:t>Jamming</a:t>
            </a:r>
          </a:p>
        </p:txBody>
      </p:sp>
      <p:sp>
        <p:nvSpPr>
          <p:cNvPr id="8" name="text-14">
            <a:extLst>
              <a:ext uri="{FF2B5EF4-FFF2-40B4-BE49-F238E27FC236}">
                <a16:creationId xmlns:a16="http://schemas.microsoft.com/office/drawing/2014/main" id="{C96145E2-2D71-44F9-833B-9E5DAC2104C7}"/>
              </a:ext>
            </a:extLst>
          </p:cNvPr>
          <p:cNvSpPr>
            <a:spLocks noGrp="1"/>
          </p:cNvSpPr>
          <p:nvPr/>
        </p:nvSpPr>
        <p:spPr>
          <a:xfrm>
            <a:off x="6638925" y="2381250"/>
            <a:ext cx="4524375" cy="876300"/>
          </a:xfrm>
          <a:prstGeom prst="rect">
            <a:avLst/>
          </a:prstGeom>
          <a:noFill/>
          <a:ln w="0">
            <a:noFill/>
          </a:ln>
        </p:spPr>
        <p:txBody>
          <a:bodyPr wrap="square" lIns="0" tIns="0" rIns="0" bIns="0" anchor="t">
            <a:noAutofit/>
          </a:bodyPr>
          <a:lstStyle/>
          <a:p>
            <a:pPr>
              <a:defRPr sz="2025" b="0">
                <a:solidFill>
                  <a:srgbClr val="A8BBC5"/>
                </a:solidFill>
                <a:latin typeface="Arial"/>
                <a:ea typeface="Arial"/>
                <a:cs typeface="Arial"/>
              </a:defRPr>
            </a:pPr>
            <a:r>
              <a:rPr sz="2025" b="0">
                <a:solidFill>
                  <a:srgbClr val="A8BBC5"/>
                </a:solidFill>
                <a:latin typeface="Arial"/>
                <a:ea typeface="Arial"/>
                <a:cs typeface="Arial"/>
              </a:rPr>
              <a:t>Noise overwhelms the signal.</a:t>
            </a:r>
          </a:p>
          <a:p>
            <a:pPr>
              <a:defRPr sz="2025" b="0">
                <a:solidFill>
                  <a:srgbClr val="A8BBC5"/>
                </a:solidFill>
                <a:latin typeface="Arial"/>
                <a:ea typeface="Arial"/>
                <a:cs typeface="Arial"/>
              </a:defRPr>
            </a:pPr>
            <a:r>
              <a:rPr sz="2025" b="0">
                <a:solidFill>
                  <a:srgbClr val="A8BBC5"/>
                </a:solidFill>
                <a:latin typeface="Arial"/>
                <a:ea typeface="Arial"/>
                <a:cs typeface="Arial"/>
              </a:rPr>
              <a:t>The receiver loses time or position.</a:t>
            </a:r>
          </a:p>
        </p:txBody>
      </p:sp>
      <p:sp>
        <p:nvSpPr>
          <p:cNvPr id="9" name="text-15">
            <a:extLst>
              <a:ext uri="{FF2B5EF4-FFF2-40B4-BE49-F238E27FC236}">
                <a16:creationId xmlns:a16="http://schemas.microsoft.com/office/drawing/2014/main" id="{67A8A67D-0D52-45DB-A473-70A05574A04E}"/>
              </a:ext>
            </a:extLst>
          </p:cNvPr>
          <p:cNvSpPr>
            <a:spLocks noGrp="1"/>
          </p:cNvSpPr>
          <p:nvPr/>
        </p:nvSpPr>
        <p:spPr>
          <a:xfrm>
            <a:off x="6638925" y="3676650"/>
            <a:ext cx="4572000" cy="476250"/>
          </a:xfrm>
          <a:prstGeom prst="rect">
            <a:avLst/>
          </a:prstGeom>
          <a:noFill/>
          <a:ln w="0">
            <a:noFill/>
          </a:ln>
        </p:spPr>
        <p:txBody>
          <a:bodyPr wrap="square" lIns="0" tIns="0" rIns="0" bIns="0" anchor="t">
            <a:noAutofit/>
          </a:bodyPr>
          <a:lstStyle/>
          <a:p>
            <a:pPr>
              <a:defRPr sz="2550" b="1">
                <a:solidFill>
                  <a:srgbClr val="F3F4ED"/>
                </a:solidFill>
                <a:latin typeface="Arial"/>
                <a:ea typeface="Arial"/>
                <a:cs typeface="Arial"/>
              </a:defRPr>
            </a:pPr>
            <a:r>
              <a:rPr sz="2550" b="1">
                <a:solidFill>
                  <a:srgbClr val="F3F4ED"/>
                </a:solidFill>
                <a:latin typeface="Arial"/>
                <a:ea typeface="Arial"/>
                <a:cs typeface="Arial"/>
              </a:rPr>
              <a:t>Spoofing</a:t>
            </a:r>
          </a:p>
        </p:txBody>
      </p:sp>
      <p:sp>
        <p:nvSpPr>
          <p:cNvPr id="10" name="text-16">
            <a:extLst>
              <a:ext uri="{FF2B5EF4-FFF2-40B4-BE49-F238E27FC236}">
                <a16:creationId xmlns:a16="http://schemas.microsoft.com/office/drawing/2014/main" id="{1571CE43-9F83-4D19-8089-E58E2944F913}"/>
              </a:ext>
            </a:extLst>
          </p:cNvPr>
          <p:cNvSpPr>
            <a:spLocks noGrp="1"/>
          </p:cNvSpPr>
          <p:nvPr/>
        </p:nvSpPr>
        <p:spPr>
          <a:xfrm>
            <a:off x="6638925" y="4267200"/>
            <a:ext cx="4667250" cy="895350"/>
          </a:xfrm>
          <a:prstGeom prst="rect">
            <a:avLst/>
          </a:prstGeom>
          <a:noFill/>
          <a:ln w="0">
            <a:noFill/>
          </a:ln>
        </p:spPr>
        <p:txBody>
          <a:bodyPr wrap="square" lIns="0" tIns="0" rIns="0" bIns="0" anchor="t">
            <a:noAutofit/>
          </a:bodyPr>
          <a:lstStyle/>
          <a:p>
            <a:pPr>
              <a:defRPr sz="2025" b="0">
                <a:solidFill>
                  <a:srgbClr val="A8BBC5"/>
                </a:solidFill>
                <a:latin typeface="Arial"/>
                <a:ea typeface="Arial"/>
                <a:cs typeface="Arial"/>
              </a:defRPr>
            </a:pPr>
            <a:r>
              <a:rPr sz="2025" b="0">
                <a:solidFill>
                  <a:srgbClr val="A8BBC5"/>
                </a:solidFill>
                <a:latin typeface="Arial"/>
                <a:ea typeface="Arial"/>
                <a:cs typeface="Arial"/>
              </a:rPr>
              <a:t>A false signal deceives the receiver.</a:t>
            </a:r>
          </a:p>
          <a:p>
            <a:pPr>
              <a:defRPr sz="2025" b="0">
                <a:solidFill>
                  <a:srgbClr val="A8BBC5"/>
                </a:solidFill>
                <a:latin typeface="Arial"/>
                <a:ea typeface="Arial"/>
                <a:cs typeface="Arial"/>
              </a:defRPr>
            </a:pPr>
            <a:r>
              <a:rPr sz="2025" b="0">
                <a:solidFill>
                  <a:srgbClr val="A8BBC5"/>
                </a:solidFill>
                <a:latin typeface="Arial"/>
                <a:ea typeface="Arial"/>
                <a:cs typeface="Arial"/>
              </a:rPr>
              <a:t>The clock or location can be wrong.</a:t>
            </a:r>
          </a:p>
        </p:txBody>
      </p:sp>
      <p:sp>
        <p:nvSpPr>
          <p:cNvPr id="11" name="text-17">
            <a:extLst>
              <a:ext uri="{FF2B5EF4-FFF2-40B4-BE49-F238E27FC236}">
                <a16:creationId xmlns:a16="http://schemas.microsoft.com/office/drawing/2014/main" id="{EBB960E8-DBA8-4C60-BFE3-DFEE5EB8CA0A}"/>
              </a:ext>
            </a:extLst>
          </p:cNvPr>
          <p:cNvSpPr>
            <a:spLocks noGrp="1"/>
          </p:cNvSpPr>
          <p:nvPr/>
        </p:nvSpPr>
        <p:spPr>
          <a:xfrm>
            <a:off x="638175" y="4114800"/>
            <a:ext cx="4667250" cy="381000"/>
          </a:xfrm>
          <a:prstGeom prst="rect">
            <a:avLst/>
          </a:prstGeom>
          <a:noFill/>
          <a:ln w="0">
            <a:noFill/>
          </a:ln>
        </p:spPr>
        <p:txBody>
          <a:bodyPr wrap="square" lIns="0" tIns="0" rIns="0" bIns="0" anchor="t">
            <a:noAutofit/>
          </a:bodyPr>
          <a:lstStyle/>
          <a:p>
            <a:pPr>
              <a:defRPr sz="2025" b="1">
                <a:solidFill>
                  <a:srgbClr val="F3F4ED"/>
                </a:solidFill>
                <a:latin typeface="Arial"/>
                <a:ea typeface="Arial"/>
                <a:cs typeface="Arial"/>
              </a:defRPr>
            </a:pPr>
            <a:r>
              <a:rPr sz="2025" b="1">
                <a:solidFill>
                  <a:srgbClr val="F3F4ED"/>
                </a:solidFill>
                <a:latin typeface="Arial"/>
                <a:ea typeface="Arial"/>
                <a:cs typeface="Arial"/>
              </a:rPr>
              <a:t>Civilian exposure</a:t>
            </a:r>
          </a:p>
        </p:txBody>
      </p:sp>
      <p:sp>
        <p:nvSpPr>
          <p:cNvPr id="12" name="text-18">
            <a:extLst>
              <a:ext uri="{FF2B5EF4-FFF2-40B4-BE49-F238E27FC236}">
                <a16:creationId xmlns:a16="http://schemas.microsoft.com/office/drawing/2014/main" id="{60D080CE-2238-4055-B008-2C439C45ACC2}"/>
              </a:ext>
            </a:extLst>
          </p:cNvPr>
          <p:cNvSpPr>
            <a:spLocks noGrp="1"/>
          </p:cNvSpPr>
          <p:nvPr/>
        </p:nvSpPr>
        <p:spPr>
          <a:xfrm>
            <a:off x="638175" y="4610100"/>
            <a:ext cx="5048250" cy="800100"/>
          </a:xfrm>
          <a:prstGeom prst="rect">
            <a:avLst/>
          </a:prstGeom>
          <a:noFill/>
          <a:ln w="0">
            <a:noFill/>
          </a:ln>
        </p:spPr>
        <p:txBody>
          <a:bodyPr wrap="square" lIns="0" tIns="0" rIns="0" bIns="0" anchor="t">
            <a:noAutofit/>
          </a:bodyPr>
          <a:lstStyle/>
          <a:p>
            <a:pPr>
              <a:defRPr sz="2025" b="0">
                <a:solidFill>
                  <a:srgbClr val="A8BBC5"/>
                </a:solidFill>
                <a:latin typeface="Arial"/>
                <a:ea typeface="Arial"/>
                <a:cs typeface="Arial"/>
              </a:defRPr>
            </a:pPr>
            <a:r>
              <a:rPr sz="2025" b="0">
                <a:solidFill>
                  <a:srgbClr val="A8BBC5"/>
                </a:solidFill>
                <a:latin typeface="Arial"/>
                <a:ea typeface="Arial"/>
                <a:cs typeface="Arial"/>
              </a:rPr>
              <a:t>5G networks, finance, power grids</a:t>
            </a:r>
          </a:p>
          <a:p>
            <a:pPr>
              <a:defRPr sz="2025" b="0">
                <a:solidFill>
                  <a:srgbClr val="A8BBC5"/>
                </a:solidFill>
                <a:latin typeface="Arial"/>
                <a:ea typeface="Arial"/>
                <a:cs typeface="Arial"/>
              </a:defRPr>
            </a:pPr>
            <a:r>
              <a:rPr sz="2025" b="0">
                <a:solidFill>
                  <a:srgbClr val="A8BBC5"/>
                </a:solidFill>
                <a:latin typeface="Arial"/>
                <a:ea typeface="Arial"/>
                <a:cs typeface="Arial"/>
              </a:rPr>
              <a:t>and aviation communications</a:t>
            </a:r>
          </a:p>
        </p:txBody>
      </p:sp>
      <p:sp>
        <p:nvSpPr>
          <p:cNvPr id="13" name="text-19">
            <a:extLst>
              <a:ext uri="{FF2B5EF4-FFF2-40B4-BE49-F238E27FC236}">
                <a16:creationId xmlns:a16="http://schemas.microsoft.com/office/drawing/2014/main" id="{0E7CA689-7475-4655-89AA-E0EE5FDC2606}"/>
              </a:ext>
            </a:extLst>
          </p:cNvPr>
          <p:cNvSpPr>
            <a:spLocks noGrp="1"/>
          </p:cNvSpPr>
          <p:nvPr/>
        </p:nvSpPr>
        <p:spPr>
          <a:xfrm>
            <a:off x="609600" y="5705475"/>
            <a:ext cx="10915650" cy="400050"/>
          </a:xfrm>
          <a:prstGeom prst="rect">
            <a:avLst/>
          </a:prstGeom>
          <a:noFill/>
          <a:ln w="0">
            <a:noFill/>
          </a:ln>
        </p:spPr>
        <p:txBody>
          <a:bodyPr wrap="square" lIns="0" tIns="0" rIns="0" bIns="0" anchor="t">
            <a:noAutofit/>
          </a:bodyPr>
          <a:lstStyle/>
          <a:p>
            <a:pPr>
              <a:defRPr sz="1650" b="0">
                <a:solidFill>
                  <a:srgbClr val="E7B77D"/>
                </a:solidFill>
                <a:latin typeface="Arial"/>
                <a:ea typeface="Arial"/>
                <a:cs typeface="Arial"/>
              </a:defRPr>
            </a:pPr>
            <a:r>
              <a:rPr sz="1650" b="0">
                <a:solidFill>
                  <a:srgbClr val="E7B77D"/>
                </a:solidFill>
                <a:latin typeface="Arial"/>
                <a:ea typeface="Arial"/>
                <a:cs typeface="Arial"/>
              </a:rPr>
              <a:t>2020 U.S. policy: critical infrastructure should withstand PNT disruption and manipulation.</a:t>
            </a:r>
          </a:p>
        </p:txBody>
      </p:sp>
    </p:spTree>
    <p:extLst>
      <p:ext uri="{BB962C8B-B14F-4D97-AF65-F5344CB8AC3E}">
        <p14:creationId xmlns:p14="http://schemas.microsoft.com/office/powerpoint/2010/main" val="95580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16" name="text-20">
            <a:extLst>
              <a:ext uri="{FF2B5EF4-FFF2-40B4-BE49-F238E27FC236}">
                <a16:creationId xmlns:a16="http://schemas.microsoft.com/office/drawing/2014/main" id="{13FDA218-955E-43F7-B581-D10D7C68ACFC}"/>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The product: trusted time, coarse location</a:t>
            </a:r>
          </a:p>
        </p:txBody>
      </p:sp>
      <p:sp>
        <p:nvSpPr>
          <p:cNvPr id="2" name="text-21">
            <a:extLst>
              <a:ext uri="{FF2B5EF4-FFF2-40B4-BE49-F238E27FC236}">
                <a16:creationId xmlns:a16="http://schemas.microsoft.com/office/drawing/2014/main" id="{214D1A24-0084-4BD1-9A2D-81185E4FAF5B}"/>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1  /  Core functions, critical components, and system architecture</a:t>
            </a:r>
          </a:p>
        </p:txBody>
      </p:sp>
      <p:sp>
        <p:nvSpPr>
          <p:cNvPr id="3" name="rule-22">
            <a:extLst>
              <a:ext uri="{FF2B5EF4-FFF2-40B4-BE49-F238E27FC236}">
                <a16:creationId xmlns:a16="http://schemas.microsoft.com/office/drawing/2014/main" id="{243C2B0E-0E18-4DD6-B3F7-CA7C5209D4B4}"/>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23">
            <a:extLst>
              <a:ext uri="{FF2B5EF4-FFF2-40B4-BE49-F238E27FC236}">
                <a16:creationId xmlns:a16="http://schemas.microsoft.com/office/drawing/2014/main" id="{8EFE0710-D1E9-40A0-98A5-88C079025604}"/>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Product   /   Zhou / Li / Miao   /   28 Sep 2026</a:t>
            </a:r>
          </a:p>
        </p:txBody>
      </p:sp>
      <p:sp>
        <p:nvSpPr>
          <p:cNvPr id="5" name="text-24">
            <a:extLst>
              <a:ext uri="{FF2B5EF4-FFF2-40B4-BE49-F238E27FC236}">
                <a16:creationId xmlns:a16="http://schemas.microsoft.com/office/drawing/2014/main" id="{F7AE412A-AEEE-4DE1-8F38-A3CD22D7581F}"/>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03</a:t>
            </a:r>
          </a:p>
        </p:txBody>
      </p:sp>
      <p:sp>
        <p:nvSpPr>
          <p:cNvPr id="6" name="text-25">
            <a:extLst>
              <a:ext uri="{FF2B5EF4-FFF2-40B4-BE49-F238E27FC236}">
                <a16:creationId xmlns:a16="http://schemas.microsoft.com/office/drawing/2014/main" id="{18498B79-838E-458F-B948-22EC8AB8B749}"/>
              </a:ext>
            </a:extLst>
          </p:cNvPr>
          <p:cNvSpPr>
            <a:spLocks noGrp="1"/>
          </p:cNvSpPr>
          <p:nvPr/>
        </p:nvSpPr>
        <p:spPr>
          <a:xfrm>
            <a:off x="609600" y="1914525"/>
            <a:ext cx="2762250" cy="1028700"/>
          </a:xfrm>
          <a:prstGeom prst="rect">
            <a:avLst/>
          </a:prstGeom>
          <a:noFill/>
          <a:ln w="0">
            <a:noFill/>
          </a:ln>
        </p:spPr>
        <p:txBody>
          <a:bodyPr wrap="square" lIns="0" tIns="0" rIns="0" bIns="0" anchor="t">
            <a:noAutofit/>
          </a:bodyPr>
          <a:lstStyle/>
          <a:p>
            <a:pPr>
              <a:defRPr sz="6150" b="1">
                <a:solidFill>
                  <a:srgbClr val="6EDFC3"/>
                </a:solidFill>
                <a:latin typeface="Arial"/>
                <a:ea typeface="Arial"/>
                <a:cs typeface="Arial"/>
              </a:defRPr>
            </a:pPr>
            <a:r>
              <a:rPr sz="6150" b="1">
                <a:solidFill>
                  <a:srgbClr val="6EDFC3"/>
                </a:solidFill>
                <a:latin typeface="Arial"/>
                <a:ea typeface="Arial"/>
                <a:cs typeface="Arial"/>
              </a:rPr>
              <a:t>66</a:t>
            </a:r>
          </a:p>
        </p:txBody>
      </p:sp>
      <p:sp>
        <p:nvSpPr>
          <p:cNvPr id="7" name="text-26">
            <a:extLst>
              <a:ext uri="{FF2B5EF4-FFF2-40B4-BE49-F238E27FC236}">
                <a16:creationId xmlns:a16="http://schemas.microsoft.com/office/drawing/2014/main" id="{C2C7D31A-3033-4D74-AC3D-F4BC84A860B8}"/>
              </a:ext>
            </a:extLst>
          </p:cNvPr>
          <p:cNvSpPr>
            <a:spLocks noGrp="1"/>
          </p:cNvSpPr>
          <p:nvPr/>
        </p:nvSpPr>
        <p:spPr>
          <a:xfrm>
            <a:off x="657225" y="2943225"/>
            <a:ext cx="4476750" cy="381000"/>
          </a:xfrm>
          <a:prstGeom prst="rect">
            <a:avLst/>
          </a:prstGeom>
          <a:noFill/>
          <a:ln w="0">
            <a:noFill/>
          </a:ln>
        </p:spPr>
        <p:txBody>
          <a:bodyPr wrap="square" lIns="0" tIns="0" rIns="0" bIns="0" anchor="t">
            <a:noAutofit/>
          </a:bodyPr>
          <a:lstStyle/>
          <a:p>
            <a:pPr>
              <a:defRPr sz="2100" b="0">
                <a:solidFill>
                  <a:srgbClr val="F3F4ED"/>
                </a:solidFill>
                <a:latin typeface="Arial"/>
                <a:ea typeface="Arial"/>
                <a:cs typeface="Arial"/>
              </a:defRPr>
            </a:pPr>
            <a:r>
              <a:rPr sz="2100" b="0">
                <a:solidFill>
                  <a:srgbClr val="F3F4ED"/>
                </a:solidFill>
                <a:latin typeface="Arial"/>
                <a:ea typeface="Arial"/>
                <a:cs typeface="Arial"/>
              </a:rPr>
              <a:t>operational satellites</a:t>
            </a:r>
          </a:p>
        </p:txBody>
      </p:sp>
      <p:sp>
        <p:nvSpPr>
          <p:cNvPr id="8" name="text-27">
            <a:extLst>
              <a:ext uri="{FF2B5EF4-FFF2-40B4-BE49-F238E27FC236}">
                <a16:creationId xmlns:a16="http://schemas.microsoft.com/office/drawing/2014/main" id="{D71CC113-C380-4120-8CE2-00581C269601}"/>
              </a:ext>
            </a:extLst>
          </p:cNvPr>
          <p:cNvSpPr>
            <a:spLocks noGrp="1"/>
          </p:cNvSpPr>
          <p:nvPr/>
        </p:nvSpPr>
        <p:spPr>
          <a:xfrm>
            <a:off x="609600" y="3686175"/>
            <a:ext cx="4524375" cy="695325"/>
          </a:xfrm>
          <a:prstGeom prst="rect">
            <a:avLst/>
          </a:prstGeom>
          <a:noFill/>
          <a:ln w="0">
            <a:noFill/>
          </a:ln>
        </p:spPr>
        <p:txBody>
          <a:bodyPr wrap="square" lIns="0" tIns="0" rIns="0" bIns="0" anchor="t">
            <a:noAutofit/>
          </a:bodyPr>
          <a:lstStyle/>
          <a:p>
            <a:pPr>
              <a:defRPr sz="3975" b="1">
                <a:solidFill>
                  <a:srgbClr val="F3F4ED"/>
                </a:solidFill>
                <a:latin typeface="Arial"/>
                <a:ea typeface="Arial"/>
                <a:cs typeface="Arial"/>
              </a:defRPr>
            </a:pPr>
            <a:r>
              <a:rPr sz="3975" b="1">
                <a:solidFill>
                  <a:srgbClr val="F3F4ED"/>
                </a:solidFill>
                <a:latin typeface="Arial"/>
                <a:ea typeface="Arial"/>
                <a:cs typeface="Arial"/>
              </a:rPr>
              <a:t>~780 km</a:t>
            </a:r>
          </a:p>
        </p:txBody>
      </p:sp>
      <p:sp>
        <p:nvSpPr>
          <p:cNvPr id="9" name="text-28">
            <a:extLst>
              <a:ext uri="{FF2B5EF4-FFF2-40B4-BE49-F238E27FC236}">
                <a16:creationId xmlns:a16="http://schemas.microsoft.com/office/drawing/2014/main" id="{171D519F-5587-4FDE-BD11-C1597EB8B7CC}"/>
              </a:ext>
            </a:extLst>
          </p:cNvPr>
          <p:cNvSpPr>
            <a:spLocks noGrp="1"/>
          </p:cNvSpPr>
          <p:nvPr/>
        </p:nvSpPr>
        <p:spPr>
          <a:xfrm>
            <a:off x="657225" y="4543425"/>
            <a:ext cx="4953000" cy="1200150"/>
          </a:xfrm>
          <a:prstGeom prst="rect">
            <a:avLst/>
          </a:prstGeom>
          <a:noFill/>
          <a:ln w="0">
            <a:noFill/>
          </a:ln>
        </p:spPr>
        <p:txBody>
          <a:bodyPr wrap="square" lIns="0" tIns="0" rIns="0" bIns="0" anchor="t">
            <a:noAutofit/>
          </a:bodyPr>
          <a:lstStyle/>
          <a:p>
            <a:pPr>
              <a:defRPr sz="1875" b="0">
                <a:solidFill>
                  <a:srgbClr val="A8BBC5"/>
                </a:solidFill>
                <a:latin typeface="Arial"/>
                <a:ea typeface="Arial"/>
                <a:cs typeface="Arial"/>
              </a:defRPr>
            </a:pPr>
            <a:r>
              <a:rPr sz="1875" b="0">
                <a:solidFill>
                  <a:srgbClr val="A8BBC5"/>
                </a:solidFill>
                <a:latin typeface="Arial"/>
                <a:ea typeface="Arial"/>
                <a:cs typeface="Arial"/>
              </a:rPr>
              <a:t>Low Earth Orbit (LEO)</a:t>
            </a:r>
          </a:p>
          <a:p>
            <a:pPr>
              <a:defRPr sz="1875" b="0">
                <a:solidFill>
                  <a:srgbClr val="A8BBC5"/>
                </a:solidFill>
                <a:latin typeface="Arial"/>
                <a:ea typeface="Arial"/>
                <a:cs typeface="Arial"/>
              </a:defRPr>
            </a:pPr>
            <a:r>
              <a:rPr sz="1875" b="0">
                <a:solidFill>
                  <a:srgbClr val="A8BBC5"/>
                </a:solidFill>
                <a:latin typeface="Arial"/>
                <a:ea typeface="Arial"/>
                <a:cs typeface="Arial"/>
              </a:rPr>
              <a:t>Short authenticated bursts</a:t>
            </a:r>
          </a:p>
          <a:p>
            <a:pPr>
              <a:defRPr sz="1875" b="0">
                <a:solidFill>
                  <a:srgbClr val="A8BBC5"/>
                </a:solidFill>
                <a:latin typeface="Arial"/>
                <a:ea typeface="Arial"/>
                <a:cs typeface="Arial"/>
              </a:defRPr>
            </a:pPr>
            <a:r>
              <a:rPr sz="1875" b="0">
                <a:solidFill>
                  <a:srgbClr val="A8BBC5"/>
                </a:solidFill>
                <a:latin typeface="Arial"/>
                <a:ea typeface="Arial"/>
                <a:cs typeface="Arial"/>
              </a:rPr>
              <a:t>Indoor reception where conditions allow</a:t>
            </a:r>
          </a:p>
        </p:txBody>
      </p:sp>
      <p:sp>
        <p:nvSpPr>
          <p:cNvPr id="10" name="text-29">
            <a:extLst>
              <a:ext uri="{FF2B5EF4-FFF2-40B4-BE49-F238E27FC236}">
                <a16:creationId xmlns:a16="http://schemas.microsoft.com/office/drawing/2014/main" id="{7749CD14-66A1-43CB-A49D-64A43874C4A6}"/>
              </a:ext>
            </a:extLst>
          </p:cNvPr>
          <p:cNvSpPr>
            <a:spLocks noGrp="1"/>
          </p:cNvSpPr>
          <p:nvPr/>
        </p:nvSpPr>
        <p:spPr>
          <a:xfrm>
            <a:off x="6172200" y="1990725"/>
            <a:ext cx="2000250" cy="381000"/>
          </a:xfrm>
          <a:prstGeom prst="rect">
            <a:avLst/>
          </a:prstGeom>
          <a:noFill/>
          <a:ln w="0">
            <a:noFill/>
          </a:ln>
        </p:spPr>
        <p:txBody>
          <a:bodyPr wrap="square" lIns="0" tIns="0" rIns="0" bIns="0" anchor="t">
            <a:noAutofit/>
          </a:bodyPr>
          <a:lstStyle/>
          <a:p>
            <a:pPr>
              <a:defRPr sz="2100" b="1">
                <a:solidFill>
                  <a:srgbClr val="6EDFC3"/>
                </a:solidFill>
                <a:latin typeface="Arial"/>
                <a:ea typeface="Arial"/>
                <a:cs typeface="Arial"/>
              </a:defRPr>
            </a:pPr>
            <a:r>
              <a:rPr sz="2100" b="1">
                <a:solidFill>
                  <a:srgbClr val="6EDFC3"/>
                </a:solidFill>
                <a:latin typeface="Arial"/>
                <a:ea typeface="Arial"/>
                <a:cs typeface="Arial"/>
              </a:rPr>
              <a:t>Space</a:t>
            </a:r>
          </a:p>
        </p:txBody>
      </p:sp>
      <p:sp>
        <p:nvSpPr>
          <p:cNvPr id="11" name="text-30">
            <a:extLst>
              <a:ext uri="{FF2B5EF4-FFF2-40B4-BE49-F238E27FC236}">
                <a16:creationId xmlns:a16="http://schemas.microsoft.com/office/drawing/2014/main" id="{F23BE47C-1791-4E43-81B9-DA9F24648360}"/>
              </a:ext>
            </a:extLst>
          </p:cNvPr>
          <p:cNvSpPr>
            <a:spLocks noGrp="1"/>
          </p:cNvSpPr>
          <p:nvPr/>
        </p:nvSpPr>
        <p:spPr>
          <a:xfrm>
            <a:off x="6172200" y="2438400"/>
            <a:ext cx="5334000" cy="685800"/>
          </a:xfrm>
          <a:prstGeom prst="rect">
            <a:avLst/>
          </a:prstGeom>
          <a:noFill/>
          <a:ln w="0">
            <a:noFill/>
          </a:ln>
        </p:spPr>
        <p:txBody>
          <a:bodyPr wrap="square" lIns="0" tIns="0" rIns="0" bIns="0" anchor="t">
            <a:noAutofit/>
          </a:bodyPr>
          <a:lstStyle/>
          <a:p>
            <a:pPr>
              <a:defRPr sz="1950" b="0">
                <a:solidFill>
                  <a:srgbClr val="F3F4ED"/>
                </a:solidFill>
                <a:latin typeface="Arial"/>
                <a:ea typeface="Arial"/>
                <a:cs typeface="Arial"/>
              </a:defRPr>
            </a:pPr>
            <a:r>
              <a:rPr sz="1950" b="0">
                <a:solidFill>
                  <a:srgbClr val="F3F4ED"/>
                </a:solidFill>
                <a:latin typeface="Arial"/>
                <a:ea typeface="Arial"/>
                <a:cs typeface="Arial"/>
              </a:rPr>
              <a:t>An existing Iridium communications</a:t>
            </a:r>
          </a:p>
          <a:p>
            <a:pPr>
              <a:defRPr sz="1950" b="0">
                <a:solidFill>
                  <a:srgbClr val="F3F4ED"/>
                </a:solidFill>
                <a:latin typeface="Arial"/>
                <a:ea typeface="Arial"/>
                <a:cs typeface="Arial"/>
              </a:defRPr>
            </a:pPr>
            <a:r>
              <a:rPr sz="1950" b="0">
                <a:solidFill>
                  <a:srgbClr val="F3F4ED"/>
                </a:solidFill>
                <a:latin typeface="Arial"/>
                <a:ea typeface="Arial"/>
                <a:cs typeface="Arial"/>
              </a:rPr>
              <a:t>constellation carries the STL signal.</a:t>
            </a:r>
          </a:p>
        </p:txBody>
      </p:sp>
      <p:sp>
        <p:nvSpPr>
          <p:cNvPr id="12" name="text-31">
            <a:extLst>
              <a:ext uri="{FF2B5EF4-FFF2-40B4-BE49-F238E27FC236}">
                <a16:creationId xmlns:a16="http://schemas.microsoft.com/office/drawing/2014/main" id="{4E1633C3-47DC-4016-9E5E-BFADA5B67F1B}"/>
              </a:ext>
            </a:extLst>
          </p:cNvPr>
          <p:cNvSpPr>
            <a:spLocks noGrp="1"/>
          </p:cNvSpPr>
          <p:nvPr/>
        </p:nvSpPr>
        <p:spPr>
          <a:xfrm>
            <a:off x="6172200" y="3409950"/>
            <a:ext cx="2000250" cy="381000"/>
          </a:xfrm>
          <a:prstGeom prst="rect">
            <a:avLst/>
          </a:prstGeom>
          <a:noFill/>
          <a:ln w="0">
            <a:noFill/>
          </a:ln>
        </p:spPr>
        <p:txBody>
          <a:bodyPr wrap="square" lIns="0" tIns="0" rIns="0" bIns="0" anchor="t">
            <a:noAutofit/>
          </a:bodyPr>
          <a:lstStyle/>
          <a:p>
            <a:pPr>
              <a:defRPr sz="2100" b="1">
                <a:solidFill>
                  <a:srgbClr val="6EDFC3"/>
                </a:solidFill>
                <a:latin typeface="Arial"/>
                <a:ea typeface="Arial"/>
                <a:cs typeface="Arial"/>
              </a:defRPr>
            </a:pPr>
            <a:r>
              <a:rPr sz="2100" b="1">
                <a:solidFill>
                  <a:srgbClr val="6EDFC3"/>
                </a:solidFill>
                <a:latin typeface="Arial"/>
                <a:ea typeface="Arial"/>
                <a:cs typeface="Arial"/>
              </a:rPr>
              <a:t>Ground</a:t>
            </a:r>
          </a:p>
        </p:txBody>
      </p:sp>
      <p:sp>
        <p:nvSpPr>
          <p:cNvPr id="13" name="text-32">
            <a:extLst>
              <a:ext uri="{FF2B5EF4-FFF2-40B4-BE49-F238E27FC236}">
                <a16:creationId xmlns:a16="http://schemas.microsoft.com/office/drawing/2014/main" id="{32403BAC-4809-4BDF-A73B-D50F4085153A}"/>
              </a:ext>
            </a:extLst>
          </p:cNvPr>
          <p:cNvSpPr>
            <a:spLocks noGrp="1"/>
          </p:cNvSpPr>
          <p:nvPr/>
        </p:nvSpPr>
        <p:spPr>
          <a:xfrm>
            <a:off x="6172200" y="3857625"/>
            <a:ext cx="5334000" cy="704850"/>
          </a:xfrm>
          <a:prstGeom prst="rect">
            <a:avLst/>
          </a:prstGeom>
          <a:noFill/>
          <a:ln w="0">
            <a:noFill/>
          </a:ln>
        </p:spPr>
        <p:txBody>
          <a:bodyPr wrap="square" lIns="0" tIns="0" rIns="0" bIns="0" anchor="t">
            <a:noAutofit/>
          </a:bodyPr>
          <a:lstStyle/>
          <a:p>
            <a:pPr>
              <a:defRPr sz="1950" b="0">
                <a:solidFill>
                  <a:srgbClr val="F3F4ED"/>
                </a:solidFill>
                <a:latin typeface="Arial"/>
                <a:ea typeface="Arial"/>
                <a:cs typeface="Arial"/>
              </a:defRPr>
            </a:pPr>
            <a:r>
              <a:rPr sz="1950" b="0">
                <a:solidFill>
                  <a:srgbClr val="F3F4ED"/>
                </a:solidFill>
                <a:latin typeface="Arial"/>
                <a:ea typeface="Arial"/>
                <a:cs typeface="Arial"/>
              </a:rPr>
              <a:t>Control in Virginia links the service</a:t>
            </a:r>
          </a:p>
          <a:p>
            <a:pPr>
              <a:defRPr sz="1950" b="0">
                <a:solidFill>
                  <a:srgbClr val="F3F4ED"/>
                </a:solidFill>
                <a:latin typeface="Arial"/>
                <a:ea typeface="Arial"/>
                <a:cs typeface="Arial"/>
              </a:defRPr>
            </a:pPr>
            <a:r>
              <a:rPr sz="1950" b="0">
                <a:solidFill>
                  <a:srgbClr val="F3F4ED"/>
                </a:solidFill>
                <a:latin typeface="Arial"/>
                <a:ea typeface="Arial"/>
                <a:cs typeface="Arial"/>
              </a:rPr>
              <a:t>to official U.S. time.</a:t>
            </a:r>
          </a:p>
        </p:txBody>
      </p:sp>
      <p:sp>
        <p:nvSpPr>
          <p:cNvPr id="14" name="text-33">
            <a:extLst>
              <a:ext uri="{FF2B5EF4-FFF2-40B4-BE49-F238E27FC236}">
                <a16:creationId xmlns:a16="http://schemas.microsoft.com/office/drawing/2014/main" id="{9FFB8FDB-7149-4DCF-AB6C-4C1970EB7523}"/>
              </a:ext>
            </a:extLst>
          </p:cNvPr>
          <p:cNvSpPr>
            <a:spLocks noGrp="1"/>
          </p:cNvSpPr>
          <p:nvPr/>
        </p:nvSpPr>
        <p:spPr>
          <a:xfrm>
            <a:off x="6172200" y="4829175"/>
            <a:ext cx="2000250" cy="381000"/>
          </a:xfrm>
          <a:prstGeom prst="rect">
            <a:avLst/>
          </a:prstGeom>
          <a:noFill/>
          <a:ln w="0">
            <a:noFill/>
          </a:ln>
        </p:spPr>
        <p:txBody>
          <a:bodyPr wrap="square" lIns="0" tIns="0" rIns="0" bIns="0" anchor="t">
            <a:noAutofit/>
          </a:bodyPr>
          <a:lstStyle/>
          <a:p>
            <a:pPr>
              <a:defRPr sz="2100" b="1">
                <a:solidFill>
                  <a:srgbClr val="6EDFC3"/>
                </a:solidFill>
                <a:latin typeface="Arial"/>
                <a:ea typeface="Arial"/>
                <a:cs typeface="Arial"/>
              </a:defRPr>
            </a:pPr>
            <a:r>
              <a:rPr sz="2100" b="1">
                <a:solidFill>
                  <a:srgbClr val="6EDFC3"/>
                </a:solidFill>
                <a:latin typeface="Arial"/>
                <a:ea typeface="Arial"/>
                <a:cs typeface="Arial"/>
              </a:rPr>
              <a:t>User</a:t>
            </a:r>
          </a:p>
        </p:txBody>
      </p:sp>
      <p:sp>
        <p:nvSpPr>
          <p:cNvPr id="15" name="text-34">
            <a:extLst>
              <a:ext uri="{FF2B5EF4-FFF2-40B4-BE49-F238E27FC236}">
                <a16:creationId xmlns:a16="http://schemas.microsoft.com/office/drawing/2014/main" id="{9F5E9E7E-B695-4F11-B24F-2B01BA93C1BD}"/>
              </a:ext>
            </a:extLst>
          </p:cNvPr>
          <p:cNvSpPr>
            <a:spLocks noGrp="1"/>
          </p:cNvSpPr>
          <p:nvPr/>
        </p:nvSpPr>
        <p:spPr>
          <a:xfrm>
            <a:off x="6172200" y="5276850"/>
            <a:ext cx="5334000" cy="685800"/>
          </a:xfrm>
          <a:prstGeom prst="rect">
            <a:avLst/>
          </a:prstGeom>
          <a:noFill/>
          <a:ln w="0">
            <a:noFill/>
          </a:ln>
        </p:spPr>
        <p:txBody>
          <a:bodyPr wrap="square" lIns="0" tIns="0" rIns="0" bIns="0" anchor="t">
            <a:noAutofit/>
          </a:bodyPr>
          <a:lstStyle/>
          <a:p>
            <a:pPr>
              <a:defRPr sz="1950" b="0">
                <a:solidFill>
                  <a:srgbClr val="F3F4ED"/>
                </a:solidFill>
                <a:latin typeface="Arial"/>
                <a:ea typeface="Arial"/>
                <a:cs typeface="Arial"/>
              </a:defRPr>
            </a:pPr>
            <a:r>
              <a:rPr sz="1950" b="0">
                <a:solidFill>
                  <a:srgbClr val="F3F4ED"/>
                </a:solidFill>
                <a:latin typeface="Arial"/>
                <a:ea typeface="Arial"/>
                <a:cs typeface="Arial"/>
              </a:rPr>
              <a:t>A receiver authenticates the signal</a:t>
            </a:r>
          </a:p>
          <a:p>
            <a:pPr>
              <a:defRPr sz="1950" b="0">
                <a:solidFill>
                  <a:srgbClr val="F3F4ED"/>
                </a:solidFill>
                <a:latin typeface="Arial"/>
                <a:ea typeface="Arial"/>
                <a:cs typeface="Arial"/>
              </a:defRPr>
            </a:pPr>
            <a:r>
              <a:rPr sz="1950" b="0">
                <a:solidFill>
                  <a:srgbClr val="F3F4ED"/>
                </a:solidFill>
                <a:latin typeface="Arial"/>
                <a:ea typeface="Arial"/>
                <a:cs typeface="Arial"/>
              </a:rPr>
              <a:t>and outputs a precise clock pulse.</a:t>
            </a:r>
          </a:p>
        </p:txBody>
      </p:sp>
    </p:spTree>
    <p:extLst>
      <p:ext uri="{BB962C8B-B14F-4D97-AF65-F5344CB8AC3E}">
        <p14:creationId xmlns:p14="http://schemas.microsoft.com/office/powerpoint/2010/main" val="1133120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cxnSp>
        <p:nvCxnSpPr>
          <p:cNvPr id="32" name="Straight Arrow Connector 31"/>
          <p:cNvCxnSpPr>
            <a:stCxn id="16" idx="3"/>
            <a:endCxn id="21" idx="1"/>
          </p:cNvCxnSpPr>
          <p:nvPr/>
        </p:nvCxnSpPr>
        <p:spPr>
          <a:xfrm>
            <a:off x="8753475" y="3505200"/>
            <a:ext cx="342900" cy="0"/>
          </a:xfrm>
          <a:prstGeom prst="straightConnector1">
            <a:avLst/>
          </a:prstGeom>
          <a:ln w="19050">
            <a:solidFill>
              <a:srgbClr val="6EDFC3"/>
            </a:solidFill>
            <a:tailEnd type="triangle" w="sm" len="sm"/>
          </a:ln>
        </p:spPr>
      </p:cxnSp>
      <p:cxnSp>
        <p:nvCxnSpPr>
          <p:cNvPr id="33" name="Straight Arrow Connector 32"/>
          <p:cNvCxnSpPr>
            <a:stCxn id="11" idx="3"/>
            <a:endCxn id="16" idx="1"/>
          </p:cNvCxnSpPr>
          <p:nvPr/>
        </p:nvCxnSpPr>
        <p:spPr>
          <a:xfrm>
            <a:off x="5924550" y="3505200"/>
            <a:ext cx="342900" cy="0"/>
          </a:xfrm>
          <a:prstGeom prst="straightConnector1">
            <a:avLst/>
          </a:prstGeom>
          <a:ln w="19050">
            <a:solidFill>
              <a:srgbClr val="6EDFC3"/>
            </a:solidFill>
            <a:tailEnd type="triangle" w="sm" len="sm"/>
          </a:ln>
        </p:spPr>
      </p:cxnSp>
      <p:cxnSp>
        <p:nvCxnSpPr>
          <p:cNvPr id="34" name="Straight Arrow Connector 33"/>
          <p:cNvCxnSpPr>
            <a:stCxn id="6" idx="3"/>
            <a:endCxn id="11" idx="1"/>
          </p:cNvCxnSpPr>
          <p:nvPr/>
        </p:nvCxnSpPr>
        <p:spPr>
          <a:xfrm>
            <a:off x="3095625" y="3505200"/>
            <a:ext cx="342900" cy="0"/>
          </a:xfrm>
          <a:prstGeom prst="straightConnector1">
            <a:avLst/>
          </a:prstGeom>
          <a:ln w="19050">
            <a:solidFill>
              <a:srgbClr val="6EDFC3"/>
            </a:solidFill>
            <a:tailEnd type="triangle" w="sm" len="sm"/>
          </a:ln>
        </p:spPr>
      </p:cxnSp>
      <p:sp>
        <p:nvSpPr>
          <p:cNvPr id="35" name="text-35">
            <a:extLst>
              <a:ext uri="{FF2B5EF4-FFF2-40B4-BE49-F238E27FC236}">
                <a16:creationId xmlns:a16="http://schemas.microsoft.com/office/drawing/2014/main" id="{CCDE14A7-CEAE-4A2F-96E7-25C12D9D0DCB}"/>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Lifecycle</a:t>
            </a:r>
          </a:p>
        </p:txBody>
      </p:sp>
      <p:sp>
        <p:nvSpPr>
          <p:cNvPr id="2" name="text-36">
            <a:extLst>
              <a:ext uri="{FF2B5EF4-FFF2-40B4-BE49-F238E27FC236}">
                <a16:creationId xmlns:a16="http://schemas.microsoft.com/office/drawing/2014/main" id="{5446A1F8-B8C0-46FD-82FD-687A41DB90E3}"/>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2  /  Conceptualization, prototype, scaling, and platform integration</a:t>
            </a:r>
          </a:p>
        </p:txBody>
      </p:sp>
      <p:sp>
        <p:nvSpPr>
          <p:cNvPr id="3" name="rule-37">
            <a:extLst>
              <a:ext uri="{FF2B5EF4-FFF2-40B4-BE49-F238E27FC236}">
                <a16:creationId xmlns:a16="http://schemas.microsoft.com/office/drawing/2014/main" id="{609070AA-0039-47C3-8A7C-2BF90628686B}"/>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38">
            <a:extLst>
              <a:ext uri="{FF2B5EF4-FFF2-40B4-BE49-F238E27FC236}">
                <a16:creationId xmlns:a16="http://schemas.microsoft.com/office/drawing/2014/main" id="{3D163526-90AA-41AD-A49D-37679377DB5B}"/>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Lifecycle   /   Zhou / Li / Miao   /   28 Sep 2026</a:t>
            </a:r>
          </a:p>
        </p:txBody>
      </p:sp>
      <p:sp>
        <p:nvSpPr>
          <p:cNvPr id="5" name="text-39">
            <a:extLst>
              <a:ext uri="{FF2B5EF4-FFF2-40B4-BE49-F238E27FC236}">
                <a16:creationId xmlns:a16="http://schemas.microsoft.com/office/drawing/2014/main" id="{4A2CC205-483F-492A-9A66-80FB79F9EB34}"/>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04</a:t>
            </a:r>
          </a:p>
        </p:txBody>
      </p:sp>
      <p:sp>
        <p:nvSpPr>
          <p:cNvPr id="6" name="diagram-40">
            <a:extLst>
              <a:ext uri="{FF2B5EF4-FFF2-40B4-BE49-F238E27FC236}">
                <a16:creationId xmlns:a16="http://schemas.microsoft.com/office/drawing/2014/main" id="{9000E3EF-0166-4CD7-8654-2F2FED2C74B6}"/>
              </a:ext>
            </a:extLst>
          </p:cNvPr>
          <p:cNvSpPr>
            <a:spLocks noGrp="1"/>
          </p:cNvSpPr>
          <p:nvPr/>
        </p:nvSpPr>
        <p:spPr>
          <a:xfrm>
            <a:off x="609600" y="2266950"/>
            <a:ext cx="2486025" cy="2476500"/>
          </a:xfrm>
          <a:prstGeom prst="rect">
            <a:avLst/>
          </a:prstGeom>
          <a:solidFill>
            <a:srgbClr val="112A35"/>
          </a:solidFill>
          <a:ln w="9525">
            <a:solidFill>
              <a:srgbClr val="29414D"/>
            </a:solidFill>
          </a:ln>
        </p:spPr>
        <p:txBody>
          <a:bodyPr/>
          <a:lstStyle/>
          <a:p>
            <a:endParaRPr lang="zh-CN" altLang="en-US"/>
          </a:p>
        </p:txBody>
      </p:sp>
      <p:sp>
        <p:nvSpPr>
          <p:cNvPr id="7" name="text-41">
            <a:extLst>
              <a:ext uri="{FF2B5EF4-FFF2-40B4-BE49-F238E27FC236}">
                <a16:creationId xmlns:a16="http://schemas.microsoft.com/office/drawing/2014/main" id="{B95FC17C-7C92-48E6-B473-8D82ABDFD4D2}"/>
              </a:ext>
            </a:extLst>
          </p:cNvPr>
          <p:cNvSpPr>
            <a:spLocks noGrp="1"/>
          </p:cNvSpPr>
          <p:nvPr/>
        </p:nvSpPr>
        <p:spPr>
          <a:xfrm>
            <a:off x="781050" y="2476500"/>
            <a:ext cx="2143125" cy="304800"/>
          </a:xfrm>
          <a:prstGeom prst="rect">
            <a:avLst/>
          </a:prstGeom>
          <a:noFill/>
          <a:ln w="0">
            <a:noFill/>
          </a:ln>
        </p:spPr>
        <p:txBody>
          <a:bodyPr wrap="square" lIns="0" tIns="0" rIns="0" bIns="0" anchor="t">
            <a:noAutofit/>
          </a:bodyPr>
          <a:lstStyle/>
          <a:p>
            <a:pPr>
              <a:defRPr sz="1500" b="1">
                <a:solidFill>
                  <a:srgbClr val="6EDFC3"/>
                </a:solidFill>
                <a:latin typeface="Arial"/>
                <a:ea typeface="Arial"/>
                <a:cs typeface="Arial"/>
              </a:defRPr>
            </a:pPr>
            <a:r>
              <a:rPr sz="1500" b="1">
                <a:solidFill>
                  <a:srgbClr val="6EDFC3"/>
                </a:solidFill>
                <a:latin typeface="Arial"/>
                <a:ea typeface="Arial"/>
                <a:cs typeface="Arial"/>
              </a:rPr>
              <a:t>IDEA</a:t>
            </a:r>
          </a:p>
        </p:txBody>
      </p:sp>
      <p:sp>
        <p:nvSpPr>
          <p:cNvPr id="8" name="text-42">
            <a:extLst>
              <a:ext uri="{FF2B5EF4-FFF2-40B4-BE49-F238E27FC236}">
                <a16:creationId xmlns:a16="http://schemas.microsoft.com/office/drawing/2014/main" id="{9728300B-8994-4B1D-956C-235C23D252F3}"/>
              </a:ext>
            </a:extLst>
          </p:cNvPr>
          <p:cNvSpPr>
            <a:spLocks noGrp="1"/>
          </p:cNvSpPr>
          <p:nvPr/>
        </p:nvSpPr>
        <p:spPr>
          <a:xfrm>
            <a:off x="781050" y="2962275"/>
            <a:ext cx="2190750" cy="400050"/>
          </a:xfrm>
          <a:prstGeom prst="rect">
            <a:avLst/>
          </a:prstGeom>
          <a:noFill/>
          <a:ln w="0">
            <a:noFill/>
          </a:ln>
        </p:spPr>
        <p:txBody>
          <a:bodyPr wrap="square" lIns="0" tIns="0" rIns="0" bIns="0" anchor="t">
            <a:noAutofit/>
          </a:bodyPr>
          <a:lstStyle/>
          <a:p>
            <a:pPr>
              <a:defRPr sz="2175" b="1">
                <a:solidFill>
                  <a:srgbClr val="F3F4ED"/>
                </a:solidFill>
                <a:latin typeface="Arial"/>
                <a:ea typeface="Arial"/>
                <a:cs typeface="Arial"/>
              </a:defRPr>
            </a:pPr>
            <a:r>
              <a:rPr sz="2175" b="1">
                <a:solidFill>
                  <a:srgbClr val="F3F4ED"/>
                </a:solidFill>
                <a:latin typeface="Arial"/>
                <a:ea typeface="Arial"/>
                <a:cs typeface="Arial"/>
              </a:rPr>
              <a:t>Before 2016</a:t>
            </a:r>
          </a:p>
        </p:txBody>
      </p:sp>
      <p:sp>
        <p:nvSpPr>
          <p:cNvPr id="9" name="text-43">
            <a:extLst>
              <a:ext uri="{FF2B5EF4-FFF2-40B4-BE49-F238E27FC236}">
                <a16:creationId xmlns:a16="http://schemas.microsoft.com/office/drawing/2014/main" id="{A6D9E2F8-B49F-4E54-A330-2D0CB1457056}"/>
              </a:ext>
            </a:extLst>
          </p:cNvPr>
          <p:cNvSpPr>
            <a:spLocks noGrp="1"/>
          </p:cNvSpPr>
          <p:nvPr/>
        </p:nvSpPr>
        <p:spPr>
          <a:xfrm>
            <a:off x="781050" y="3562350"/>
            <a:ext cx="2190750" cy="628650"/>
          </a:xfrm>
          <a:prstGeom prst="rect">
            <a:avLst/>
          </a:prstGeom>
          <a:noFill/>
          <a:ln w="0">
            <a:noFill/>
          </a:ln>
        </p:spPr>
        <p:txBody>
          <a:bodyPr wrap="square" lIns="0" tIns="0" rIns="0" bIns="0" anchor="t">
            <a:noAutofit/>
          </a:bodyPr>
          <a:lstStyle/>
          <a:p>
            <a:pPr>
              <a:defRPr sz="1725" b="1">
                <a:solidFill>
                  <a:srgbClr val="F3F4ED"/>
                </a:solidFill>
                <a:latin typeface="Arial"/>
                <a:ea typeface="Arial"/>
                <a:cs typeface="Arial"/>
              </a:defRPr>
            </a:pPr>
            <a:r>
              <a:rPr sz="1725" b="1">
                <a:solidFill>
                  <a:srgbClr val="F3F4ED"/>
                </a:solidFill>
                <a:latin typeface="Arial"/>
                <a:ea typeface="Arial"/>
                <a:cs typeface="Arial"/>
              </a:rPr>
              <a:t>Satelles / iKare</a:t>
            </a:r>
          </a:p>
        </p:txBody>
      </p:sp>
      <p:sp>
        <p:nvSpPr>
          <p:cNvPr id="10" name="text-44">
            <a:extLst>
              <a:ext uri="{FF2B5EF4-FFF2-40B4-BE49-F238E27FC236}">
                <a16:creationId xmlns:a16="http://schemas.microsoft.com/office/drawing/2014/main" id="{445D0A65-AAFE-4A4F-A856-E3B40EA70B67}"/>
              </a:ext>
            </a:extLst>
          </p:cNvPr>
          <p:cNvSpPr>
            <a:spLocks noGrp="1"/>
          </p:cNvSpPr>
          <p:nvPr/>
        </p:nvSpPr>
        <p:spPr>
          <a:xfrm>
            <a:off x="781050" y="4181475"/>
            <a:ext cx="2190750" cy="485775"/>
          </a:xfrm>
          <a:prstGeom prst="rect">
            <a:avLst/>
          </a:prstGeom>
          <a:noFill/>
          <a:ln w="0">
            <a:noFill/>
          </a:ln>
        </p:spPr>
        <p:txBody>
          <a:bodyPr wrap="square" lIns="0" tIns="0" rIns="0" bIns="0" anchor="t">
            <a:noAutofit/>
          </a:bodyPr>
          <a:lstStyle/>
          <a:p>
            <a:pPr>
              <a:defRPr sz="1425" b="0">
                <a:solidFill>
                  <a:srgbClr val="A8BBC5"/>
                </a:solidFill>
                <a:latin typeface="Arial"/>
                <a:ea typeface="Arial"/>
                <a:cs typeface="Arial"/>
              </a:defRPr>
            </a:pPr>
            <a:r>
              <a:rPr sz="1425" b="0">
                <a:solidFill>
                  <a:srgbClr val="A8BBC5"/>
                </a:solidFill>
                <a:latin typeface="Arial"/>
                <a:ea typeface="Arial"/>
                <a:cs typeface="Arial"/>
              </a:rPr>
              <a:t>Reuse Iridium’s high-power</a:t>
            </a:r>
          </a:p>
          <a:p>
            <a:pPr>
              <a:defRPr sz="1425" b="0">
                <a:solidFill>
                  <a:srgbClr val="A8BBC5"/>
                </a:solidFill>
                <a:latin typeface="Arial"/>
                <a:ea typeface="Arial"/>
                <a:cs typeface="Arial"/>
              </a:defRPr>
            </a:pPr>
            <a:r>
              <a:rPr sz="1425" b="0">
                <a:solidFill>
                  <a:srgbClr val="A8BBC5"/>
                </a:solidFill>
                <a:latin typeface="Arial"/>
                <a:ea typeface="Arial"/>
                <a:cs typeface="Arial"/>
              </a:rPr>
              <a:t>message channel</a:t>
            </a:r>
          </a:p>
        </p:txBody>
      </p:sp>
      <p:sp>
        <p:nvSpPr>
          <p:cNvPr id="11" name="diagram-45">
            <a:extLst>
              <a:ext uri="{FF2B5EF4-FFF2-40B4-BE49-F238E27FC236}">
                <a16:creationId xmlns:a16="http://schemas.microsoft.com/office/drawing/2014/main" id="{7EDB8362-7B69-41F0-9216-E703326320CD}"/>
              </a:ext>
            </a:extLst>
          </p:cNvPr>
          <p:cNvSpPr>
            <a:spLocks noGrp="1"/>
          </p:cNvSpPr>
          <p:nvPr/>
        </p:nvSpPr>
        <p:spPr>
          <a:xfrm>
            <a:off x="3438525" y="2266950"/>
            <a:ext cx="2486025" cy="2476500"/>
          </a:xfrm>
          <a:prstGeom prst="rect">
            <a:avLst/>
          </a:prstGeom>
          <a:solidFill>
            <a:srgbClr val="112A35"/>
          </a:solidFill>
          <a:ln w="9525">
            <a:solidFill>
              <a:srgbClr val="29414D"/>
            </a:solidFill>
          </a:ln>
        </p:spPr>
        <p:txBody>
          <a:bodyPr/>
          <a:lstStyle/>
          <a:p>
            <a:endParaRPr lang="zh-CN" altLang="en-US"/>
          </a:p>
        </p:txBody>
      </p:sp>
      <p:sp>
        <p:nvSpPr>
          <p:cNvPr id="12" name="text-46">
            <a:extLst>
              <a:ext uri="{FF2B5EF4-FFF2-40B4-BE49-F238E27FC236}">
                <a16:creationId xmlns:a16="http://schemas.microsoft.com/office/drawing/2014/main" id="{4725E38F-E547-4044-9542-29560CEBD1ED}"/>
              </a:ext>
            </a:extLst>
          </p:cNvPr>
          <p:cNvSpPr>
            <a:spLocks noGrp="1"/>
          </p:cNvSpPr>
          <p:nvPr/>
        </p:nvSpPr>
        <p:spPr>
          <a:xfrm>
            <a:off x="3609975" y="2476500"/>
            <a:ext cx="2143125" cy="304800"/>
          </a:xfrm>
          <a:prstGeom prst="rect">
            <a:avLst/>
          </a:prstGeom>
          <a:noFill/>
          <a:ln w="0">
            <a:noFill/>
          </a:ln>
        </p:spPr>
        <p:txBody>
          <a:bodyPr wrap="square" lIns="0" tIns="0" rIns="0" bIns="0" anchor="t">
            <a:noAutofit/>
          </a:bodyPr>
          <a:lstStyle/>
          <a:p>
            <a:pPr>
              <a:defRPr sz="1500" b="1">
                <a:solidFill>
                  <a:srgbClr val="6EDFC3"/>
                </a:solidFill>
                <a:latin typeface="Arial"/>
                <a:ea typeface="Arial"/>
                <a:cs typeface="Arial"/>
              </a:defRPr>
            </a:pPr>
            <a:r>
              <a:rPr sz="1500" b="1">
                <a:solidFill>
                  <a:srgbClr val="6EDFC3"/>
                </a:solidFill>
                <a:latin typeface="Arial"/>
                <a:ea typeface="Arial"/>
                <a:cs typeface="Arial"/>
              </a:rPr>
              <a:t>PROTOTYPE</a:t>
            </a:r>
          </a:p>
        </p:txBody>
      </p:sp>
      <p:sp>
        <p:nvSpPr>
          <p:cNvPr id="13" name="text-47">
            <a:extLst>
              <a:ext uri="{FF2B5EF4-FFF2-40B4-BE49-F238E27FC236}">
                <a16:creationId xmlns:a16="http://schemas.microsoft.com/office/drawing/2014/main" id="{B9FE9197-28E0-4FFF-A80C-AFC311D1E118}"/>
              </a:ext>
            </a:extLst>
          </p:cNvPr>
          <p:cNvSpPr>
            <a:spLocks noGrp="1"/>
          </p:cNvSpPr>
          <p:nvPr/>
        </p:nvSpPr>
        <p:spPr>
          <a:xfrm>
            <a:off x="3609975" y="2962275"/>
            <a:ext cx="2190750" cy="400050"/>
          </a:xfrm>
          <a:prstGeom prst="rect">
            <a:avLst/>
          </a:prstGeom>
          <a:noFill/>
          <a:ln w="0">
            <a:noFill/>
          </a:ln>
        </p:spPr>
        <p:txBody>
          <a:bodyPr wrap="square" lIns="0" tIns="0" rIns="0" bIns="0" anchor="t">
            <a:noAutofit/>
          </a:bodyPr>
          <a:lstStyle/>
          <a:p>
            <a:pPr>
              <a:defRPr sz="2175" b="1">
                <a:solidFill>
                  <a:srgbClr val="F3F4ED"/>
                </a:solidFill>
                <a:latin typeface="Arial"/>
                <a:ea typeface="Arial"/>
                <a:cs typeface="Arial"/>
              </a:defRPr>
            </a:pPr>
            <a:r>
              <a:rPr sz="2175" b="1">
                <a:solidFill>
                  <a:srgbClr val="F3F4ED"/>
                </a:solidFill>
                <a:latin typeface="Arial"/>
                <a:ea typeface="Arial"/>
                <a:cs typeface="Arial"/>
              </a:rPr>
              <a:t>Before May 2016</a:t>
            </a:r>
          </a:p>
        </p:txBody>
      </p:sp>
      <p:sp>
        <p:nvSpPr>
          <p:cNvPr id="14" name="text-48">
            <a:extLst>
              <a:ext uri="{FF2B5EF4-FFF2-40B4-BE49-F238E27FC236}">
                <a16:creationId xmlns:a16="http://schemas.microsoft.com/office/drawing/2014/main" id="{EE90AF70-FD33-4B5A-BA74-19B52FA0164F}"/>
              </a:ext>
            </a:extLst>
          </p:cNvPr>
          <p:cNvSpPr>
            <a:spLocks noGrp="1"/>
          </p:cNvSpPr>
          <p:nvPr/>
        </p:nvSpPr>
        <p:spPr>
          <a:xfrm>
            <a:off x="3609975" y="3562350"/>
            <a:ext cx="2190750" cy="628650"/>
          </a:xfrm>
          <a:prstGeom prst="rect">
            <a:avLst/>
          </a:prstGeom>
          <a:noFill/>
          <a:ln w="0">
            <a:noFill/>
          </a:ln>
        </p:spPr>
        <p:txBody>
          <a:bodyPr wrap="square" lIns="0" tIns="0" rIns="0" bIns="0" anchor="t">
            <a:noAutofit/>
          </a:bodyPr>
          <a:lstStyle/>
          <a:p>
            <a:pPr>
              <a:defRPr sz="1725" b="1">
                <a:solidFill>
                  <a:srgbClr val="F3F4ED"/>
                </a:solidFill>
                <a:latin typeface="Arial"/>
                <a:ea typeface="Arial"/>
                <a:cs typeface="Arial"/>
              </a:defRPr>
            </a:pPr>
            <a:r>
              <a:rPr sz="1725" b="1">
                <a:solidFill>
                  <a:srgbClr val="F3F4ED"/>
                </a:solidFill>
                <a:latin typeface="Arial"/>
                <a:ea typeface="Arial"/>
                <a:cs typeface="Arial"/>
              </a:rPr>
              <a:t>Trials on a live network</a:t>
            </a:r>
          </a:p>
        </p:txBody>
      </p:sp>
      <p:sp>
        <p:nvSpPr>
          <p:cNvPr id="15" name="text-49">
            <a:extLst>
              <a:ext uri="{FF2B5EF4-FFF2-40B4-BE49-F238E27FC236}">
                <a16:creationId xmlns:a16="http://schemas.microsoft.com/office/drawing/2014/main" id="{F2400BBC-834C-4DB9-8A67-C578B0794716}"/>
              </a:ext>
            </a:extLst>
          </p:cNvPr>
          <p:cNvSpPr>
            <a:spLocks noGrp="1"/>
          </p:cNvSpPr>
          <p:nvPr/>
        </p:nvSpPr>
        <p:spPr>
          <a:xfrm>
            <a:off x="3609975" y="4181475"/>
            <a:ext cx="2190750" cy="485775"/>
          </a:xfrm>
          <a:prstGeom prst="rect">
            <a:avLst/>
          </a:prstGeom>
          <a:noFill/>
          <a:ln w="0">
            <a:noFill/>
          </a:ln>
        </p:spPr>
        <p:txBody>
          <a:bodyPr wrap="square" lIns="0" tIns="0" rIns="0" bIns="0" anchor="t">
            <a:noAutofit/>
          </a:bodyPr>
          <a:lstStyle/>
          <a:p>
            <a:pPr>
              <a:defRPr sz="1425" b="0">
                <a:solidFill>
                  <a:srgbClr val="A8BBC5"/>
                </a:solidFill>
                <a:latin typeface="Arial"/>
                <a:ea typeface="Arial"/>
                <a:cs typeface="Arial"/>
              </a:defRPr>
            </a:pPr>
            <a:r>
              <a:rPr sz="1425" b="0">
                <a:solidFill>
                  <a:srgbClr val="A8BBC5"/>
                </a:solidFill>
                <a:latin typeface="Arial"/>
                <a:ea typeface="Arial"/>
                <a:cs typeface="Arial"/>
              </a:rPr>
              <a:t>Military, academic,</a:t>
            </a:r>
          </a:p>
          <a:p>
            <a:pPr>
              <a:defRPr sz="1425" b="0">
                <a:solidFill>
                  <a:srgbClr val="A8BBC5"/>
                </a:solidFill>
                <a:latin typeface="Arial"/>
                <a:ea typeface="Arial"/>
                <a:cs typeface="Arial"/>
              </a:defRPr>
            </a:pPr>
            <a:r>
              <a:rPr sz="1425" b="0">
                <a:solidFill>
                  <a:srgbClr val="A8BBC5"/>
                </a:solidFill>
                <a:latin typeface="Arial"/>
                <a:ea typeface="Arial"/>
                <a:cs typeface="Arial"/>
              </a:rPr>
              <a:t>commercial trials</a:t>
            </a:r>
          </a:p>
        </p:txBody>
      </p:sp>
      <p:sp>
        <p:nvSpPr>
          <p:cNvPr id="16" name="diagram-50">
            <a:extLst>
              <a:ext uri="{FF2B5EF4-FFF2-40B4-BE49-F238E27FC236}">
                <a16:creationId xmlns:a16="http://schemas.microsoft.com/office/drawing/2014/main" id="{59FFAC09-9D0D-4C9D-AE2D-42DC89CD7B26}"/>
              </a:ext>
            </a:extLst>
          </p:cNvPr>
          <p:cNvSpPr>
            <a:spLocks noGrp="1"/>
          </p:cNvSpPr>
          <p:nvPr/>
        </p:nvSpPr>
        <p:spPr>
          <a:xfrm>
            <a:off x="6267450" y="2266950"/>
            <a:ext cx="2486025" cy="2476500"/>
          </a:xfrm>
          <a:prstGeom prst="rect">
            <a:avLst/>
          </a:prstGeom>
          <a:solidFill>
            <a:srgbClr val="112A35"/>
          </a:solidFill>
          <a:ln w="9525">
            <a:solidFill>
              <a:srgbClr val="29414D"/>
            </a:solidFill>
          </a:ln>
        </p:spPr>
        <p:txBody>
          <a:bodyPr/>
          <a:lstStyle/>
          <a:p>
            <a:endParaRPr lang="zh-CN" altLang="en-US"/>
          </a:p>
        </p:txBody>
      </p:sp>
      <p:sp>
        <p:nvSpPr>
          <p:cNvPr id="17" name="text-51">
            <a:extLst>
              <a:ext uri="{FF2B5EF4-FFF2-40B4-BE49-F238E27FC236}">
                <a16:creationId xmlns:a16="http://schemas.microsoft.com/office/drawing/2014/main" id="{492AC25C-A7E2-4372-B000-FAA8F9F2D4C3}"/>
              </a:ext>
            </a:extLst>
          </p:cNvPr>
          <p:cNvSpPr>
            <a:spLocks noGrp="1"/>
          </p:cNvSpPr>
          <p:nvPr/>
        </p:nvSpPr>
        <p:spPr>
          <a:xfrm>
            <a:off x="6438900" y="2476500"/>
            <a:ext cx="2143125" cy="304800"/>
          </a:xfrm>
          <a:prstGeom prst="rect">
            <a:avLst/>
          </a:prstGeom>
          <a:noFill/>
          <a:ln w="0">
            <a:noFill/>
          </a:ln>
        </p:spPr>
        <p:txBody>
          <a:bodyPr wrap="square" lIns="0" tIns="0" rIns="0" bIns="0" anchor="t">
            <a:noAutofit/>
          </a:bodyPr>
          <a:lstStyle/>
          <a:p>
            <a:pPr>
              <a:defRPr sz="1500" b="1">
                <a:solidFill>
                  <a:srgbClr val="6EDFC3"/>
                </a:solidFill>
                <a:latin typeface="Arial"/>
                <a:ea typeface="Arial"/>
                <a:cs typeface="Arial"/>
              </a:defRPr>
            </a:pPr>
            <a:r>
              <a:rPr sz="1500" b="1">
                <a:solidFill>
                  <a:srgbClr val="6EDFC3"/>
                </a:solidFill>
                <a:latin typeface="Arial"/>
                <a:ea typeface="Arial"/>
                <a:cs typeface="Arial"/>
              </a:rPr>
              <a:t>SCALING</a:t>
            </a:r>
          </a:p>
        </p:txBody>
      </p:sp>
      <p:sp>
        <p:nvSpPr>
          <p:cNvPr id="18" name="text-52">
            <a:extLst>
              <a:ext uri="{FF2B5EF4-FFF2-40B4-BE49-F238E27FC236}">
                <a16:creationId xmlns:a16="http://schemas.microsoft.com/office/drawing/2014/main" id="{6260F049-7881-40A5-9508-373268427949}"/>
              </a:ext>
            </a:extLst>
          </p:cNvPr>
          <p:cNvSpPr>
            <a:spLocks noGrp="1"/>
          </p:cNvSpPr>
          <p:nvPr/>
        </p:nvSpPr>
        <p:spPr>
          <a:xfrm>
            <a:off x="6438900" y="2962275"/>
            <a:ext cx="2190750" cy="400050"/>
          </a:xfrm>
          <a:prstGeom prst="rect">
            <a:avLst/>
          </a:prstGeom>
          <a:noFill/>
          <a:ln w="0">
            <a:noFill/>
          </a:ln>
        </p:spPr>
        <p:txBody>
          <a:bodyPr wrap="square" lIns="0" tIns="0" rIns="0" bIns="0" anchor="t">
            <a:noAutofit/>
          </a:bodyPr>
          <a:lstStyle/>
          <a:p>
            <a:pPr>
              <a:defRPr sz="2175" b="1">
                <a:solidFill>
                  <a:srgbClr val="F3F4ED"/>
                </a:solidFill>
                <a:latin typeface="Arial"/>
                <a:ea typeface="Arial"/>
                <a:cs typeface="Arial"/>
              </a:defRPr>
            </a:pPr>
            <a:r>
              <a:rPr sz="2175" b="1">
                <a:solidFill>
                  <a:srgbClr val="F3F4ED"/>
                </a:solidFill>
                <a:latin typeface="Arial"/>
                <a:ea typeface="Arial"/>
                <a:cs typeface="Arial"/>
              </a:rPr>
              <a:t>23 May 2016</a:t>
            </a:r>
          </a:p>
        </p:txBody>
      </p:sp>
      <p:sp>
        <p:nvSpPr>
          <p:cNvPr id="19" name="text-53">
            <a:extLst>
              <a:ext uri="{FF2B5EF4-FFF2-40B4-BE49-F238E27FC236}">
                <a16:creationId xmlns:a16="http://schemas.microsoft.com/office/drawing/2014/main" id="{2467F894-42A6-4E4A-814A-5387F4B4BC56}"/>
              </a:ext>
            </a:extLst>
          </p:cNvPr>
          <p:cNvSpPr>
            <a:spLocks noGrp="1"/>
          </p:cNvSpPr>
          <p:nvPr/>
        </p:nvSpPr>
        <p:spPr>
          <a:xfrm>
            <a:off x="6438900" y="3562350"/>
            <a:ext cx="2190750" cy="628650"/>
          </a:xfrm>
          <a:prstGeom prst="rect">
            <a:avLst/>
          </a:prstGeom>
          <a:noFill/>
          <a:ln w="0">
            <a:noFill/>
          </a:ln>
        </p:spPr>
        <p:txBody>
          <a:bodyPr wrap="square" lIns="0" tIns="0" rIns="0" bIns="0" anchor="t">
            <a:noAutofit/>
          </a:bodyPr>
          <a:lstStyle/>
          <a:p>
            <a:pPr>
              <a:defRPr sz="1725" b="1">
                <a:solidFill>
                  <a:srgbClr val="F3F4ED"/>
                </a:solidFill>
                <a:latin typeface="Arial"/>
                <a:ea typeface="Arial"/>
                <a:cs typeface="Arial"/>
              </a:defRPr>
            </a:pPr>
            <a:r>
              <a:rPr sz="1725" b="1">
                <a:solidFill>
                  <a:srgbClr val="F3F4ED"/>
                </a:solidFill>
                <a:latin typeface="Arial"/>
                <a:ea typeface="Arial"/>
                <a:cs typeface="Arial"/>
              </a:rPr>
              <a:t>Commercial service</a:t>
            </a:r>
          </a:p>
        </p:txBody>
      </p:sp>
      <p:sp>
        <p:nvSpPr>
          <p:cNvPr id="20" name="text-54">
            <a:extLst>
              <a:ext uri="{FF2B5EF4-FFF2-40B4-BE49-F238E27FC236}">
                <a16:creationId xmlns:a16="http://schemas.microsoft.com/office/drawing/2014/main" id="{E4C38AA2-C4DC-4B78-8B50-3F01A1CAFE70}"/>
              </a:ext>
            </a:extLst>
          </p:cNvPr>
          <p:cNvSpPr>
            <a:spLocks noGrp="1"/>
          </p:cNvSpPr>
          <p:nvPr/>
        </p:nvSpPr>
        <p:spPr>
          <a:xfrm>
            <a:off x="6438900" y="4181475"/>
            <a:ext cx="2190750" cy="485775"/>
          </a:xfrm>
          <a:prstGeom prst="rect">
            <a:avLst/>
          </a:prstGeom>
          <a:noFill/>
          <a:ln w="0">
            <a:noFill/>
          </a:ln>
        </p:spPr>
        <p:txBody>
          <a:bodyPr wrap="square" lIns="0" tIns="0" rIns="0" bIns="0" anchor="t">
            <a:noAutofit/>
          </a:bodyPr>
          <a:lstStyle/>
          <a:p>
            <a:pPr>
              <a:defRPr sz="1425" b="0">
                <a:solidFill>
                  <a:srgbClr val="A8BBC5"/>
                </a:solidFill>
                <a:latin typeface="Arial"/>
                <a:ea typeface="Arial"/>
                <a:cs typeface="Arial"/>
              </a:defRPr>
            </a:pPr>
            <a:r>
              <a:rPr sz="1425" b="0">
                <a:solidFill>
                  <a:srgbClr val="A8BBC5"/>
                </a:solidFill>
                <a:latin typeface="Arial"/>
                <a:ea typeface="Arial"/>
                <a:cs typeface="Arial"/>
              </a:rPr>
              <a:t>Partner receivers</a:t>
            </a:r>
          </a:p>
          <a:p>
            <a:pPr>
              <a:defRPr sz="1425" b="0">
                <a:solidFill>
                  <a:srgbClr val="A8BBC5"/>
                </a:solidFill>
                <a:latin typeface="Arial"/>
                <a:ea typeface="Arial"/>
                <a:cs typeface="Arial"/>
              </a:defRPr>
            </a:pPr>
            <a:r>
              <a:rPr sz="1425" b="0">
                <a:solidFill>
                  <a:srgbClr val="A8BBC5"/>
                </a:solidFill>
                <a:latin typeface="Arial"/>
                <a:ea typeface="Arial"/>
                <a:cs typeface="Arial"/>
              </a:rPr>
              <a:t>NEXT upgrade, 2017–19</a:t>
            </a:r>
          </a:p>
        </p:txBody>
      </p:sp>
      <p:sp>
        <p:nvSpPr>
          <p:cNvPr id="21" name="diagram-55">
            <a:extLst>
              <a:ext uri="{FF2B5EF4-FFF2-40B4-BE49-F238E27FC236}">
                <a16:creationId xmlns:a16="http://schemas.microsoft.com/office/drawing/2014/main" id="{3CF84D99-45B4-4E68-B399-518EE87A397B}"/>
              </a:ext>
            </a:extLst>
          </p:cNvPr>
          <p:cNvSpPr>
            <a:spLocks noGrp="1"/>
          </p:cNvSpPr>
          <p:nvPr/>
        </p:nvSpPr>
        <p:spPr>
          <a:xfrm>
            <a:off x="9096375" y="2266950"/>
            <a:ext cx="2486025" cy="2476500"/>
          </a:xfrm>
          <a:prstGeom prst="rect">
            <a:avLst/>
          </a:prstGeom>
          <a:solidFill>
            <a:srgbClr val="173D42"/>
          </a:solidFill>
          <a:ln w="9525">
            <a:solidFill>
              <a:srgbClr val="29414D"/>
            </a:solidFill>
          </a:ln>
        </p:spPr>
        <p:txBody>
          <a:bodyPr/>
          <a:lstStyle/>
          <a:p>
            <a:endParaRPr lang="zh-CN" altLang="en-US"/>
          </a:p>
        </p:txBody>
      </p:sp>
      <p:sp>
        <p:nvSpPr>
          <p:cNvPr id="22" name="text-56">
            <a:extLst>
              <a:ext uri="{FF2B5EF4-FFF2-40B4-BE49-F238E27FC236}">
                <a16:creationId xmlns:a16="http://schemas.microsoft.com/office/drawing/2014/main" id="{2A0EE49A-0693-4715-8468-8840E82B9A06}"/>
              </a:ext>
            </a:extLst>
          </p:cNvPr>
          <p:cNvSpPr>
            <a:spLocks noGrp="1"/>
          </p:cNvSpPr>
          <p:nvPr/>
        </p:nvSpPr>
        <p:spPr>
          <a:xfrm>
            <a:off x="9267825" y="2476500"/>
            <a:ext cx="2143125" cy="304800"/>
          </a:xfrm>
          <a:prstGeom prst="rect">
            <a:avLst/>
          </a:prstGeom>
          <a:noFill/>
          <a:ln w="0">
            <a:noFill/>
          </a:ln>
        </p:spPr>
        <p:txBody>
          <a:bodyPr wrap="square" lIns="0" tIns="0" rIns="0" bIns="0" anchor="t">
            <a:noAutofit/>
          </a:bodyPr>
          <a:lstStyle/>
          <a:p>
            <a:pPr>
              <a:defRPr sz="1500" b="1">
                <a:solidFill>
                  <a:srgbClr val="6EDFC3"/>
                </a:solidFill>
                <a:latin typeface="Arial"/>
                <a:ea typeface="Arial"/>
                <a:cs typeface="Arial"/>
              </a:defRPr>
            </a:pPr>
            <a:r>
              <a:rPr sz="1500" b="1">
                <a:solidFill>
                  <a:srgbClr val="6EDFC3"/>
                </a:solidFill>
                <a:latin typeface="Arial"/>
                <a:ea typeface="Arial"/>
                <a:cs typeface="Arial"/>
              </a:rPr>
              <a:t>PLATFORM</a:t>
            </a:r>
          </a:p>
        </p:txBody>
      </p:sp>
      <p:sp>
        <p:nvSpPr>
          <p:cNvPr id="23" name="text-57">
            <a:extLst>
              <a:ext uri="{FF2B5EF4-FFF2-40B4-BE49-F238E27FC236}">
                <a16:creationId xmlns:a16="http://schemas.microsoft.com/office/drawing/2014/main" id="{16A4D637-A18D-4C40-B3BB-1E2FFBCB61DC}"/>
              </a:ext>
            </a:extLst>
          </p:cNvPr>
          <p:cNvSpPr>
            <a:spLocks noGrp="1"/>
          </p:cNvSpPr>
          <p:nvPr/>
        </p:nvSpPr>
        <p:spPr>
          <a:xfrm>
            <a:off x="9267825" y="2962275"/>
            <a:ext cx="2190750" cy="400050"/>
          </a:xfrm>
          <a:prstGeom prst="rect">
            <a:avLst/>
          </a:prstGeom>
          <a:noFill/>
          <a:ln w="0">
            <a:noFill/>
          </a:ln>
        </p:spPr>
        <p:txBody>
          <a:bodyPr wrap="square" lIns="0" tIns="0" rIns="0" bIns="0" anchor="t">
            <a:noAutofit/>
          </a:bodyPr>
          <a:lstStyle/>
          <a:p>
            <a:pPr>
              <a:defRPr sz="2175" b="1">
                <a:solidFill>
                  <a:srgbClr val="F3F4ED"/>
                </a:solidFill>
                <a:latin typeface="Arial"/>
                <a:ea typeface="Arial"/>
                <a:cs typeface="Arial"/>
              </a:defRPr>
            </a:pPr>
            <a:r>
              <a:rPr sz="2175" b="1">
                <a:solidFill>
                  <a:srgbClr val="F3F4ED"/>
                </a:solidFill>
                <a:latin typeface="Arial"/>
                <a:ea typeface="Arial"/>
                <a:cs typeface="Arial"/>
              </a:rPr>
              <a:t>2 Apr 2024</a:t>
            </a:r>
          </a:p>
        </p:txBody>
      </p:sp>
      <p:sp>
        <p:nvSpPr>
          <p:cNvPr id="24" name="text-58">
            <a:extLst>
              <a:ext uri="{FF2B5EF4-FFF2-40B4-BE49-F238E27FC236}">
                <a16:creationId xmlns:a16="http://schemas.microsoft.com/office/drawing/2014/main" id="{F3ACCDE5-D438-4ADC-AB42-A1AE58838262}"/>
              </a:ext>
            </a:extLst>
          </p:cNvPr>
          <p:cNvSpPr>
            <a:spLocks noGrp="1"/>
          </p:cNvSpPr>
          <p:nvPr/>
        </p:nvSpPr>
        <p:spPr>
          <a:xfrm>
            <a:off x="9267825" y="3562350"/>
            <a:ext cx="2190750" cy="628650"/>
          </a:xfrm>
          <a:prstGeom prst="rect">
            <a:avLst/>
          </a:prstGeom>
          <a:noFill/>
          <a:ln w="0">
            <a:noFill/>
          </a:ln>
        </p:spPr>
        <p:txBody>
          <a:bodyPr wrap="square" lIns="0" tIns="0" rIns="0" bIns="0" anchor="t">
            <a:noAutofit/>
          </a:bodyPr>
          <a:lstStyle/>
          <a:p>
            <a:pPr>
              <a:defRPr sz="1725" b="1">
                <a:solidFill>
                  <a:srgbClr val="F3F4ED"/>
                </a:solidFill>
                <a:latin typeface="Arial"/>
                <a:ea typeface="Arial"/>
                <a:cs typeface="Arial"/>
              </a:defRPr>
            </a:pPr>
            <a:r>
              <a:rPr sz="1725" b="1">
                <a:solidFill>
                  <a:srgbClr val="F3F4ED"/>
                </a:solidFill>
                <a:latin typeface="Arial"/>
                <a:ea typeface="Arial"/>
                <a:cs typeface="Arial"/>
              </a:rPr>
              <a:t>Iridium buys Satelles</a:t>
            </a:r>
          </a:p>
        </p:txBody>
      </p:sp>
      <p:sp>
        <p:nvSpPr>
          <p:cNvPr id="25" name="text-59">
            <a:extLst>
              <a:ext uri="{FF2B5EF4-FFF2-40B4-BE49-F238E27FC236}">
                <a16:creationId xmlns:a16="http://schemas.microsoft.com/office/drawing/2014/main" id="{814C2061-854E-47C3-9611-604AB1FBA811}"/>
              </a:ext>
            </a:extLst>
          </p:cNvPr>
          <p:cNvSpPr>
            <a:spLocks noGrp="1"/>
          </p:cNvSpPr>
          <p:nvPr/>
        </p:nvSpPr>
        <p:spPr>
          <a:xfrm>
            <a:off x="9267825" y="4181475"/>
            <a:ext cx="2190750" cy="485775"/>
          </a:xfrm>
          <a:prstGeom prst="rect">
            <a:avLst/>
          </a:prstGeom>
          <a:noFill/>
          <a:ln w="0">
            <a:noFill/>
          </a:ln>
        </p:spPr>
        <p:txBody>
          <a:bodyPr wrap="square" lIns="0" tIns="0" rIns="0" bIns="0" anchor="t">
            <a:noAutofit/>
          </a:bodyPr>
          <a:lstStyle/>
          <a:p>
            <a:pPr>
              <a:defRPr sz="1425" b="0">
                <a:solidFill>
                  <a:srgbClr val="A8BBC5"/>
                </a:solidFill>
                <a:latin typeface="Arial"/>
                <a:ea typeface="Arial"/>
                <a:cs typeface="Arial"/>
              </a:defRPr>
            </a:pPr>
            <a:r>
              <a:rPr sz="1425" b="0">
                <a:solidFill>
                  <a:srgbClr val="A8BBC5"/>
                </a:solidFill>
                <a:latin typeface="Arial"/>
                <a:ea typeface="Arial"/>
                <a:cs typeface="Arial"/>
              </a:rPr>
              <a:t>STL joins the operator’s</a:t>
            </a:r>
          </a:p>
          <a:p>
            <a:pPr>
              <a:defRPr sz="1425" b="0">
                <a:solidFill>
                  <a:srgbClr val="A8BBC5"/>
                </a:solidFill>
                <a:latin typeface="Arial"/>
                <a:ea typeface="Arial"/>
                <a:cs typeface="Arial"/>
              </a:defRPr>
            </a:pPr>
            <a:r>
              <a:rPr sz="1425" b="0">
                <a:solidFill>
                  <a:srgbClr val="A8BBC5"/>
                </a:solidFill>
                <a:latin typeface="Arial"/>
                <a:ea typeface="Arial"/>
                <a:cs typeface="Arial"/>
              </a:rPr>
              <a:t>own product portfolio</a:t>
            </a:r>
          </a:p>
        </p:txBody>
      </p:sp>
      <p:sp>
        <p:nvSpPr>
          <p:cNvPr id="29" name="text-60">
            <a:extLst>
              <a:ext uri="{FF2B5EF4-FFF2-40B4-BE49-F238E27FC236}">
                <a16:creationId xmlns:a16="http://schemas.microsoft.com/office/drawing/2014/main" id="{A6CE8D0F-ED1F-4F74-9644-8A3FC709ADA4}"/>
              </a:ext>
            </a:extLst>
          </p:cNvPr>
          <p:cNvSpPr>
            <a:spLocks noGrp="1"/>
          </p:cNvSpPr>
          <p:nvPr/>
        </p:nvSpPr>
        <p:spPr>
          <a:xfrm>
            <a:off x="609600" y="5172075"/>
            <a:ext cx="2190750" cy="276225"/>
          </a:xfrm>
          <a:prstGeom prst="rect">
            <a:avLst/>
          </a:prstGeom>
          <a:noFill/>
          <a:ln w="0">
            <a:noFill/>
          </a:ln>
        </p:spPr>
        <p:txBody>
          <a:bodyPr wrap="square" lIns="0" tIns="0" rIns="0" bIns="0" anchor="t">
            <a:noAutofit/>
          </a:bodyPr>
          <a:lstStyle/>
          <a:p>
            <a:pPr>
              <a:defRPr sz="1425" b="1">
                <a:solidFill>
                  <a:srgbClr val="E7B77D"/>
                </a:solidFill>
                <a:latin typeface="Arial"/>
                <a:ea typeface="Arial"/>
                <a:cs typeface="Arial"/>
              </a:defRPr>
            </a:pPr>
            <a:r>
              <a:rPr sz="1425" b="1">
                <a:solidFill>
                  <a:srgbClr val="E7B77D"/>
                </a:solidFill>
                <a:latin typeface="Arial"/>
                <a:ea typeface="Arial"/>
                <a:cs typeface="Arial"/>
              </a:rPr>
              <a:t>HOST NETWORK</a:t>
            </a:r>
          </a:p>
        </p:txBody>
      </p:sp>
      <p:sp>
        <p:nvSpPr>
          <p:cNvPr id="30" name="text-61">
            <a:extLst>
              <a:ext uri="{FF2B5EF4-FFF2-40B4-BE49-F238E27FC236}">
                <a16:creationId xmlns:a16="http://schemas.microsoft.com/office/drawing/2014/main" id="{85D0E7C1-F60D-450A-891D-3BB4FBAD5661}"/>
              </a:ext>
            </a:extLst>
          </p:cNvPr>
          <p:cNvSpPr>
            <a:spLocks noGrp="1"/>
          </p:cNvSpPr>
          <p:nvPr/>
        </p:nvSpPr>
        <p:spPr>
          <a:xfrm>
            <a:off x="2781300" y="5143500"/>
            <a:ext cx="8782050" cy="333375"/>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1987 concept    /    1998 service    /    1999 bankruptcy    /    2000 DoD anchor contract</a:t>
            </a:r>
          </a:p>
        </p:txBody>
      </p:sp>
      <p:sp>
        <p:nvSpPr>
          <p:cNvPr id="31" name="text-62">
            <a:extLst>
              <a:ext uri="{FF2B5EF4-FFF2-40B4-BE49-F238E27FC236}">
                <a16:creationId xmlns:a16="http://schemas.microsoft.com/office/drawing/2014/main" id="{F8FB2055-4D21-4338-B743-22CE454DDB6D}"/>
              </a:ext>
            </a:extLst>
          </p:cNvPr>
          <p:cNvSpPr>
            <a:spLocks noGrp="1"/>
          </p:cNvSpPr>
          <p:nvPr/>
        </p:nvSpPr>
        <p:spPr>
          <a:xfrm>
            <a:off x="609600" y="5734050"/>
            <a:ext cx="10934700" cy="390525"/>
          </a:xfrm>
          <a:prstGeom prst="rect">
            <a:avLst/>
          </a:prstGeom>
          <a:noFill/>
          <a:ln w="0">
            <a:noFill/>
          </a:ln>
        </p:spPr>
        <p:txBody>
          <a:bodyPr wrap="square" lIns="0" tIns="0" rIns="0" bIns="0" anchor="t">
            <a:noAutofit/>
          </a:bodyPr>
          <a:lstStyle/>
          <a:p>
            <a:pPr>
              <a:defRPr sz="1575" b="0">
                <a:solidFill>
                  <a:srgbClr val="F3F4ED"/>
                </a:solidFill>
                <a:latin typeface="Arial"/>
                <a:ea typeface="Arial"/>
                <a:cs typeface="Arial"/>
              </a:defRPr>
            </a:pPr>
            <a:r>
              <a:rPr sz="1575" b="0">
                <a:solidFill>
                  <a:srgbClr val="F3F4ED"/>
                </a:solidFill>
                <a:latin typeface="Arial"/>
                <a:ea typeface="Arial"/>
                <a:cs typeface="Arial"/>
              </a:rPr>
              <a:t>GPS remains the main PNT platform. The acquisition marks integration, not proof of market dominance.</a:t>
            </a:r>
          </a:p>
        </p:txBody>
      </p:sp>
    </p:spTree>
    <p:extLst>
      <p:ext uri="{BB962C8B-B14F-4D97-AF65-F5344CB8AC3E}">
        <p14:creationId xmlns:p14="http://schemas.microsoft.com/office/powerpoint/2010/main" val="119197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12" name="text-63">
            <a:extLst>
              <a:ext uri="{FF2B5EF4-FFF2-40B4-BE49-F238E27FC236}">
                <a16:creationId xmlns:a16="http://schemas.microsoft.com/office/drawing/2014/main" id="{A64DDD7E-2ADA-4CDC-81C3-99DA7756C69E}"/>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Inspiration</a:t>
            </a:r>
          </a:p>
        </p:txBody>
      </p:sp>
      <p:sp>
        <p:nvSpPr>
          <p:cNvPr id="2" name="text-64">
            <a:extLst>
              <a:ext uri="{FF2B5EF4-FFF2-40B4-BE49-F238E27FC236}">
                <a16:creationId xmlns:a16="http://schemas.microsoft.com/office/drawing/2014/main" id="{12761FC3-C066-43CD-ABA0-3541777A90AF}"/>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3  /  Military demand, market demand, or another origin?</a:t>
            </a:r>
          </a:p>
        </p:txBody>
      </p:sp>
      <p:sp>
        <p:nvSpPr>
          <p:cNvPr id="3" name="rule-65">
            <a:extLst>
              <a:ext uri="{FF2B5EF4-FFF2-40B4-BE49-F238E27FC236}">
                <a16:creationId xmlns:a16="http://schemas.microsoft.com/office/drawing/2014/main" id="{48EA4385-7C67-42E0-99C0-755A98AD7524}"/>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66">
            <a:extLst>
              <a:ext uri="{FF2B5EF4-FFF2-40B4-BE49-F238E27FC236}">
                <a16:creationId xmlns:a16="http://schemas.microsoft.com/office/drawing/2014/main" id="{E1567C08-4430-4F04-892C-2088A947DE61}"/>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Inspiration   /   Zhou / Li / Miao   /   28 Sep 2026</a:t>
            </a:r>
          </a:p>
        </p:txBody>
      </p:sp>
      <p:sp>
        <p:nvSpPr>
          <p:cNvPr id="5" name="text-67">
            <a:extLst>
              <a:ext uri="{FF2B5EF4-FFF2-40B4-BE49-F238E27FC236}">
                <a16:creationId xmlns:a16="http://schemas.microsoft.com/office/drawing/2014/main" id="{C40ADC73-659F-41FC-AF52-B25A2E918ED1}"/>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05</a:t>
            </a:r>
          </a:p>
        </p:txBody>
      </p:sp>
      <p:sp>
        <p:nvSpPr>
          <p:cNvPr id="6" name="text-68">
            <a:extLst>
              <a:ext uri="{FF2B5EF4-FFF2-40B4-BE49-F238E27FC236}">
                <a16:creationId xmlns:a16="http://schemas.microsoft.com/office/drawing/2014/main" id="{A3388673-1F63-4084-83CA-3BEF8318CB41}"/>
              </a:ext>
            </a:extLst>
          </p:cNvPr>
          <p:cNvSpPr>
            <a:spLocks noGrp="1"/>
          </p:cNvSpPr>
          <p:nvPr/>
        </p:nvSpPr>
        <p:spPr>
          <a:xfrm>
            <a:off x="609600" y="1924050"/>
            <a:ext cx="10763250" cy="781050"/>
          </a:xfrm>
          <a:prstGeom prst="rect">
            <a:avLst/>
          </a:prstGeom>
          <a:noFill/>
          <a:ln w="0">
            <a:noFill/>
          </a:ln>
        </p:spPr>
        <p:txBody>
          <a:bodyPr wrap="square" lIns="0" tIns="0" rIns="0" bIns="0" anchor="t">
            <a:noAutofit/>
          </a:bodyPr>
          <a:lstStyle/>
          <a:p>
            <a:pPr>
              <a:defRPr sz="4500" b="1">
                <a:solidFill>
                  <a:srgbClr val="6EDFC3"/>
                </a:solidFill>
                <a:latin typeface="Arial"/>
                <a:ea typeface="Arial"/>
                <a:cs typeface="Arial"/>
              </a:defRPr>
            </a:pPr>
            <a:r>
              <a:rPr sz="4500" b="1">
                <a:solidFill>
                  <a:srgbClr val="6EDFC3"/>
                </a:solidFill>
                <a:latin typeface="Arial"/>
                <a:ea typeface="Arial"/>
                <a:cs typeface="Arial"/>
              </a:rPr>
              <a:t>Military + market</a:t>
            </a:r>
          </a:p>
        </p:txBody>
      </p:sp>
      <p:sp>
        <p:nvSpPr>
          <p:cNvPr id="7" name="text-69">
            <a:extLst>
              <a:ext uri="{FF2B5EF4-FFF2-40B4-BE49-F238E27FC236}">
                <a16:creationId xmlns:a16="http://schemas.microsoft.com/office/drawing/2014/main" id="{B3CDFDD4-7CEB-4AB5-AF63-E838062D69B1}"/>
              </a:ext>
            </a:extLst>
          </p:cNvPr>
          <p:cNvSpPr>
            <a:spLocks noGrp="1"/>
          </p:cNvSpPr>
          <p:nvPr/>
        </p:nvSpPr>
        <p:spPr>
          <a:xfrm>
            <a:off x="609600" y="3181350"/>
            <a:ext cx="5019675" cy="457200"/>
          </a:xfrm>
          <a:prstGeom prst="rect">
            <a:avLst/>
          </a:prstGeom>
          <a:noFill/>
          <a:ln w="0">
            <a:noFill/>
          </a:ln>
        </p:spPr>
        <p:txBody>
          <a:bodyPr wrap="square" lIns="0" tIns="0" rIns="0" bIns="0" anchor="t">
            <a:noAutofit/>
          </a:bodyPr>
          <a:lstStyle/>
          <a:p>
            <a:pPr>
              <a:defRPr sz="2325" b="1">
                <a:solidFill>
                  <a:srgbClr val="F3F4ED"/>
                </a:solidFill>
                <a:latin typeface="Arial"/>
                <a:ea typeface="Arial"/>
                <a:cs typeface="Arial"/>
              </a:defRPr>
            </a:pPr>
            <a:r>
              <a:rPr sz="2325" b="1">
                <a:solidFill>
                  <a:srgbClr val="F3F4ED"/>
                </a:solidFill>
                <a:latin typeface="Arial"/>
                <a:ea typeface="Arial"/>
                <a:cs typeface="Arial"/>
              </a:rPr>
              <a:t>Market demand</a:t>
            </a:r>
          </a:p>
        </p:txBody>
      </p:sp>
      <p:sp>
        <p:nvSpPr>
          <p:cNvPr id="8" name="text-70">
            <a:extLst>
              <a:ext uri="{FF2B5EF4-FFF2-40B4-BE49-F238E27FC236}">
                <a16:creationId xmlns:a16="http://schemas.microsoft.com/office/drawing/2014/main" id="{289BE185-64FE-480A-9D98-9F20E9AEB585}"/>
              </a:ext>
            </a:extLst>
          </p:cNvPr>
          <p:cNvSpPr>
            <a:spLocks noGrp="1"/>
          </p:cNvSpPr>
          <p:nvPr/>
        </p:nvSpPr>
        <p:spPr>
          <a:xfrm>
            <a:off x="609600" y="3819525"/>
            <a:ext cx="5172075" cy="1057275"/>
          </a:xfrm>
          <a:prstGeom prst="rect">
            <a:avLst/>
          </a:prstGeom>
          <a:noFill/>
          <a:ln w="0">
            <a:noFill/>
          </a:ln>
        </p:spPr>
        <p:txBody>
          <a:bodyPr wrap="square" lIns="0" tIns="0" rIns="0" bIns="0" anchor="t">
            <a:noAutofit/>
          </a:bodyPr>
          <a:lstStyle/>
          <a:p>
            <a:pPr>
              <a:defRPr sz="2100" b="0">
                <a:solidFill>
                  <a:srgbClr val="A8BBC5"/>
                </a:solidFill>
                <a:latin typeface="Arial"/>
                <a:ea typeface="Arial"/>
                <a:cs typeface="Arial"/>
              </a:defRPr>
            </a:pPr>
            <a:r>
              <a:rPr sz="2100" b="0">
                <a:solidFill>
                  <a:srgbClr val="A8BBC5"/>
                </a:solidFill>
                <a:latin typeface="Arial"/>
                <a:ea typeface="Arial"/>
                <a:cs typeface="Arial"/>
              </a:rPr>
              <a:t>Infrastructure needed dependable time</a:t>
            </a:r>
          </a:p>
          <a:p>
            <a:pPr>
              <a:defRPr sz="2100" b="0">
                <a:solidFill>
                  <a:srgbClr val="A8BBC5"/>
                </a:solidFill>
                <a:latin typeface="Arial"/>
                <a:ea typeface="Arial"/>
                <a:cs typeface="Arial"/>
              </a:defRPr>
            </a:pPr>
            <a:r>
              <a:rPr sz="2100" b="0">
                <a:solidFill>
                  <a:srgbClr val="A8BBC5"/>
                </a:solidFill>
                <a:latin typeface="Arial"/>
                <a:ea typeface="Arial"/>
                <a:cs typeface="Arial"/>
              </a:rPr>
              <a:t>inside buildings and during GPS outages.</a:t>
            </a:r>
          </a:p>
        </p:txBody>
      </p:sp>
      <p:sp>
        <p:nvSpPr>
          <p:cNvPr id="9" name="text-71">
            <a:extLst>
              <a:ext uri="{FF2B5EF4-FFF2-40B4-BE49-F238E27FC236}">
                <a16:creationId xmlns:a16="http://schemas.microsoft.com/office/drawing/2014/main" id="{4EA87564-9E43-465F-8A88-AB9B8A2989B6}"/>
              </a:ext>
            </a:extLst>
          </p:cNvPr>
          <p:cNvSpPr>
            <a:spLocks noGrp="1"/>
          </p:cNvSpPr>
          <p:nvPr/>
        </p:nvSpPr>
        <p:spPr>
          <a:xfrm>
            <a:off x="6619875" y="3181350"/>
            <a:ext cx="4962525" cy="457200"/>
          </a:xfrm>
          <a:prstGeom prst="rect">
            <a:avLst/>
          </a:prstGeom>
          <a:noFill/>
          <a:ln w="0">
            <a:noFill/>
          </a:ln>
        </p:spPr>
        <p:txBody>
          <a:bodyPr wrap="square" lIns="0" tIns="0" rIns="0" bIns="0" anchor="t">
            <a:noAutofit/>
          </a:bodyPr>
          <a:lstStyle/>
          <a:p>
            <a:pPr>
              <a:defRPr sz="2325" b="1">
                <a:solidFill>
                  <a:srgbClr val="F3F4ED"/>
                </a:solidFill>
                <a:latin typeface="Arial"/>
                <a:ea typeface="Arial"/>
                <a:cs typeface="Arial"/>
              </a:defRPr>
            </a:pPr>
            <a:r>
              <a:rPr sz="2325" b="1">
                <a:solidFill>
                  <a:srgbClr val="F3F4ED"/>
                </a:solidFill>
                <a:latin typeface="Arial"/>
                <a:ea typeface="Arial"/>
                <a:cs typeface="Arial"/>
              </a:rPr>
              <a:t>Security demand</a:t>
            </a:r>
          </a:p>
        </p:txBody>
      </p:sp>
      <p:sp>
        <p:nvSpPr>
          <p:cNvPr id="10" name="text-72">
            <a:extLst>
              <a:ext uri="{FF2B5EF4-FFF2-40B4-BE49-F238E27FC236}">
                <a16:creationId xmlns:a16="http://schemas.microsoft.com/office/drawing/2014/main" id="{803622DB-09B7-4D2F-8695-2F260180F9E8}"/>
              </a:ext>
            </a:extLst>
          </p:cNvPr>
          <p:cNvSpPr>
            <a:spLocks noGrp="1"/>
          </p:cNvSpPr>
          <p:nvPr/>
        </p:nvSpPr>
        <p:spPr>
          <a:xfrm>
            <a:off x="6619875" y="3819525"/>
            <a:ext cx="4962525" cy="1057275"/>
          </a:xfrm>
          <a:prstGeom prst="rect">
            <a:avLst/>
          </a:prstGeom>
          <a:noFill/>
          <a:ln w="0">
            <a:noFill/>
          </a:ln>
        </p:spPr>
        <p:txBody>
          <a:bodyPr wrap="square" lIns="0" tIns="0" rIns="0" bIns="0" anchor="t">
            <a:noAutofit/>
          </a:bodyPr>
          <a:lstStyle/>
          <a:p>
            <a:pPr>
              <a:defRPr sz="2100" b="0">
                <a:solidFill>
                  <a:srgbClr val="A8BBC5"/>
                </a:solidFill>
                <a:latin typeface="Arial"/>
                <a:ea typeface="Arial"/>
                <a:cs typeface="Arial"/>
              </a:defRPr>
            </a:pPr>
            <a:r>
              <a:rPr sz="2100" b="0">
                <a:solidFill>
                  <a:srgbClr val="A8BBC5"/>
                </a:solidFill>
                <a:latin typeface="Arial"/>
                <a:ea typeface="Arial"/>
                <a:cs typeface="Arial"/>
              </a:rPr>
              <a:t>Jamming and spoofing created a reason</a:t>
            </a:r>
          </a:p>
          <a:p>
            <a:pPr>
              <a:defRPr sz="2100" b="0">
                <a:solidFill>
                  <a:srgbClr val="A8BBC5"/>
                </a:solidFill>
                <a:latin typeface="Arial"/>
                <a:ea typeface="Arial"/>
                <a:cs typeface="Arial"/>
              </a:defRPr>
            </a:pPr>
            <a:r>
              <a:rPr sz="2100" b="0">
                <a:solidFill>
                  <a:srgbClr val="A8BBC5"/>
                </a:solidFill>
                <a:latin typeface="Arial"/>
                <a:ea typeface="Arial"/>
                <a:cs typeface="Arial"/>
              </a:rPr>
              <a:t>to buy an independent timing source.</a:t>
            </a:r>
          </a:p>
        </p:txBody>
      </p:sp>
      <p:sp>
        <p:nvSpPr>
          <p:cNvPr id="11" name="text-73">
            <a:extLst>
              <a:ext uri="{FF2B5EF4-FFF2-40B4-BE49-F238E27FC236}">
                <a16:creationId xmlns:a16="http://schemas.microsoft.com/office/drawing/2014/main" id="{B5C3209C-E72A-4391-A23D-63D2C97CE243}"/>
              </a:ext>
            </a:extLst>
          </p:cNvPr>
          <p:cNvSpPr>
            <a:spLocks noGrp="1"/>
          </p:cNvSpPr>
          <p:nvPr/>
        </p:nvSpPr>
        <p:spPr>
          <a:xfrm>
            <a:off x="609600" y="5381625"/>
            <a:ext cx="10934700" cy="723900"/>
          </a:xfrm>
          <a:prstGeom prst="rect">
            <a:avLst/>
          </a:prstGeom>
          <a:noFill/>
          <a:ln w="0">
            <a:noFill/>
          </a:ln>
        </p:spPr>
        <p:txBody>
          <a:bodyPr wrap="square" lIns="0" tIns="0" rIns="0" bIns="0" anchor="t">
            <a:noAutofit/>
          </a:bodyPr>
          <a:lstStyle/>
          <a:p>
            <a:pPr>
              <a:defRPr sz="2400" b="0">
                <a:solidFill>
                  <a:srgbClr val="E7B77D"/>
                </a:solidFill>
                <a:latin typeface="Arial"/>
                <a:ea typeface="Arial"/>
                <a:cs typeface="Arial"/>
              </a:defRPr>
            </a:pPr>
            <a:r>
              <a:rPr sz="2400" b="0">
                <a:solidFill>
                  <a:srgbClr val="E7B77D"/>
                </a:solidFill>
                <a:latin typeface="Arial"/>
                <a:ea typeface="Arial"/>
                <a:cs typeface="Arial"/>
              </a:rPr>
              <a:t>The enabling opportunity was unused capacity on a satellite-phone network.</a:t>
            </a:r>
          </a:p>
        </p:txBody>
      </p:sp>
    </p:spTree>
    <p:extLst>
      <p:ext uri="{BB962C8B-B14F-4D97-AF65-F5344CB8AC3E}">
        <p14:creationId xmlns:p14="http://schemas.microsoft.com/office/powerpoint/2010/main" val="173310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cxnSp>
        <p:nvCxnSpPr>
          <p:cNvPr id="23" name="Connector: Elbow 22"/>
          <p:cNvCxnSpPr>
            <a:stCxn id="12" idx="3"/>
            <a:endCxn id="15" idx="1"/>
          </p:cNvCxnSpPr>
          <p:nvPr/>
        </p:nvCxnSpPr>
        <p:spPr>
          <a:xfrm flipV="1">
            <a:off x="6467475" y="3690938"/>
            <a:ext cx="1771650" cy="881063"/>
          </a:xfrm>
          <a:prstGeom prst="bentConnector3">
            <a:avLst>
              <a:gd name="adj1" fmla="val 50000"/>
            </a:avLst>
          </a:prstGeom>
          <a:ln w="19050">
            <a:solidFill>
              <a:srgbClr val="6EDFC3"/>
            </a:solidFill>
            <a:tailEnd type="triangle" w="sm" len="sm"/>
          </a:ln>
        </p:spPr>
      </p:cxnSp>
      <p:cxnSp>
        <p:nvCxnSpPr>
          <p:cNvPr id="24" name="Connector: Elbow 23"/>
          <p:cNvCxnSpPr>
            <a:stCxn id="9" idx="3"/>
            <a:endCxn id="15" idx="1"/>
          </p:cNvCxnSpPr>
          <p:nvPr/>
        </p:nvCxnSpPr>
        <p:spPr>
          <a:xfrm>
            <a:off x="6467475" y="3495675"/>
            <a:ext cx="1771650" cy="195263"/>
          </a:xfrm>
          <a:prstGeom prst="bentConnector3">
            <a:avLst>
              <a:gd name="adj1" fmla="val 50000"/>
            </a:avLst>
          </a:prstGeom>
          <a:ln w="19050">
            <a:solidFill>
              <a:srgbClr val="6EDFC3"/>
            </a:solidFill>
            <a:tailEnd type="triangle" w="sm" len="sm"/>
          </a:ln>
        </p:spPr>
      </p:cxnSp>
      <p:cxnSp>
        <p:nvCxnSpPr>
          <p:cNvPr id="25" name="Connector: Elbow 24"/>
          <p:cNvCxnSpPr>
            <a:stCxn id="6" idx="3"/>
            <a:endCxn id="15" idx="1"/>
          </p:cNvCxnSpPr>
          <p:nvPr/>
        </p:nvCxnSpPr>
        <p:spPr>
          <a:xfrm>
            <a:off x="6467475" y="2419350"/>
            <a:ext cx="1771650" cy="1271588"/>
          </a:xfrm>
          <a:prstGeom prst="bentConnector3">
            <a:avLst>
              <a:gd name="adj1" fmla="val 50000"/>
            </a:avLst>
          </a:prstGeom>
          <a:ln w="19050">
            <a:solidFill>
              <a:srgbClr val="6EDFC3"/>
            </a:solidFill>
            <a:tailEnd type="triangle" w="sm" len="sm"/>
          </a:ln>
        </p:spPr>
      </p:cxnSp>
      <p:sp>
        <p:nvSpPr>
          <p:cNvPr id="26" name="text-74">
            <a:extLst>
              <a:ext uri="{FF2B5EF4-FFF2-40B4-BE49-F238E27FC236}">
                <a16:creationId xmlns:a16="http://schemas.microsoft.com/office/drawing/2014/main" id="{D900E5E6-E794-422D-8A4F-FE703577FCB0}"/>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Recombinant design</a:t>
            </a:r>
          </a:p>
        </p:txBody>
      </p:sp>
      <p:sp>
        <p:nvSpPr>
          <p:cNvPr id="2" name="text-75">
            <a:extLst>
              <a:ext uri="{FF2B5EF4-FFF2-40B4-BE49-F238E27FC236}">
                <a16:creationId xmlns:a16="http://schemas.microsoft.com/office/drawing/2014/main" id="{363C7CC6-BACF-417C-B39E-76B804A2F6EB}"/>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4  /  Genealogy, architectural change, and differences from GPS</a:t>
            </a:r>
          </a:p>
        </p:txBody>
      </p:sp>
      <p:sp>
        <p:nvSpPr>
          <p:cNvPr id="3" name="rule-76">
            <a:extLst>
              <a:ext uri="{FF2B5EF4-FFF2-40B4-BE49-F238E27FC236}">
                <a16:creationId xmlns:a16="http://schemas.microsoft.com/office/drawing/2014/main" id="{13A22128-E394-476C-86C9-105A467841A1}"/>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77">
            <a:extLst>
              <a:ext uri="{FF2B5EF4-FFF2-40B4-BE49-F238E27FC236}">
                <a16:creationId xmlns:a16="http://schemas.microsoft.com/office/drawing/2014/main" id="{BE0EF9A2-3F77-4536-8375-6A3BFFDF72F0}"/>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Design   /   Zhou / Li / Miao   /   28 Sep 2026</a:t>
            </a:r>
          </a:p>
        </p:txBody>
      </p:sp>
      <p:sp>
        <p:nvSpPr>
          <p:cNvPr id="5" name="text-78">
            <a:extLst>
              <a:ext uri="{FF2B5EF4-FFF2-40B4-BE49-F238E27FC236}">
                <a16:creationId xmlns:a16="http://schemas.microsoft.com/office/drawing/2014/main" id="{82748E1E-58CA-471C-8DB8-82132FCEDB85}"/>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06</a:t>
            </a:r>
          </a:p>
        </p:txBody>
      </p:sp>
      <p:sp>
        <p:nvSpPr>
          <p:cNvPr id="6" name="diagram-79">
            <a:extLst>
              <a:ext uri="{FF2B5EF4-FFF2-40B4-BE49-F238E27FC236}">
                <a16:creationId xmlns:a16="http://schemas.microsoft.com/office/drawing/2014/main" id="{55F8B25E-1192-4D5E-8947-E32896546614}"/>
              </a:ext>
            </a:extLst>
          </p:cNvPr>
          <p:cNvSpPr>
            <a:spLocks noGrp="1"/>
          </p:cNvSpPr>
          <p:nvPr/>
        </p:nvSpPr>
        <p:spPr>
          <a:xfrm>
            <a:off x="609600" y="2000250"/>
            <a:ext cx="5857875" cy="838200"/>
          </a:xfrm>
          <a:prstGeom prst="rect">
            <a:avLst/>
          </a:prstGeom>
          <a:solidFill>
            <a:srgbClr val="112A35"/>
          </a:solidFill>
          <a:ln w="9525">
            <a:solidFill>
              <a:srgbClr val="29414D"/>
            </a:solidFill>
          </a:ln>
        </p:spPr>
        <p:txBody>
          <a:bodyPr/>
          <a:lstStyle/>
          <a:p>
            <a:endParaRPr lang="zh-CN" altLang="en-US"/>
          </a:p>
        </p:txBody>
      </p:sp>
      <p:sp>
        <p:nvSpPr>
          <p:cNvPr id="7" name="text-80">
            <a:extLst>
              <a:ext uri="{FF2B5EF4-FFF2-40B4-BE49-F238E27FC236}">
                <a16:creationId xmlns:a16="http://schemas.microsoft.com/office/drawing/2014/main" id="{5C904D8A-048B-4AA7-8EC1-F7620D3B307F}"/>
              </a:ext>
            </a:extLst>
          </p:cNvPr>
          <p:cNvSpPr>
            <a:spLocks noGrp="1"/>
          </p:cNvSpPr>
          <p:nvPr/>
        </p:nvSpPr>
        <p:spPr>
          <a:xfrm>
            <a:off x="800100" y="2133600"/>
            <a:ext cx="5476875" cy="323850"/>
          </a:xfrm>
          <a:prstGeom prst="rect">
            <a:avLst/>
          </a:prstGeom>
          <a:noFill/>
          <a:ln w="0">
            <a:noFill/>
          </a:ln>
        </p:spPr>
        <p:txBody>
          <a:bodyPr wrap="square" lIns="0" tIns="0" rIns="0" bIns="0" anchor="t">
            <a:noAutofit/>
          </a:bodyPr>
          <a:lstStyle/>
          <a:p>
            <a:pPr>
              <a:defRPr sz="2250" b="1">
                <a:solidFill>
                  <a:srgbClr val="F3F4ED"/>
                </a:solidFill>
                <a:latin typeface="Arial"/>
                <a:ea typeface="Arial"/>
                <a:cs typeface="Arial"/>
              </a:defRPr>
            </a:pPr>
            <a:r>
              <a:rPr sz="2250" b="1">
                <a:solidFill>
                  <a:srgbClr val="F3F4ED"/>
                </a:solidFill>
                <a:latin typeface="Arial"/>
                <a:ea typeface="Arial"/>
                <a:cs typeface="Arial"/>
              </a:rPr>
              <a:t>GPS</a:t>
            </a:r>
          </a:p>
        </p:txBody>
      </p:sp>
      <p:sp>
        <p:nvSpPr>
          <p:cNvPr id="8" name="text-81">
            <a:extLst>
              <a:ext uri="{FF2B5EF4-FFF2-40B4-BE49-F238E27FC236}">
                <a16:creationId xmlns:a16="http://schemas.microsoft.com/office/drawing/2014/main" id="{F983EBB7-B144-462A-B401-02C5E8864067}"/>
              </a:ext>
            </a:extLst>
          </p:cNvPr>
          <p:cNvSpPr>
            <a:spLocks noGrp="1"/>
          </p:cNvSpPr>
          <p:nvPr/>
        </p:nvSpPr>
        <p:spPr>
          <a:xfrm>
            <a:off x="800100" y="2495550"/>
            <a:ext cx="5476875" cy="2667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rPr>
              <a:t>Space signals as a clock</a:t>
            </a:r>
          </a:p>
        </p:txBody>
      </p:sp>
      <p:sp>
        <p:nvSpPr>
          <p:cNvPr id="9" name="diagram-82">
            <a:extLst>
              <a:ext uri="{FF2B5EF4-FFF2-40B4-BE49-F238E27FC236}">
                <a16:creationId xmlns:a16="http://schemas.microsoft.com/office/drawing/2014/main" id="{45F164F1-9281-4B57-A3D8-ADB87EAB1A25}"/>
              </a:ext>
            </a:extLst>
          </p:cNvPr>
          <p:cNvSpPr>
            <a:spLocks noGrp="1"/>
          </p:cNvSpPr>
          <p:nvPr/>
        </p:nvSpPr>
        <p:spPr>
          <a:xfrm>
            <a:off x="609600" y="3076575"/>
            <a:ext cx="5857875" cy="838200"/>
          </a:xfrm>
          <a:prstGeom prst="rect">
            <a:avLst/>
          </a:prstGeom>
          <a:solidFill>
            <a:srgbClr val="112A35"/>
          </a:solidFill>
          <a:ln w="9525">
            <a:solidFill>
              <a:srgbClr val="29414D"/>
            </a:solidFill>
          </a:ln>
        </p:spPr>
        <p:txBody>
          <a:bodyPr/>
          <a:lstStyle/>
          <a:p>
            <a:endParaRPr lang="zh-CN" altLang="en-US"/>
          </a:p>
        </p:txBody>
      </p:sp>
      <p:sp>
        <p:nvSpPr>
          <p:cNvPr id="10" name="text-83">
            <a:extLst>
              <a:ext uri="{FF2B5EF4-FFF2-40B4-BE49-F238E27FC236}">
                <a16:creationId xmlns:a16="http://schemas.microsoft.com/office/drawing/2014/main" id="{A047645B-C1A6-4984-867A-D1A41361B707}"/>
              </a:ext>
            </a:extLst>
          </p:cNvPr>
          <p:cNvSpPr>
            <a:spLocks noGrp="1"/>
          </p:cNvSpPr>
          <p:nvPr/>
        </p:nvSpPr>
        <p:spPr>
          <a:xfrm>
            <a:off x="800100" y="3209925"/>
            <a:ext cx="5476875" cy="323850"/>
          </a:xfrm>
          <a:prstGeom prst="rect">
            <a:avLst/>
          </a:prstGeom>
          <a:noFill/>
          <a:ln w="0">
            <a:noFill/>
          </a:ln>
        </p:spPr>
        <p:txBody>
          <a:bodyPr wrap="square" lIns="0" tIns="0" rIns="0" bIns="0" anchor="t">
            <a:noAutofit/>
          </a:bodyPr>
          <a:lstStyle/>
          <a:p>
            <a:pPr>
              <a:defRPr sz="2250" b="1">
                <a:solidFill>
                  <a:srgbClr val="F3F4ED"/>
                </a:solidFill>
                <a:latin typeface="Arial"/>
                <a:ea typeface="Arial"/>
                <a:cs typeface="Arial"/>
              </a:defRPr>
            </a:pPr>
            <a:r>
              <a:rPr sz="2250" b="1">
                <a:solidFill>
                  <a:srgbClr val="F3F4ED"/>
                </a:solidFill>
                <a:latin typeface="Arial"/>
                <a:ea typeface="Arial"/>
                <a:cs typeface="Arial"/>
              </a:rPr>
              <a:t>Iridium</a:t>
            </a:r>
          </a:p>
        </p:txBody>
      </p:sp>
      <p:sp>
        <p:nvSpPr>
          <p:cNvPr id="11" name="text-84">
            <a:extLst>
              <a:ext uri="{FF2B5EF4-FFF2-40B4-BE49-F238E27FC236}">
                <a16:creationId xmlns:a16="http://schemas.microsoft.com/office/drawing/2014/main" id="{184B86B6-08EA-4BD0-A655-0D8F172F6634}"/>
              </a:ext>
            </a:extLst>
          </p:cNvPr>
          <p:cNvSpPr>
            <a:spLocks noGrp="1"/>
          </p:cNvSpPr>
          <p:nvPr/>
        </p:nvSpPr>
        <p:spPr>
          <a:xfrm>
            <a:off x="800100" y="3571875"/>
            <a:ext cx="5476875" cy="2667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rPr>
              <a:t>An existing low-orbit radio network</a:t>
            </a:r>
          </a:p>
        </p:txBody>
      </p:sp>
      <p:sp>
        <p:nvSpPr>
          <p:cNvPr id="12" name="diagram-85">
            <a:extLst>
              <a:ext uri="{FF2B5EF4-FFF2-40B4-BE49-F238E27FC236}">
                <a16:creationId xmlns:a16="http://schemas.microsoft.com/office/drawing/2014/main" id="{E0A95EF3-B5C8-4C2C-8979-02437B690C57}"/>
              </a:ext>
            </a:extLst>
          </p:cNvPr>
          <p:cNvSpPr>
            <a:spLocks noGrp="1"/>
          </p:cNvSpPr>
          <p:nvPr/>
        </p:nvSpPr>
        <p:spPr>
          <a:xfrm>
            <a:off x="609600" y="4152900"/>
            <a:ext cx="5857875" cy="838200"/>
          </a:xfrm>
          <a:prstGeom prst="rect">
            <a:avLst/>
          </a:prstGeom>
          <a:solidFill>
            <a:srgbClr val="112A35"/>
          </a:solidFill>
          <a:ln w="9525">
            <a:solidFill>
              <a:srgbClr val="29414D"/>
            </a:solidFill>
          </a:ln>
        </p:spPr>
        <p:txBody>
          <a:bodyPr/>
          <a:lstStyle/>
          <a:p>
            <a:endParaRPr lang="zh-CN" altLang="en-US"/>
          </a:p>
        </p:txBody>
      </p:sp>
      <p:sp>
        <p:nvSpPr>
          <p:cNvPr id="13" name="text-86">
            <a:extLst>
              <a:ext uri="{FF2B5EF4-FFF2-40B4-BE49-F238E27FC236}">
                <a16:creationId xmlns:a16="http://schemas.microsoft.com/office/drawing/2014/main" id="{F58DF867-848D-4F75-B39F-F3A6D257D1B9}"/>
              </a:ext>
            </a:extLst>
          </p:cNvPr>
          <p:cNvSpPr>
            <a:spLocks noGrp="1"/>
          </p:cNvSpPr>
          <p:nvPr/>
        </p:nvSpPr>
        <p:spPr>
          <a:xfrm>
            <a:off x="800100" y="4286250"/>
            <a:ext cx="5476875" cy="323850"/>
          </a:xfrm>
          <a:prstGeom prst="rect">
            <a:avLst/>
          </a:prstGeom>
          <a:noFill/>
          <a:ln w="0">
            <a:noFill/>
          </a:ln>
        </p:spPr>
        <p:txBody>
          <a:bodyPr wrap="square" lIns="0" tIns="0" rIns="0" bIns="0" anchor="t">
            <a:noAutofit/>
          </a:bodyPr>
          <a:lstStyle/>
          <a:p>
            <a:pPr>
              <a:defRPr sz="2025" b="1">
                <a:solidFill>
                  <a:srgbClr val="F3F4ED"/>
                </a:solidFill>
                <a:latin typeface="Arial"/>
                <a:ea typeface="Arial"/>
                <a:cs typeface="Arial"/>
              </a:defRPr>
            </a:pPr>
            <a:r>
              <a:rPr sz="2025" b="1">
                <a:solidFill>
                  <a:srgbClr val="F3F4ED"/>
                </a:solidFill>
                <a:latin typeface="Arial"/>
                <a:ea typeface="Arial"/>
                <a:cs typeface="Arial"/>
              </a:rPr>
              <a:t>Cryptography + clock estimation</a:t>
            </a:r>
          </a:p>
        </p:txBody>
      </p:sp>
      <p:sp>
        <p:nvSpPr>
          <p:cNvPr id="14" name="text-87">
            <a:extLst>
              <a:ext uri="{FF2B5EF4-FFF2-40B4-BE49-F238E27FC236}">
                <a16:creationId xmlns:a16="http://schemas.microsoft.com/office/drawing/2014/main" id="{6CA071B1-15B2-42A1-9620-2EA4F5018FA8}"/>
              </a:ext>
            </a:extLst>
          </p:cNvPr>
          <p:cNvSpPr>
            <a:spLocks noGrp="1"/>
          </p:cNvSpPr>
          <p:nvPr/>
        </p:nvSpPr>
        <p:spPr>
          <a:xfrm>
            <a:off x="800100" y="4648200"/>
            <a:ext cx="5476875" cy="2667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rPr>
              <a:t>Authentication and time recovery</a:t>
            </a:r>
          </a:p>
        </p:txBody>
      </p:sp>
      <p:sp>
        <p:nvSpPr>
          <p:cNvPr id="15" name="diagram-88">
            <a:extLst>
              <a:ext uri="{FF2B5EF4-FFF2-40B4-BE49-F238E27FC236}">
                <a16:creationId xmlns:a16="http://schemas.microsoft.com/office/drawing/2014/main" id="{340C20AB-EF4A-46DC-A897-5B1E008E990D}"/>
              </a:ext>
            </a:extLst>
          </p:cNvPr>
          <p:cNvSpPr>
            <a:spLocks noGrp="1"/>
          </p:cNvSpPr>
          <p:nvPr/>
        </p:nvSpPr>
        <p:spPr>
          <a:xfrm>
            <a:off x="8239125" y="2724150"/>
            <a:ext cx="3333750" cy="1933575"/>
          </a:xfrm>
          <a:prstGeom prst="rect">
            <a:avLst/>
          </a:prstGeom>
          <a:solidFill>
            <a:srgbClr val="173D42"/>
          </a:solidFill>
          <a:ln w="9525">
            <a:solidFill>
              <a:srgbClr val="29414D"/>
            </a:solidFill>
          </a:ln>
        </p:spPr>
        <p:txBody>
          <a:bodyPr/>
          <a:lstStyle/>
          <a:p>
            <a:endParaRPr lang="zh-CN" altLang="en-US"/>
          </a:p>
        </p:txBody>
      </p:sp>
      <p:sp>
        <p:nvSpPr>
          <p:cNvPr id="16" name="text-89">
            <a:extLst>
              <a:ext uri="{FF2B5EF4-FFF2-40B4-BE49-F238E27FC236}">
                <a16:creationId xmlns:a16="http://schemas.microsoft.com/office/drawing/2014/main" id="{BC269B0E-E2BB-4AAF-A1C0-C83C64D21522}"/>
              </a:ext>
            </a:extLst>
          </p:cNvPr>
          <p:cNvSpPr>
            <a:spLocks noGrp="1"/>
          </p:cNvSpPr>
          <p:nvPr/>
        </p:nvSpPr>
        <p:spPr>
          <a:xfrm>
            <a:off x="8496300" y="2962275"/>
            <a:ext cx="2762250" cy="676275"/>
          </a:xfrm>
          <a:prstGeom prst="rect">
            <a:avLst/>
          </a:prstGeom>
          <a:noFill/>
          <a:ln w="0">
            <a:noFill/>
          </a:ln>
        </p:spPr>
        <p:txBody>
          <a:bodyPr wrap="square" lIns="0" tIns="0" rIns="0" bIns="0" anchor="t">
            <a:noAutofit/>
          </a:bodyPr>
          <a:lstStyle/>
          <a:p>
            <a:pPr>
              <a:defRPr sz="4425" b="1">
                <a:solidFill>
                  <a:srgbClr val="6EDFC3"/>
                </a:solidFill>
                <a:latin typeface="Arial"/>
                <a:ea typeface="Arial"/>
                <a:cs typeface="Arial"/>
              </a:defRPr>
            </a:pPr>
            <a:r>
              <a:rPr sz="4425" b="1">
                <a:solidFill>
                  <a:srgbClr val="6EDFC3"/>
                </a:solidFill>
                <a:latin typeface="Arial"/>
                <a:ea typeface="Arial"/>
                <a:cs typeface="Arial"/>
              </a:rPr>
              <a:t>STL</a:t>
            </a:r>
          </a:p>
        </p:txBody>
      </p:sp>
      <p:sp>
        <p:nvSpPr>
          <p:cNvPr id="17" name="text-90">
            <a:extLst>
              <a:ext uri="{FF2B5EF4-FFF2-40B4-BE49-F238E27FC236}">
                <a16:creationId xmlns:a16="http://schemas.microsoft.com/office/drawing/2014/main" id="{5BAED3EE-95F6-4638-BAE6-FC3262C6EB80}"/>
              </a:ext>
            </a:extLst>
          </p:cNvPr>
          <p:cNvSpPr>
            <a:spLocks noGrp="1"/>
          </p:cNvSpPr>
          <p:nvPr/>
        </p:nvSpPr>
        <p:spPr>
          <a:xfrm>
            <a:off x="8496300" y="3819525"/>
            <a:ext cx="2781300" cy="695325"/>
          </a:xfrm>
          <a:prstGeom prst="rect">
            <a:avLst/>
          </a:prstGeom>
          <a:noFill/>
          <a:ln w="0">
            <a:noFill/>
          </a:ln>
        </p:spPr>
        <p:txBody>
          <a:bodyPr wrap="square" lIns="0" tIns="0" rIns="0" bIns="0" anchor="t">
            <a:noAutofit/>
          </a:bodyPr>
          <a:lstStyle/>
          <a:p>
            <a:pPr>
              <a:defRPr sz="2025" b="0">
                <a:solidFill>
                  <a:srgbClr val="F3F4ED"/>
                </a:solidFill>
                <a:latin typeface="Arial"/>
                <a:ea typeface="Arial"/>
                <a:cs typeface="Arial"/>
              </a:defRPr>
            </a:pPr>
            <a:r>
              <a:rPr sz="2025" b="0">
                <a:solidFill>
                  <a:srgbClr val="F3F4ED"/>
                </a:solidFill>
                <a:latin typeface="Arial"/>
                <a:ea typeface="Arial"/>
                <a:cs typeface="Arial"/>
              </a:rPr>
              <a:t>A new function on</a:t>
            </a:r>
          </a:p>
          <a:p>
            <a:pPr>
              <a:defRPr sz="2025" b="0">
                <a:solidFill>
                  <a:srgbClr val="F3F4ED"/>
                </a:solidFill>
                <a:latin typeface="Arial"/>
                <a:ea typeface="Arial"/>
                <a:cs typeface="Arial"/>
              </a:defRPr>
            </a:pPr>
            <a:r>
              <a:rPr sz="2025" b="0">
                <a:solidFill>
                  <a:srgbClr val="F3F4ED"/>
                </a:solidFill>
                <a:latin typeface="Arial"/>
                <a:ea typeface="Arial"/>
                <a:cs typeface="Arial"/>
              </a:rPr>
              <a:t>an existing platform</a:t>
            </a:r>
          </a:p>
        </p:txBody>
      </p:sp>
      <p:sp>
        <p:nvSpPr>
          <p:cNvPr id="21" name="text-91">
            <a:extLst>
              <a:ext uri="{FF2B5EF4-FFF2-40B4-BE49-F238E27FC236}">
                <a16:creationId xmlns:a16="http://schemas.microsoft.com/office/drawing/2014/main" id="{A7756B41-8E58-4340-9B55-D248E610697A}"/>
              </a:ext>
            </a:extLst>
          </p:cNvPr>
          <p:cNvSpPr>
            <a:spLocks noGrp="1"/>
          </p:cNvSpPr>
          <p:nvPr/>
        </p:nvSpPr>
        <p:spPr>
          <a:xfrm>
            <a:off x="609600" y="5591175"/>
            <a:ext cx="3924300" cy="390525"/>
          </a:xfrm>
          <a:prstGeom prst="rect">
            <a:avLst/>
          </a:prstGeom>
          <a:noFill/>
          <a:ln w="0">
            <a:noFill/>
          </a:ln>
        </p:spPr>
        <p:txBody>
          <a:bodyPr wrap="square" lIns="0" tIns="0" rIns="0" bIns="0" anchor="t">
            <a:noAutofit/>
          </a:bodyPr>
          <a:lstStyle/>
          <a:p>
            <a:pPr>
              <a:defRPr sz="2100" b="1">
                <a:solidFill>
                  <a:srgbClr val="F3F4ED"/>
                </a:solidFill>
                <a:latin typeface="Arial"/>
                <a:ea typeface="Arial"/>
                <a:cs typeface="Arial"/>
              </a:defRPr>
            </a:pPr>
            <a:r>
              <a:rPr sz="2100" b="1">
                <a:solidFill>
                  <a:srgbClr val="F3F4ED"/>
                </a:solidFill>
                <a:latin typeface="Arial"/>
                <a:ea typeface="Arial"/>
                <a:cs typeface="Arial"/>
              </a:rPr>
              <a:t>Architectural innovation</a:t>
            </a:r>
          </a:p>
        </p:txBody>
      </p:sp>
      <p:sp>
        <p:nvSpPr>
          <p:cNvPr id="22" name="text-92">
            <a:extLst>
              <a:ext uri="{FF2B5EF4-FFF2-40B4-BE49-F238E27FC236}">
                <a16:creationId xmlns:a16="http://schemas.microsoft.com/office/drawing/2014/main" id="{60656C43-D6A7-4CD1-81B3-500E9B92ACD5}"/>
              </a:ext>
            </a:extLst>
          </p:cNvPr>
          <p:cNvSpPr>
            <a:spLocks noGrp="1"/>
          </p:cNvSpPr>
          <p:nvPr/>
        </p:nvSpPr>
        <p:spPr>
          <a:xfrm>
            <a:off x="4829175" y="5629275"/>
            <a:ext cx="6753225" cy="428625"/>
          </a:xfrm>
          <a:prstGeom prst="rect">
            <a:avLst/>
          </a:prstGeom>
          <a:noFill/>
          <a:ln w="0">
            <a:noFill/>
          </a:ln>
        </p:spPr>
        <p:txBody>
          <a:bodyPr wrap="square" lIns="0" tIns="0" rIns="0" bIns="0" anchor="t">
            <a:noAutofit/>
          </a:bodyPr>
          <a:lstStyle/>
          <a:p>
            <a:pPr>
              <a:defRPr sz="1875" b="0">
                <a:solidFill>
                  <a:srgbClr val="A8BBC5"/>
                </a:solidFill>
                <a:latin typeface="Arial"/>
                <a:ea typeface="Arial"/>
                <a:cs typeface="Arial"/>
              </a:defRPr>
            </a:pPr>
            <a:r>
              <a:rPr sz="1875" b="0">
                <a:solidFill>
                  <a:srgbClr val="A8BBC5"/>
                </a:solidFill>
                <a:latin typeface="Arial"/>
                <a:ea typeface="Arial"/>
                <a:cs typeface="Arial"/>
              </a:rPr>
              <a:t>Stronger bursts. Authentication. Fine time, coarse place.</a:t>
            </a:r>
          </a:p>
        </p:txBody>
      </p:sp>
    </p:spTree>
    <p:extLst>
      <p:ext uri="{BB962C8B-B14F-4D97-AF65-F5344CB8AC3E}">
        <p14:creationId xmlns:p14="http://schemas.microsoft.com/office/powerpoint/2010/main" val="108520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20" name="text-93">
            <a:extLst>
              <a:ext uri="{FF2B5EF4-FFF2-40B4-BE49-F238E27FC236}">
                <a16:creationId xmlns:a16="http://schemas.microsoft.com/office/drawing/2014/main" id="{F8869656-155C-49E3-B922-0707E3779524}"/>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Who builds it, who controls it</a:t>
            </a:r>
          </a:p>
        </p:txBody>
      </p:sp>
      <p:sp>
        <p:nvSpPr>
          <p:cNvPr id="2" name="text-94">
            <a:extLst>
              <a:ext uri="{FF2B5EF4-FFF2-40B4-BE49-F238E27FC236}">
                <a16:creationId xmlns:a16="http://schemas.microsoft.com/office/drawing/2014/main" id="{85BF2ED4-5F29-4985-8BBD-98F49D738992}"/>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5  /  International sourcing, export controls, and standards</a:t>
            </a:r>
          </a:p>
        </p:txBody>
      </p:sp>
      <p:sp>
        <p:nvSpPr>
          <p:cNvPr id="3" name="rule-95">
            <a:extLst>
              <a:ext uri="{FF2B5EF4-FFF2-40B4-BE49-F238E27FC236}">
                <a16:creationId xmlns:a16="http://schemas.microsoft.com/office/drawing/2014/main" id="{1B54FFF7-C3E3-4D9C-9361-636DE0BD2819}"/>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96">
            <a:extLst>
              <a:ext uri="{FF2B5EF4-FFF2-40B4-BE49-F238E27FC236}">
                <a16:creationId xmlns:a16="http://schemas.microsoft.com/office/drawing/2014/main" id="{9D7F7614-0B27-4CC2-9AAD-118EA81769BE}"/>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Cooperation   /   Zhou / Li / Miao   /   28 Sep 2026</a:t>
            </a:r>
          </a:p>
        </p:txBody>
      </p:sp>
      <p:sp>
        <p:nvSpPr>
          <p:cNvPr id="5" name="text-97">
            <a:extLst>
              <a:ext uri="{FF2B5EF4-FFF2-40B4-BE49-F238E27FC236}">
                <a16:creationId xmlns:a16="http://schemas.microsoft.com/office/drawing/2014/main" id="{0EEF7B8C-988D-4D40-97E7-D02B940F2F35}"/>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07</a:t>
            </a:r>
          </a:p>
        </p:txBody>
      </p:sp>
      <p:sp>
        <p:nvSpPr>
          <p:cNvPr id="6" name="text-98">
            <a:extLst>
              <a:ext uri="{FF2B5EF4-FFF2-40B4-BE49-F238E27FC236}">
                <a16:creationId xmlns:a16="http://schemas.microsoft.com/office/drawing/2014/main" id="{8B32F11D-8019-4262-81FD-DD4E73CBE604}"/>
              </a:ext>
            </a:extLst>
          </p:cNvPr>
          <p:cNvSpPr>
            <a:spLocks noGrp="1"/>
          </p:cNvSpPr>
          <p:nvPr/>
        </p:nvSpPr>
        <p:spPr>
          <a:xfrm>
            <a:off x="609600" y="1962150"/>
            <a:ext cx="5419725" cy="419100"/>
          </a:xfrm>
          <a:prstGeom prst="rect">
            <a:avLst/>
          </a:prstGeom>
          <a:noFill/>
          <a:ln w="0">
            <a:noFill/>
          </a:ln>
        </p:spPr>
        <p:txBody>
          <a:bodyPr wrap="square" lIns="0" tIns="0" rIns="0" bIns="0" anchor="t">
            <a:noAutofit/>
          </a:bodyPr>
          <a:lstStyle/>
          <a:p>
            <a:pPr>
              <a:defRPr sz="2325" b="1">
                <a:solidFill>
                  <a:srgbClr val="6EDFC3"/>
                </a:solidFill>
                <a:latin typeface="Arial"/>
                <a:ea typeface="Arial"/>
                <a:cs typeface="Arial"/>
              </a:defRPr>
            </a:pPr>
            <a:r>
              <a:rPr sz="2325" b="1">
                <a:solidFill>
                  <a:srgbClr val="6EDFC3"/>
                </a:solidFill>
                <a:latin typeface="Arial"/>
                <a:ea typeface="Arial"/>
                <a:cs typeface="Arial"/>
              </a:rPr>
              <a:t>Production across allies</a:t>
            </a:r>
          </a:p>
        </p:txBody>
      </p:sp>
      <p:sp>
        <p:nvSpPr>
          <p:cNvPr id="7" name="text-99">
            <a:extLst>
              <a:ext uri="{FF2B5EF4-FFF2-40B4-BE49-F238E27FC236}">
                <a16:creationId xmlns:a16="http://schemas.microsoft.com/office/drawing/2014/main" id="{439CB5DE-43B7-4A68-9005-6BC84533A126}"/>
              </a:ext>
            </a:extLst>
          </p:cNvPr>
          <p:cNvSpPr>
            <a:spLocks noGrp="1"/>
          </p:cNvSpPr>
          <p:nvPr/>
        </p:nvSpPr>
        <p:spPr>
          <a:xfrm>
            <a:off x="609600" y="2667000"/>
            <a:ext cx="5162550" cy="323850"/>
          </a:xfrm>
          <a:prstGeom prst="rect">
            <a:avLst/>
          </a:prstGeom>
          <a:noFill/>
          <a:ln w="0">
            <a:noFill/>
          </a:ln>
        </p:spPr>
        <p:txBody>
          <a:bodyPr wrap="square" lIns="0" tIns="0" rIns="0" bIns="0" anchor="t">
            <a:noAutofit/>
          </a:bodyPr>
          <a:lstStyle/>
          <a:p>
            <a:pPr>
              <a:defRPr sz="2100" b="1">
                <a:solidFill>
                  <a:srgbClr val="F3F4ED"/>
                </a:solidFill>
                <a:latin typeface="Arial"/>
                <a:ea typeface="Arial"/>
                <a:cs typeface="Arial"/>
              </a:defRPr>
            </a:pPr>
            <a:r>
              <a:rPr sz="2100" b="1">
                <a:solidFill>
                  <a:srgbClr val="F3F4ED"/>
                </a:solidFill>
                <a:latin typeface="Arial"/>
                <a:ea typeface="Arial"/>
                <a:cs typeface="Arial"/>
              </a:rPr>
              <a:t>France + Italy</a:t>
            </a:r>
          </a:p>
        </p:txBody>
      </p:sp>
      <p:sp>
        <p:nvSpPr>
          <p:cNvPr id="8" name="text-100">
            <a:extLst>
              <a:ext uri="{FF2B5EF4-FFF2-40B4-BE49-F238E27FC236}">
                <a16:creationId xmlns:a16="http://schemas.microsoft.com/office/drawing/2014/main" id="{BFDCD9D5-AC39-4B61-84D8-B2C7A9D67C59}"/>
              </a:ext>
            </a:extLst>
          </p:cNvPr>
          <p:cNvSpPr>
            <a:spLocks noGrp="1"/>
          </p:cNvSpPr>
          <p:nvPr/>
        </p:nvSpPr>
        <p:spPr>
          <a:xfrm>
            <a:off x="609600" y="3124200"/>
            <a:ext cx="5410200" cy="371475"/>
          </a:xfrm>
          <a:prstGeom prst="rect">
            <a:avLst/>
          </a:prstGeom>
          <a:noFill/>
          <a:ln w="0">
            <a:noFill/>
          </a:ln>
        </p:spPr>
        <p:txBody>
          <a:bodyPr wrap="square" lIns="0" tIns="0" rIns="0" bIns="0" anchor="t">
            <a:noAutofit/>
          </a:bodyPr>
          <a:lstStyle/>
          <a:p>
            <a:pPr>
              <a:defRPr sz="1875" b="0">
                <a:solidFill>
                  <a:srgbClr val="A8BBC5"/>
                </a:solidFill>
                <a:latin typeface="Arial"/>
                <a:ea typeface="Arial"/>
                <a:cs typeface="Arial"/>
              </a:defRPr>
            </a:pPr>
            <a:r>
              <a:rPr sz="1875" b="0">
                <a:solidFill>
                  <a:srgbClr val="A8BBC5"/>
                </a:solidFill>
                <a:latin typeface="Arial"/>
                <a:ea typeface="Arial"/>
                <a:cs typeface="Arial"/>
              </a:rPr>
              <a:t>Thales Alenia Space: satellite prime</a:t>
            </a:r>
          </a:p>
        </p:txBody>
      </p:sp>
      <p:sp>
        <p:nvSpPr>
          <p:cNvPr id="9" name="text-101">
            <a:extLst>
              <a:ext uri="{FF2B5EF4-FFF2-40B4-BE49-F238E27FC236}">
                <a16:creationId xmlns:a16="http://schemas.microsoft.com/office/drawing/2014/main" id="{EB0B78AA-F663-41C6-A64E-20DDFDC18762}"/>
              </a:ext>
            </a:extLst>
          </p:cNvPr>
          <p:cNvSpPr>
            <a:spLocks noGrp="1"/>
          </p:cNvSpPr>
          <p:nvPr/>
        </p:nvSpPr>
        <p:spPr>
          <a:xfrm>
            <a:off x="609600" y="3800475"/>
            <a:ext cx="5162550" cy="333375"/>
          </a:xfrm>
          <a:prstGeom prst="rect">
            <a:avLst/>
          </a:prstGeom>
          <a:noFill/>
          <a:ln w="0">
            <a:noFill/>
          </a:ln>
        </p:spPr>
        <p:txBody>
          <a:bodyPr wrap="square" lIns="0" tIns="0" rIns="0" bIns="0" anchor="t">
            <a:noAutofit/>
          </a:bodyPr>
          <a:lstStyle/>
          <a:p>
            <a:pPr>
              <a:defRPr sz="2100" b="1">
                <a:solidFill>
                  <a:srgbClr val="F3F4ED"/>
                </a:solidFill>
                <a:latin typeface="Arial"/>
                <a:ea typeface="Arial"/>
                <a:cs typeface="Arial"/>
              </a:defRPr>
            </a:pPr>
            <a:r>
              <a:rPr sz="2100" b="1">
                <a:solidFill>
                  <a:srgbClr val="F3F4ED"/>
                </a:solidFill>
                <a:latin typeface="Arial"/>
                <a:ea typeface="Arial"/>
                <a:cs typeface="Arial"/>
              </a:rPr>
              <a:t>United States</a:t>
            </a:r>
          </a:p>
        </p:txBody>
      </p:sp>
      <p:sp>
        <p:nvSpPr>
          <p:cNvPr id="10" name="text-102">
            <a:extLst>
              <a:ext uri="{FF2B5EF4-FFF2-40B4-BE49-F238E27FC236}">
                <a16:creationId xmlns:a16="http://schemas.microsoft.com/office/drawing/2014/main" id="{7BC048BF-5524-4085-8FF6-A6D087EA9D54}"/>
              </a:ext>
            </a:extLst>
          </p:cNvPr>
          <p:cNvSpPr>
            <a:spLocks noGrp="1"/>
          </p:cNvSpPr>
          <p:nvPr/>
        </p:nvSpPr>
        <p:spPr>
          <a:xfrm>
            <a:off x="609600" y="4257675"/>
            <a:ext cx="5410200" cy="781050"/>
          </a:xfrm>
          <a:prstGeom prst="rect">
            <a:avLst/>
          </a:prstGeom>
          <a:noFill/>
          <a:ln w="0">
            <a:noFill/>
          </a:ln>
        </p:spPr>
        <p:txBody>
          <a:bodyPr wrap="square" lIns="0" tIns="0" rIns="0" bIns="0" anchor="t">
            <a:noAutofit/>
          </a:bodyPr>
          <a:lstStyle/>
          <a:p>
            <a:pPr>
              <a:defRPr sz="1875" b="0">
                <a:solidFill>
                  <a:srgbClr val="A8BBC5"/>
                </a:solidFill>
                <a:latin typeface="Arial"/>
                <a:ea typeface="Arial"/>
                <a:cs typeface="Arial"/>
              </a:defRPr>
            </a:pPr>
            <a:r>
              <a:rPr sz="1875" b="0">
                <a:solidFill>
                  <a:srgbClr val="A8BBC5"/>
                </a:solidFill>
                <a:latin typeface="Arial"/>
                <a:ea typeface="Arial"/>
                <a:cs typeface="Arial"/>
              </a:rPr>
              <a:t>Arizona assembly. SpaceX launch.</a:t>
            </a:r>
          </a:p>
          <a:p>
            <a:pPr>
              <a:defRPr sz="1875" b="0">
                <a:solidFill>
                  <a:srgbClr val="A8BBC5"/>
                </a:solidFill>
                <a:latin typeface="Arial"/>
                <a:ea typeface="Arial"/>
                <a:cs typeface="Arial"/>
              </a:defRPr>
            </a:pPr>
            <a:r>
              <a:rPr sz="1875" b="0">
                <a:solidFill>
                  <a:srgbClr val="A8BBC5"/>
                </a:solidFill>
                <a:latin typeface="Arial"/>
                <a:ea typeface="Arial"/>
                <a:cs typeface="Arial"/>
              </a:rPr>
              <a:t>Iridium operations and Satelles technology.</a:t>
            </a:r>
          </a:p>
        </p:txBody>
      </p:sp>
      <p:sp>
        <p:nvSpPr>
          <p:cNvPr id="11" name="text-103">
            <a:extLst>
              <a:ext uri="{FF2B5EF4-FFF2-40B4-BE49-F238E27FC236}">
                <a16:creationId xmlns:a16="http://schemas.microsoft.com/office/drawing/2014/main" id="{05F98235-83FB-4F52-BFA9-D6C2F5EF26BE}"/>
              </a:ext>
            </a:extLst>
          </p:cNvPr>
          <p:cNvSpPr>
            <a:spLocks noGrp="1"/>
          </p:cNvSpPr>
          <p:nvPr/>
        </p:nvSpPr>
        <p:spPr>
          <a:xfrm>
            <a:off x="609600" y="5362575"/>
            <a:ext cx="5162550" cy="304800"/>
          </a:xfrm>
          <a:prstGeom prst="rect">
            <a:avLst/>
          </a:prstGeom>
          <a:noFill/>
          <a:ln w="0">
            <a:noFill/>
          </a:ln>
        </p:spPr>
        <p:txBody>
          <a:bodyPr wrap="square" lIns="0" tIns="0" rIns="0" bIns="0" anchor="t">
            <a:noAutofit/>
          </a:bodyPr>
          <a:lstStyle/>
          <a:p>
            <a:pPr>
              <a:defRPr sz="1875" b="1">
                <a:solidFill>
                  <a:srgbClr val="F3F4ED"/>
                </a:solidFill>
                <a:latin typeface="Arial"/>
                <a:ea typeface="Arial"/>
                <a:cs typeface="Arial"/>
              </a:defRPr>
            </a:pPr>
            <a:r>
              <a:rPr sz="1875" b="1">
                <a:solidFill>
                  <a:srgbClr val="F3F4ED"/>
                </a:solidFill>
                <a:latin typeface="Arial"/>
                <a:ea typeface="Arial"/>
                <a:cs typeface="Arial"/>
              </a:rPr>
              <a:t>Timing equipment</a:t>
            </a:r>
          </a:p>
        </p:txBody>
      </p:sp>
      <p:sp>
        <p:nvSpPr>
          <p:cNvPr id="12" name="text-104">
            <a:extLst>
              <a:ext uri="{FF2B5EF4-FFF2-40B4-BE49-F238E27FC236}">
                <a16:creationId xmlns:a16="http://schemas.microsoft.com/office/drawing/2014/main" id="{51FB63F1-F466-416B-BDF6-571E57DDDA21}"/>
              </a:ext>
            </a:extLst>
          </p:cNvPr>
          <p:cNvSpPr>
            <a:spLocks noGrp="1"/>
          </p:cNvSpPr>
          <p:nvPr/>
        </p:nvSpPr>
        <p:spPr>
          <a:xfrm>
            <a:off x="609600" y="5724525"/>
            <a:ext cx="5410200" cy="314325"/>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Swiss / U.S. and French partners, UK antennas</a:t>
            </a:r>
          </a:p>
        </p:txBody>
      </p:sp>
      <p:sp>
        <p:nvSpPr>
          <p:cNvPr id="13" name="text-105">
            <a:extLst>
              <a:ext uri="{FF2B5EF4-FFF2-40B4-BE49-F238E27FC236}">
                <a16:creationId xmlns:a16="http://schemas.microsoft.com/office/drawing/2014/main" id="{4586E4A8-08A7-48BC-A169-DF25BFB7B4F6}"/>
              </a:ext>
            </a:extLst>
          </p:cNvPr>
          <p:cNvSpPr>
            <a:spLocks noGrp="1"/>
          </p:cNvSpPr>
          <p:nvPr/>
        </p:nvSpPr>
        <p:spPr>
          <a:xfrm>
            <a:off x="6705600" y="1962150"/>
            <a:ext cx="4876800" cy="419100"/>
          </a:xfrm>
          <a:prstGeom prst="rect">
            <a:avLst/>
          </a:prstGeom>
          <a:noFill/>
          <a:ln w="0">
            <a:noFill/>
          </a:ln>
        </p:spPr>
        <p:txBody>
          <a:bodyPr wrap="square" lIns="0" tIns="0" rIns="0" bIns="0" anchor="t">
            <a:noAutofit/>
          </a:bodyPr>
          <a:lstStyle/>
          <a:p>
            <a:pPr>
              <a:defRPr sz="2325" b="1">
                <a:solidFill>
                  <a:srgbClr val="6EDFC3"/>
                </a:solidFill>
                <a:latin typeface="Arial"/>
                <a:ea typeface="Arial"/>
                <a:cs typeface="Arial"/>
              </a:defRPr>
            </a:pPr>
            <a:r>
              <a:rPr sz="2325" b="1">
                <a:solidFill>
                  <a:srgbClr val="6EDFC3"/>
                </a:solidFill>
                <a:latin typeface="Arial"/>
                <a:ea typeface="Arial"/>
                <a:cs typeface="Arial"/>
              </a:rPr>
              <a:t>The export-control tension</a:t>
            </a:r>
          </a:p>
        </p:txBody>
      </p:sp>
      <p:sp>
        <p:nvSpPr>
          <p:cNvPr id="14" name="text-106">
            <a:extLst>
              <a:ext uri="{FF2B5EF4-FFF2-40B4-BE49-F238E27FC236}">
                <a16:creationId xmlns:a16="http://schemas.microsoft.com/office/drawing/2014/main" id="{8009DC9A-CC99-48D2-8305-46EA77B3922F}"/>
              </a:ext>
            </a:extLst>
          </p:cNvPr>
          <p:cNvSpPr>
            <a:spLocks noGrp="1"/>
          </p:cNvSpPr>
          <p:nvPr/>
        </p:nvSpPr>
        <p:spPr>
          <a:xfrm>
            <a:off x="6705600" y="2657475"/>
            <a:ext cx="2114550" cy="333375"/>
          </a:xfrm>
          <a:prstGeom prst="rect">
            <a:avLst/>
          </a:prstGeom>
          <a:noFill/>
          <a:ln w="0">
            <a:noFill/>
          </a:ln>
        </p:spPr>
        <p:txBody>
          <a:bodyPr wrap="square" lIns="0" tIns="0" rIns="0" bIns="0" anchor="t">
            <a:noAutofit/>
          </a:bodyPr>
          <a:lstStyle/>
          <a:p>
            <a:pPr>
              <a:defRPr sz="2175" b="1">
                <a:solidFill>
                  <a:srgbClr val="F3F4ED"/>
                </a:solidFill>
                <a:latin typeface="Arial"/>
                <a:ea typeface="Arial"/>
                <a:cs typeface="Arial"/>
              </a:defRPr>
            </a:pPr>
            <a:r>
              <a:rPr sz="2175" b="1">
                <a:solidFill>
                  <a:srgbClr val="F3F4ED"/>
                </a:solidFill>
                <a:latin typeface="Arial"/>
                <a:ea typeface="Arial"/>
                <a:cs typeface="Arial"/>
              </a:rPr>
              <a:t>ITAR</a:t>
            </a:r>
          </a:p>
        </p:txBody>
      </p:sp>
      <p:sp>
        <p:nvSpPr>
          <p:cNvPr id="15" name="text-107">
            <a:extLst>
              <a:ext uri="{FF2B5EF4-FFF2-40B4-BE49-F238E27FC236}">
                <a16:creationId xmlns:a16="http://schemas.microsoft.com/office/drawing/2014/main" id="{1A0A8BF4-E0EE-4B3E-9E2C-2366CF0EA705}"/>
              </a:ext>
            </a:extLst>
          </p:cNvPr>
          <p:cNvSpPr>
            <a:spLocks noGrp="1"/>
          </p:cNvSpPr>
          <p:nvPr/>
        </p:nvSpPr>
        <p:spPr>
          <a:xfrm>
            <a:off x="6705600" y="3105150"/>
            <a:ext cx="2209800" cy="733425"/>
          </a:xfrm>
          <a:prstGeom prst="rect">
            <a:avLst/>
          </a:prstGeom>
          <a:noFill/>
          <a:ln w="0">
            <a:noFill/>
          </a:ln>
        </p:spPr>
        <p:txBody>
          <a:bodyPr wrap="square" lIns="0" tIns="0" rIns="0" bIns="0" anchor="t">
            <a:noAutofit/>
          </a:bodyPr>
          <a:lstStyle/>
          <a:p>
            <a:pPr>
              <a:defRPr sz="1725" b="0">
                <a:solidFill>
                  <a:srgbClr val="A8BBC5"/>
                </a:solidFill>
                <a:latin typeface="Arial"/>
                <a:ea typeface="Arial"/>
                <a:cs typeface="Arial"/>
              </a:defRPr>
            </a:pPr>
            <a:r>
              <a:rPr sz="1725" b="0">
                <a:solidFill>
                  <a:srgbClr val="A8BBC5"/>
                </a:solidFill>
                <a:latin typeface="Arial"/>
                <a:ea typeface="Arial"/>
                <a:cs typeface="Arial"/>
              </a:rPr>
              <a:t>State Department</a:t>
            </a:r>
          </a:p>
          <a:p>
            <a:pPr>
              <a:defRPr sz="1725" b="0">
                <a:solidFill>
                  <a:srgbClr val="A8BBC5"/>
                </a:solidFill>
                <a:latin typeface="Arial"/>
                <a:ea typeface="Arial"/>
                <a:cs typeface="Arial"/>
              </a:defRPr>
            </a:pPr>
            <a:r>
              <a:rPr sz="1725" b="0">
                <a:solidFill>
                  <a:srgbClr val="A8BBC5"/>
                </a:solidFill>
                <a:latin typeface="Arial"/>
                <a:ea typeface="Arial"/>
                <a:cs typeface="Arial"/>
              </a:rPr>
              <a:t>Munitions controls</a:t>
            </a:r>
          </a:p>
        </p:txBody>
      </p:sp>
      <p:sp>
        <p:nvSpPr>
          <p:cNvPr id="16" name="text-108">
            <a:extLst>
              <a:ext uri="{FF2B5EF4-FFF2-40B4-BE49-F238E27FC236}">
                <a16:creationId xmlns:a16="http://schemas.microsoft.com/office/drawing/2014/main" id="{12EBCDFA-1A5F-4BDD-A651-8FD52FE0E461}"/>
              </a:ext>
            </a:extLst>
          </p:cNvPr>
          <p:cNvSpPr>
            <a:spLocks noGrp="1"/>
          </p:cNvSpPr>
          <p:nvPr/>
        </p:nvSpPr>
        <p:spPr>
          <a:xfrm>
            <a:off x="9258300" y="2657475"/>
            <a:ext cx="2124075" cy="333375"/>
          </a:xfrm>
          <a:prstGeom prst="rect">
            <a:avLst/>
          </a:prstGeom>
          <a:noFill/>
          <a:ln w="0">
            <a:noFill/>
          </a:ln>
        </p:spPr>
        <p:txBody>
          <a:bodyPr wrap="square" lIns="0" tIns="0" rIns="0" bIns="0" anchor="t">
            <a:noAutofit/>
          </a:bodyPr>
          <a:lstStyle/>
          <a:p>
            <a:pPr>
              <a:defRPr sz="2175" b="1">
                <a:solidFill>
                  <a:srgbClr val="F3F4ED"/>
                </a:solidFill>
                <a:latin typeface="Arial"/>
                <a:ea typeface="Arial"/>
                <a:cs typeface="Arial"/>
              </a:defRPr>
            </a:pPr>
            <a:r>
              <a:rPr sz="2175" b="1">
                <a:solidFill>
                  <a:srgbClr val="F3F4ED"/>
                </a:solidFill>
                <a:latin typeface="Arial"/>
                <a:ea typeface="Arial"/>
                <a:cs typeface="Arial"/>
              </a:rPr>
              <a:t>EAR</a:t>
            </a:r>
          </a:p>
        </p:txBody>
      </p:sp>
      <p:sp>
        <p:nvSpPr>
          <p:cNvPr id="17" name="text-109">
            <a:extLst>
              <a:ext uri="{FF2B5EF4-FFF2-40B4-BE49-F238E27FC236}">
                <a16:creationId xmlns:a16="http://schemas.microsoft.com/office/drawing/2014/main" id="{29D91ED2-1DB9-465D-92DD-E29E700DA3B6}"/>
              </a:ext>
            </a:extLst>
          </p:cNvPr>
          <p:cNvSpPr>
            <a:spLocks noGrp="1"/>
          </p:cNvSpPr>
          <p:nvPr/>
        </p:nvSpPr>
        <p:spPr>
          <a:xfrm>
            <a:off x="9258300" y="3105150"/>
            <a:ext cx="2286000" cy="733425"/>
          </a:xfrm>
          <a:prstGeom prst="rect">
            <a:avLst/>
          </a:prstGeom>
          <a:noFill/>
          <a:ln w="0">
            <a:noFill/>
          </a:ln>
        </p:spPr>
        <p:txBody>
          <a:bodyPr wrap="square" lIns="0" tIns="0" rIns="0" bIns="0" anchor="t">
            <a:noAutofit/>
          </a:bodyPr>
          <a:lstStyle/>
          <a:p>
            <a:pPr>
              <a:defRPr sz="1725" b="0">
                <a:solidFill>
                  <a:srgbClr val="A8BBC5"/>
                </a:solidFill>
                <a:latin typeface="Arial"/>
                <a:ea typeface="Arial"/>
                <a:cs typeface="Arial"/>
              </a:defRPr>
            </a:pPr>
            <a:r>
              <a:rPr sz="1725" b="0">
                <a:solidFill>
                  <a:srgbClr val="A8BBC5"/>
                </a:solidFill>
                <a:latin typeface="Arial"/>
                <a:ea typeface="Arial"/>
                <a:cs typeface="Arial"/>
              </a:rPr>
              <a:t>Commerce Department</a:t>
            </a:r>
          </a:p>
          <a:p>
            <a:pPr>
              <a:defRPr sz="1725" b="0">
                <a:solidFill>
                  <a:srgbClr val="A8BBC5"/>
                </a:solidFill>
                <a:latin typeface="Arial"/>
                <a:ea typeface="Arial"/>
                <a:cs typeface="Arial"/>
              </a:defRPr>
            </a:pPr>
            <a:r>
              <a:rPr sz="1725" b="0">
                <a:solidFill>
                  <a:srgbClr val="A8BBC5"/>
                </a:solidFill>
                <a:latin typeface="Arial"/>
                <a:ea typeface="Arial"/>
                <a:cs typeface="Arial"/>
              </a:rPr>
              <a:t>Commercial / dual-use</a:t>
            </a:r>
          </a:p>
        </p:txBody>
      </p:sp>
      <p:sp>
        <p:nvSpPr>
          <p:cNvPr id="18" name="text-110">
            <a:extLst>
              <a:ext uri="{FF2B5EF4-FFF2-40B4-BE49-F238E27FC236}">
                <a16:creationId xmlns:a16="http://schemas.microsoft.com/office/drawing/2014/main" id="{7FAD6C92-8B26-4B7B-A5CD-E42AEF719942}"/>
              </a:ext>
            </a:extLst>
          </p:cNvPr>
          <p:cNvSpPr>
            <a:spLocks noGrp="1"/>
          </p:cNvSpPr>
          <p:nvPr/>
        </p:nvSpPr>
        <p:spPr>
          <a:xfrm>
            <a:off x="6705600" y="4105275"/>
            <a:ext cx="4876800" cy="1028700"/>
          </a:xfrm>
          <a:prstGeom prst="rect">
            <a:avLst/>
          </a:prstGeom>
          <a:noFill/>
          <a:ln w="0">
            <a:noFill/>
          </a:ln>
        </p:spPr>
        <p:txBody>
          <a:bodyPr wrap="square" lIns="0" tIns="0" rIns="0" bIns="0" anchor="t">
            <a:noAutofit/>
          </a:bodyPr>
          <a:lstStyle/>
          <a:p>
            <a:pPr>
              <a:defRPr sz="2025" b="0">
                <a:solidFill>
                  <a:srgbClr val="F3F4ED"/>
                </a:solidFill>
                <a:latin typeface="Arial"/>
                <a:ea typeface="Arial"/>
                <a:cs typeface="Arial"/>
              </a:defRPr>
            </a:pPr>
            <a:r>
              <a:rPr sz="2025" b="0">
                <a:solidFill>
                  <a:srgbClr val="F3F4ED"/>
                </a:solidFill>
                <a:latin typeface="Arial"/>
                <a:ea typeface="Arial"/>
                <a:cs typeface="Arial"/>
              </a:rPr>
              <a:t>A 2022 government briefing flagged</a:t>
            </a:r>
          </a:p>
          <a:p>
            <a:pPr>
              <a:defRPr sz="2025" b="0">
                <a:solidFill>
                  <a:srgbClr val="F3F4ED"/>
                </a:solidFill>
                <a:latin typeface="Arial"/>
                <a:ea typeface="Arial"/>
                <a:cs typeface="Arial"/>
              </a:defRPr>
            </a:pPr>
            <a:r>
              <a:rPr sz="2025" b="0">
                <a:solidFill>
                  <a:srgbClr val="F3F4ED"/>
                </a:solidFill>
                <a:latin typeface="Arial"/>
                <a:ea typeface="Arial"/>
                <a:cs typeface="Arial"/>
              </a:rPr>
              <a:t>possible over-control of commercial</a:t>
            </a:r>
          </a:p>
          <a:p>
            <a:pPr>
              <a:defRPr sz="2025" b="0">
                <a:solidFill>
                  <a:srgbClr val="F3F4ED"/>
                </a:solidFill>
                <a:latin typeface="Arial"/>
                <a:ea typeface="Arial"/>
                <a:cs typeface="Arial"/>
              </a:defRPr>
            </a:pPr>
            <a:r>
              <a:rPr sz="2025" b="0">
                <a:solidFill>
                  <a:srgbClr val="F3F4ED"/>
                </a:solidFill>
                <a:latin typeface="Arial"/>
                <a:ea typeface="Arial"/>
                <a:cs typeface="Arial"/>
              </a:rPr>
              <a:t>LEO PNT spacecraft.</a:t>
            </a:r>
          </a:p>
        </p:txBody>
      </p:sp>
      <p:sp>
        <p:nvSpPr>
          <p:cNvPr id="19" name="text-111">
            <a:extLst>
              <a:ext uri="{FF2B5EF4-FFF2-40B4-BE49-F238E27FC236}">
                <a16:creationId xmlns:a16="http://schemas.microsoft.com/office/drawing/2014/main" id="{C6D91726-E191-49F2-87C0-CCDCB08F78CE}"/>
              </a:ext>
            </a:extLst>
          </p:cNvPr>
          <p:cNvSpPr>
            <a:spLocks noGrp="1"/>
          </p:cNvSpPr>
          <p:nvPr/>
        </p:nvSpPr>
        <p:spPr>
          <a:xfrm>
            <a:off x="6705600" y="5410200"/>
            <a:ext cx="4876800" cy="619125"/>
          </a:xfrm>
          <a:prstGeom prst="rect">
            <a:avLst/>
          </a:prstGeom>
          <a:noFill/>
          <a:ln w="0">
            <a:noFill/>
          </a:ln>
        </p:spPr>
        <p:txBody>
          <a:bodyPr wrap="square" lIns="0" tIns="0" rIns="0" bIns="0" anchor="t">
            <a:noAutofit/>
          </a:bodyPr>
          <a:lstStyle/>
          <a:p>
            <a:pPr>
              <a:defRPr sz="1725" b="0">
                <a:solidFill>
                  <a:srgbClr val="E7B77D"/>
                </a:solidFill>
                <a:latin typeface="Arial"/>
                <a:ea typeface="Arial"/>
                <a:cs typeface="Arial"/>
              </a:defRPr>
            </a:pPr>
            <a:r>
              <a:rPr sz="1725" b="0">
                <a:solidFill>
                  <a:srgbClr val="E7B77D"/>
                </a:solidFill>
                <a:latin typeface="Arial"/>
                <a:ea typeface="Arial"/>
                <a:cs typeface="Arial"/>
              </a:rPr>
              <a:t>STL’s specific license and receiver</a:t>
            </a:r>
          </a:p>
          <a:p>
            <a:pPr>
              <a:defRPr sz="1725" b="0">
                <a:solidFill>
                  <a:srgbClr val="E7B77D"/>
                </a:solidFill>
                <a:latin typeface="Arial"/>
                <a:ea typeface="Arial"/>
                <a:cs typeface="Arial"/>
              </a:defRPr>
            </a:pPr>
            <a:r>
              <a:rPr sz="1725" b="0">
                <a:solidFill>
                  <a:srgbClr val="E7B77D"/>
                </a:solidFill>
                <a:latin typeface="Arial"/>
                <a:ea typeface="Arial"/>
                <a:cs typeface="Arial"/>
              </a:rPr>
              <a:t>classification are not established here.</a:t>
            </a:r>
          </a:p>
        </p:txBody>
      </p:sp>
    </p:spTree>
    <p:extLst>
      <p:ext uri="{BB962C8B-B14F-4D97-AF65-F5344CB8AC3E}">
        <p14:creationId xmlns:p14="http://schemas.microsoft.com/office/powerpoint/2010/main" val="330915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20" name="text-112">
            <a:extLst>
              <a:ext uri="{FF2B5EF4-FFF2-40B4-BE49-F238E27FC236}">
                <a16:creationId xmlns:a16="http://schemas.microsoft.com/office/drawing/2014/main" id="{9A15085D-7ED5-47A2-B802-5BEE70D6D834}"/>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Dual-use applications</a:t>
            </a:r>
          </a:p>
        </p:txBody>
      </p:sp>
      <p:sp>
        <p:nvSpPr>
          <p:cNvPr id="2" name="text-113">
            <a:extLst>
              <a:ext uri="{FF2B5EF4-FFF2-40B4-BE49-F238E27FC236}">
                <a16:creationId xmlns:a16="http://schemas.microsoft.com/office/drawing/2014/main" id="{08CE1F3C-480A-4CD0-AF06-1235F56C805F}"/>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6  /  Classification, evidence, and the trajectory of use</a:t>
            </a:r>
          </a:p>
        </p:txBody>
      </p:sp>
      <p:sp>
        <p:nvSpPr>
          <p:cNvPr id="3" name="rule-114">
            <a:extLst>
              <a:ext uri="{FF2B5EF4-FFF2-40B4-BE49-F238E27FC236}">
                <a16:creationId xmlns:a16="http://schemas.microsoft.com/office/drawing/2014/main" id="{BC4D465E-EA1B-4359-8BBE-31E6378192B8}"/>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115">
            <a:extLst>
              <a:ext uri="{FF2B5EF4-FFF2-40B4-BE49-F238E27FC236}">
                <a16:creationId xmlns:a16="http://schemas.microsoft.com/office/drawing/2014/main" id="{A0A49751-ADE5-4D9C-ADEF-9C1A939B3BB6}"/>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Applications   /   Zhou / Li / Miao   /   28 Sep 2026</a:t>
            </a:r>
          </a:p>
        </p:txBody>
      </p:sp>
      <p:sp>
        <p:nvSpPr>
          <p:cNvPr id="5" name="text-116">
            <a:extLst>
              <a:ext uri="{FF2B5EF4-FFF2-40B4-BE49-F238E27FC236}">
                <a16:creationId xmlns:a16="http://schemas.microsoft.com/office/drawing/2014/main" id="{DF182F72-1622-4944-9961-AA0718BEA18D}"/>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08</a:t>
            </a:r>
          </a:p>
        </p:txBody>
      </p:sp>
      <p:sp>
        <p:nvSpPr>
          <p:cNvPr id="6" name="text-117">
            <a:extLst>
              <a:ext uri="{FF2B5EF4-FFF2-40B4-BE49-F238E27FC236}">
                <a16:creationId xmlns:a16="http://schemas.microsoft.com/office/drawing/2014/main" id="{76870904-01A2-46D7-814E-27787B170DCA}"/>
              </a:ext>
            </a:extLst>
          </p:cNvPr>
          <p:cNvSpPr>
            <a:spLocks noGrp="1"/>
          </p:cNvSpPr>
          <p:nvPr/>
        </p:nvSpPr>
        <p:spPr>
          <a:xfrm>
            <a:off x="609600" y="2085975"/>
            <a:ext cx="4953000" cy="704850"/>
          </a:xfrm>
          <a:prstGeom prst="rect">
            <a:avLst/>
          </a:prstGeom>
          <a:noFill/>
          <a:ln w="0">
            <a:noFill/>
          </a:ln>
        </p:spPr>
        <p:txBody>
          <a:bodyPr wrap="square" lIns="0" tIns="0" rIns="0" bIns="0" anchor="t">
            <a:noAutofit/>
          </a:bodyPr>
          <a:lstStyle/>
          <a:p>
            <a:pPr>
              <a:defRPr sz="4425" b="1">
                <a:solidFill>
                  <a:srgbClr val="6EDFC3"/>
                </a:solidFill>
                <a:latin typeface="Arial"/>
                <a:ea typeface="Arial"/>
                <a:cs typeface="Arial"/>
              </a:defRPr>
            </a:pPr>
            <a:r>
              <a:rPr sz="4425" b="1">
                <a:solidFill>
                  <a:srgbClr val="6EDFC3"/>
                </a:solidFill>
                <a:latin typeface="Arial"/>
                <a:ea typeface="Arial"/>
                <a:cs typeface="Arial"/>
              </a:rPr>
              <a:t>DUAL-USE</a:t>
            </a:r>
          </a:p>
        </p:txBody>
      </p:sp>
      <p:sp>
        <p:nvSpPr>
          <p:cNvPr id="7" name="text-118">
            <a:extLst>
              <a:ext uri="{FF2B5EF4-FFF2-40B4-BE49-F238E27FC236}">
                <a16:creationId xmlns:a16="http://schemas.microsoft.com/office/drawing/2014/main" id="{75C333E8-3331-4B73-9D13-DC1CB5EA4AD7}"/>
              </a:ext>
            </a:extLst>
          </p:cNvPr>
          <p:cNvSpPr>
            <a:spLocks noGrp="1"/>
          </p:cNvSpPr>
          <p:nvPr/>
        </p:nvSpPr>
        <p:spPr>
          <a:xfrm>
            <a:off x="609600" y="3152775"/>
            <a:ext cx="5143500" cy="476250"/>
          </a:xfrm>
          <a:prstGeom prst="rect">
            <a:avLst/>
          </a:prstGeom>
          <a:noFill/>
          <a:ln w="0">
            <a:noFill/>
          </a:ln>
        </p:spPr>
        <p:txBody>
          <a:bodyPr wrap="square" lIns="0" tIns="0" rIns="0" bIns="0" anchor="t">
            <a:noAutofit/>
          </a:bodyPr>
          <a:lstStyle/>
          <a:p>
            <a:pPr>
              <a:defRPr sz="2550" b="1">
                <a:solidFill>
                  <a:srgbClr val="F3F4ED"/>
                </a:solidFill>
                <a:latin typeface="Arial"/>
                <a:ea typeface="Arial"/>
                <a:cs typeface="Arial"/>
              </a:defRPr>
            </a:pPr>
            <a:r>
              <a:rPr sz="2550" b="1">
                <a:solidFill>
                  <a:srgbClr val="F3F4ED"/>
                </a:solidFill>
                <a:latin typeface="Arial"/>
                <a:ea typeface="Arial"/>
                <a:cs typeface="Arial"/>
              </a:rPr>
              <a:t>Spin-on trajectory</a:t>
            </a:r>
          </a:p>
        </p:txBody>
      </p:sp>
      <p:sp>
        <p:nvSpPr>
          <p:cNvPr id="8" name="text-119">
            <a:extLst>
              <a:ext uri="{FF2B5EF4-FFF2-40B4-BE49-F238E27FC236}">
                <a16:creationId xmlns:a16="http://schemas.microsoft.com/office/drawing/2014/main" id="{202018D9-25AF-4FCC-ADB7-1759B1BEA1C8}"/>
              </a:ext>
            </a:extLst>
          </p:cNvPr>
          <p:cNvSpPr>
            <a:spLocks noGrp="1"/>
          </p:cNvSpPr>
          <p:nvPr/>
        </p:nvSpPr>
        <p:spPr>
          <a:xfrm>
            <a:off x="609600" y="3857625"/>
            <a:ext cx="5191125" cy="1190625"/>
          </a:xfrm>
          <a:prstGeom prst="rect">
            <a:avLst/>
          </a:prstGeom>
          <a:noFill/>
          <a:ln w="0">
            <a:noFill/>
          </a:ln>
        </p:spPr>
        <p:txBody>
          <a:bodyPr wrap="square" lIns="0" tIns="0" rIns="0" bIns="0" anchor="t">
            <a:noAutofit/>
          </a:bodyPr>
          <a:lstStyle/>
          <a:p>
            <a:pPr>
              <a:defRPr sz="2250" b="0">
                <a:solidFill>
                  <a:srgbClr val="A8BBC5"/>
                </a:solidFill>
                <a:latin typeface="Arial"/>
                <a:ea typeface="Arial"/>
                <a:cs typeface="Arial"/>
              </a:defRPr>
            </a:pPr>
            <a:r>
              <a:rPr sz="2250" b="0">
                <a:solidFill>
                  <a:srgbClr val="A8BBC5"/>
                </a:solidFill>
                <a:latin typeface="Arial"/>
                <a:ea typeface="Arial"/>
                <a:cs typeface="Arial"/>
              </a:rPr>
              <a:t>Commercial communications</a:t>
            </a:r>
          </a:p>
          <a:p>
            <a:pPr>
              <a:defRPr sz="2250" b="0">
                <a:solidFill>
                  <a:srgbClr val="A8BBC5"/>
                </a:solidFill>
                <a:latin typeface="Arial"/>
                <a:ea typeface="Arial"/>
                <a:cs typeface="Arial"/>
              </a:defRPr>
            </a:pPr>
            <a:r>
              <a:rPr sz="2250" b="0">
                <a:solidFill>
                  <a:srgbClr val="A8BBC5"/>
                </a:solidFill>
                <a:latin typeface="Arial"/>
                <a:ea typeface="Arial"/>
                <a:cs typeface="Arial"/>
              </a:rPr>
              <a:t>becomes a timing capability for</a:t>
            </a:r>
          </a:p>
          <a:p>
            <a:pPr>
              <a:defRPr sz="2250" b="0">
                <a:solidFill>
                  <a:srgbClr val="A8BBC5"/>
                </a:solidFill>
                <a:latin typeface="Arial"/>
                <a:ea typeface="Arial"/>
                <a:cs typeface="Arial"/>
              </a:defRPr>
            </a:pPr>
            <a:r>
              <a:rPr sz="2250" b="0">
                <a:solidFill>
                  <a:srgbClr val="A8BBC5"/>
                </a:solidFill>
                <a:latin typeface="Arial"/>
                <a:ea typeface="Arial"/>
                <a:cs typeface="Arial"/>
              </a:rPr>
              <a:t>civil infrastructure and security users.</a:t>
            </a:r>
          </a:p>
        </p:txBody>
      </p:sp>
      <p:sp>
        <p:nvSpPr>
          <p:cNvPr id="9" name="text-120">
            <a:extLst>
              <a:ext uri="{FF2B5EF4-FFF2-40B4-BE49-F238E27FC236}">
                <a16:creationId xmlns:a16="http://schemas.microsoft.com/office/drawing/2014/main" id="{0C22B4BF-31CD-4D3D-BAC0-EA264B9215EF}"/>
              </a:ext>
            </a:extLst>
          </p:cNvPr>
          <p:cNvSpPr>
            <a:spLocks noGrp="1"/>
          </p:cNvSpPr>
          <p:nvPr/>
        </p:nvSpPr>
        <p:spPr>
          <a:xfrm>
            <a:off x="609600" y="5524500"/>
            <a:ext cx="5191125" cy="650000"/>
          </a:xfrm>
          <a:prstGeom prst="rect">
            <a:avLst/>
          </a:prstGeom>
          <a:noFill/>
          <a:ln w="0">
            <a:noFill/>
          </a:ln>
        </p:spPr>
        <p:txBody>
          <a:bodyPr wrap="square" lIns="0" tIns="0" rIns="0" bIns="0" anchor="t">
            <a:noAutofit/>
          </a:bodyPr>
          <a:lstStyle/>
          <a:p>
            <a:pPr>
              <a:defRPr sz="1875" b="0">
                <a:solidFill>
                  <a:srgbClr val="E7B77D"/>
                </a:solidFill>
                <a:latin typeface="Arial"/>
                <a:ea typeface="Arial"/>
                <a:cs typeface="Arial"/>
              </a:defRPr>
            </a:pPr>
            <a:r>
              <a:rPr sz="1875" b="0">
                <a:solidFill>
                  <a:srgbClr val="E7B77D"/>
                </a:solidFill>
                <a:latin typeface="Arial"/>
              </a:rPr>
              <a:t>A specialized complement to GPS — not a general-purpose technology</a:t>
            </a:r>
          </a:p>
        </p:txBody>
      </p:sp>
      <p:sp>
        <p:nvSpPr>
          <p:cNvPr id="10" name="text-121">
            <a:extLst>
              <a:ext uri="{FF2B5EF4-FFF2-40B4-BE49-F238E27FC236}">
                <a16:creationId xmlns:a16="http://schemas.microsoft.com/office/drawing/2014/main" id="{7D59C1EE-9C2F-4961-9D60-015D175D1EFB}"/>
              </a:ext>
            </a:extLst>
          </p:cNvPr>
          <p:cNvSpPr>
            <a:spLocks noGrp="1"/>
          </p:cNvSpPr>
          <p:nvPr/>
        </p:nvSpPr>
        <p:spPr>
          <a:xfrm>
            <a:off x="6534150" y="2085975"/>
            <a:ext cx="990600" cy="400050"/>
          </a:xfrm>
          <a:prstGeom prst="rect">
            <a:avLst/>
          </a:prstGeom>
          <a:noFill/>
          <a:ln w="0">
            <a:noFill/>
          </a:ln>
        </p:spPr>
        <p:txBody>
          <a:bodyPr wrap="square" lIns="0" tIns="0" rIns="0" bIns="0" anchor="t">
            <a:noAutofit/>
          </a:bodyPr>
          <a:lstStyle/>
          <a:p>
            <a:pPr>
              <a:defRPr sz="2325" b="1">
                <a:solidFill>
                  <a:srgbClr val="6EDFC3"/>
                </a:solidFill>
                <a:latin typeface="Arial"/>
                <a:ea typeface="Arial"/>
                <a:cs typeface="Arial"/>
              </a:defRPr>
            </a:pPr>
            <a:r>
              <a:rPr sz="2325" b="1">
                <a:solidFill>
                  <a:srgbClr val="6EDFC3"/>
                </a:solidFill>
                <a:latin typeface="Arial"/>
                <a:ea typeface="Arial"/>
                <a:cs typeface="Arial"/>
              </a:rPr>
              <a:t>2016</a:t>
            </a:r>
          </a:p>
        </p:txBody>
      </p:sp>
      <p:sp>
        <p:nvSpPr>
          <p:cNvPr id="11" name="text-122">
            <a:extLst>
              <a:ext uri="{FF2B5EF4-FFF2-40B4-BE49-F238E27FC236}">
                <a16:creationId xmlns:a16="http://schemas.microsoft.com/office/drawing/2014/main" id="{7A1D2370-8A75-424C-B95D-E0F02EDCC78E}"/>
              </a:ext>
            </a:extLst>
          </p:cNvPr>
          <p:cNvSpPr>
            <a:spLocks noGrp="1"/>
          </p:cNvSpPr>
          <p:nvPr/>
        </p:nvSpPr>
        <p:spPr>
          <a:xfrm>
            <a:off x="7667625" y="2085975"/>
            <a:ext cx="3895725" cy="628650"/>
          </a:xfrm>
          <a:prstGeom prst="rect">
            <a:avLst/>
          </a:prstGeom>
          <a:noFill/>
          <a:ln w="0">
            <a:noFill/>
          </a:ln>
        </p:spPr>
        <p:txBody>
          <a:bodyPr wrap="square" lIns="0" tIns="0" rIns="0" bIns="0" anchor="t">
            <a:noAutofit/>
          </a:bodyPr>
          <a:lstStyle/>
          <a:p>
            <a:pPr>
              <a:defRPr sz="1950" b="1">
                <a:solidFill>
                  <a:srgbClr val="F3F4ED"/>
                </a:solidFill>
                <a:latin typeface="Arial"/>
                <a:ea typeface="Arial"/>
                <a:cs typeface="Arial"/>
              </a:defRPr>
            </a:pPr>
            <a:r>
              <a:rPr sz="1950" b="1">
                <a:solidFill>
                  <a:srgbClr val="F3F4ED"/>
                </a:solidFill>
                <a:latin typeface="Arial"/>
                <a:ea typeface="Arial"/>
                <a:cs typeface="Arial"/>
              </a:rPr>
              <a:t>Military and commercial demonstrations</a:t>
            </a:r>
          </a:p>
        </p:txBody>
      </p:sp>
      <p:sp>
        <p:nvSpPr>
          <p:cNvPr id="12" name="text-123">
            <a:extLst>
              <a:ext uri="{FF2B5EF4-FFF2-40B4-BE49-F238E27FC236}">
                <a16:creationId xmlns:a16="http://schemas.microsoft.com/office/drawing/2014/main" id="{A415F388-352E-44A4-A85F-46FE3C7C652B}"/>
              </a:ext>
            </a:extLst>
          </p:cNvPr>
          <p:cNvSpPr>
            <a:spLocks noGrp="1"/>
          </p:cNvSpPr>
          <p:nvPr/>
        </p:nvSpPr>
        <p:spPr>
          <a:xfrm>
            <a:off x="7667625" y="2771775"/>
            <a:ext cx="3895725" cy="45720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Reported at commercial launch</a:t>
            </a:r>
          </a:p>
        </p:txBody>
      </p:sp>
      <p:sp>
        <p:nvSpPr>
          <p:cNvPr id="13" name="text-124">
            <a:extLst>
              <a:ext uri="{FF2B5EF4-FFF2-40B4-BE49-F238E27FC236}">
                <a16:creationId xmlns:a16="http://schemas.microsoft.com/office/drawing/2014/main" id="{FDBFED78-5055-4707-B59F-8C14A0AB11FB}"/>
              </a:ext>
            </a:extLst>
          </p:cNvPr>
          <p:cNvSpPr>
            <a:spLocks noGrp="1"/>
          </p:cNvSpPr>
          <p:nvPr/>
        </p:nvSpPr>
        <p:spPr>
          <a:xfrm>
            <a:off x="6534150" y="3352800"/>
            <a:ext cx="990600" cy="400050"/>
          </a:xfrm>
          <a:prstGeom prst="rect">
            <a:avLst/>
          </a:prstGeom>
          <a:noFill/>
          <a:ln w="0">
            <a:noFill/>
          </a:ln>
        </p:spPr>
        <p:txBody>
          <a:bodyPr wrap="square" lIns="0" tIns="0" rIns="0" bIns="0" anchor="t">
            <a:noAutofit/>
          </a:bodyPr>
          <a:lstStyle/>
          <a:p>
            <a:pPr>
              <a:defRPr sz="2325" b="1">
                <a:solidFill>
                  <a:srgbClr val="6EDFC3"/>
                </a:solidFill>
                <a:latin typeface="Arial"/>
                <a:ea typeface="Arial"/>
                <a:cs typeface="Arial"/>
              </a:defRPr>
            </a:pPr>
            <a:r>
              <a:rPr sz="2325" b="1">
                <a:solidFill>
                  <a:srgbClr val="6EDFC3"/>
                </a:solidFill>
                <a:latin typeface="Arial"/>
                <a:ea typeface="Arial"/>
                <a:cs typeface="Arial"/>
              </a:rPr>
              <a:t>2023</a:t>
            </a:r>
          </a:p>
        </p:txBody>
      </p:sp>
      <p:sp>
        <p:nvSpPr>
          <p:cNvPr id="14" name="text-125">
            <a:extLst>
              <a:ext uri="{FF2B5EF4-FFF2-40B4-BE49-F238E27FC236}">
                <a16:creationId xmlns:a16="http://schemas.microsoft.com/office/drawing/2014/main" id="{C58D789D-C233-4F1D-BAB9-E92271FEBF20}"/>
              </a:ext>
            </a:extLst>
          </p:cNvPr>
          <p:cNvSpPr>
            <a:spLocks noGrp="1"/>
          </p:cNvSpPr>
          <p:nvPr/>
        </p:nvSpPr>
        <p:spPr>
          <a:xfrm>
            <a:off x="7667625" y="3352800"/>
            <a:ext cx="3895725" cy="628650"/>
          </a:xfrm>
          <a:prstGeom prst="rect">
            <a:avLst/>
          </a:prstGeom>
          <a:noFill/>
          <a:ln w="0">
            <a:noFill/>
          </a:ln>
        </p:spPr>
        <p:txBody>
          <a:bodyPr wrap="square" lIns="0" tIns="0" rIns="0" bIns="0" anchor="t">
            <a:noAutofit/>
          </a:bodyPr>
          <a:lstStyle/>
          <a:p>
            <a:pPr>
              <a:defRPr sz="1950" b="1">
                <a:solidFill>
                  <a:srgbClr val="F3F4ED"/>
                </a:solidFill>
                <a:latin typeface="Arial"/>
                <a:ea typeface="Arial"/>
                <a:cs typeface="Arial"/>
              </a:defRPr>
            </a:pPr>
            <a:r>
              <a:rPr sz="1950" b="1">
                <a:solidFill>
                  <a:srgbClr val="F3F4ED"/>
                </a:solidFill>
                <a:latin typeface="Arial"/>
                <a:ea typeface="Arial"/>
                <a:cs typeface="Arial"/>
              </a:rPr>
              <a:t>Independent timing measurements</a:t>
            </a:r>
          </a:p>
        </p:txBody>
      </p:sp>
      <p:sp>
        <p:nvSpPr>
          <p:cNvPr id="15" name="text-126">
            <a:extLst>
              <a:ext uri="{FF2B5EF4-FFF2-40B4-BE49-F238E27FC236}">
                <a16:creationId xmlns:a16="http://schemas.microsoft.com/office/drawing/2014/main" id="{AAAEC2BD-21C0-4ECD-81F1-E725B76C6E62}"/>
              </a:ext>
            </a:extLst>
          </p:cNvPr>
          <p:cNvSpPr>
            <a:spLocks noGrp="1"/>
          </p:cNvSpPr>
          <p:nvPr/>
        </p:nvSpPr>
        <p:spPr>
          <a:xfrm>
            <a:off x="7667625" y="4038600"/>
            <a:ext cx="3895725" cy="45720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NIST tests against UTC(NIST)</a:t>
            </a:r>
          </a:p>
        </p:txBody>
      </p:sp>
      <p:sp>
        <p:nvSpPr>
          <p:cNvPr id="16" name="text-127">
            <a:extLst>
              <a:ext uri="{FF2B5EF4-FFF2-40B4-BE49-F238E27FC236}">
                <a16:creationId xmlns:a16="http://schemas.microsoft.com/office/drawing/2014/main" id="{8AAACB89-06FA-40F3-9A99-F04E29549B7F}"/>
              </a:ext>
            </a:extLst>
          </p:cNvPr>
          <p:cNvSpPr>
            <a:spLocks noGrp="1"/>
          </p:cNvSpPr>
          <p:nvPr/>
        </p:nvSpPr>
        <p:spPr>
          <a:xfrm>
            <a:off x="6534150" y="4619625"/>
            <a:ext cx="990600" cy="400050"/>
          </a:xfrm>
          <a:prstGeom prst="rect">
            <a:avLst/>
          </a:prstGeom>
          <a:noFill/>
          <a:ln w="0">
            <a:noFill/>
          </a:ln>
        </p:spPr>
        <p:txBody>
          <a:bodyPr wrap="square" lIns="0" tIns="0" rIns="0" bIns="0" anchor="t">
            <a:noAutofit/>
          </a:bodyPr>
          <a:lstStyle/>
          <a:p>
            <a:pPr>
              <a:defRPr sz="2325" b="1">
                <a:solidFill>
                  <a:srgbClr val="6EDFC3"/>
                </a:solidFill>
                <a:latin typeface="Arial"/>
                <a:ea typeface="Arial"/>
                <a:cs typeface="Arial"/>
              </a:defRPr>
            </a:pPr>
            <a:r>
              <a:rPr sz="2325" b="1">
                <a:solidFill>
                  <a:srgbClr val="6EDFC3"/>
                </a:solidFill>
                <a:latin typeface="Arial"/>
                <a:ea typeface="Arial"/>
                <a:cs typeface="Arial"/>
              </a:rPr>
              <a:t>2024</a:t>
            </a:r>
          </a:p>
        </p:txBody>
      </p:sp>
      <p:sp>
        <p:nvSpPr>
          <p:cNvPr id="17" name="text-128">
            <a:extLst>
              <a:ext uri="{FF2B5EF4-FFF2-40B4-BE49-F238E27FC236}">
                <a16:creationId xmlns:a16="http://schemas.microsoft.com/office/drawing/2014/main" id="{CD0C6371-D23A-4339-A223-327A9B4CC303}"/>
              </a:ext>
            </a:extLst>
          </p:cNvPr>
          <p:cNvSpPr>
            <a:spLocks noGrp="1"/>
          </p:cNvSpPr>
          <p:nvPr/>
        </p:nvSpPr>
        <p:spPr>
          <a:xfrm>
            <a:off x="7667625" y="4619625"/>
            <a:ext cx="3895725" cy="628650"/>
          </a:xfrm>
          <a:prstGeom prst="rect">
            <a:avLst/>
          </a:prstGeom>
          <a:noFill/>
          <a:ln w="0">
            <a:noFill/>
          </a:ln>
        </p:spPr>
        <p:txBody>
          <a:bodyPr wrap="square" lIns="0" tIns="0" rIns="0" bIns="0" anchor="t">
            <a:noAutofit/>
          </a:bodyPr>
          <a:lstStyle/>
          <a:p>
            <a:pPr>
              <a:defRPr sz="1950" b="1">
                <a:solidFill>
                  <a:srgbClr val="F3F4ED"/>
                </a:solidFill>
                <a:latin typeface="Arial"/>
                <a:ea typeface="Arial"/>
                <a:cs typeface="Arial"/>
              </a:defRPr>
            </a:pPr>
            <a:r>
              <a:rPr sz="1950" b="1">
                <a:solidFill>
                  <a:srgbClr val="F3F4ED"/>
                </a:solidFill>
                <a:latin typeface="Arial"/>
                <a:ea typeface="Arial"/>
                <a:cs typeface="Arial"/>
              </a:rPr>
              <a:t>Named civilian infrastructure contract</a:t>
            </a:r>
          </a:p>
        </p:txBody>
      </p:sp>
      <p:sp>
        <p:nvSpPr>
          <p:cNvPr id="18" name="text-129">
            <a:extLst>
              <a:ext uri="{FF2B5EF4-FFF2-40B4-BE49-F238E27FC236}">
                <a16:creationId xmlns:a16="http://schemas.microsoft.com/office/drawing/2014/main" id="{3F811AB3-9240-4B20-AAA1-9BF7CC65917B}"/>
              </a:ext>
            </a:extLst>
          </p:cNvPr>
          <p:cNvSpPr>
            <a:spLocks noGrp="1"/>
          </p:cNvSpPr>
          <p:nvPr/>
        </p:nvSpPr>
        <p:spPr>
          <a:xfrm>
            <a:off x="7667625" y="5305425"/>
            <a:ext cx="3895725" cy="45720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L3Harris communications nodes and FAA facilities</a:t>
            </a:r>
          </a:p>
        </p:txBody>
      </p:sp>
      <p:sp>
        <p:nvSpPr>
          <p:cNvPr id="19" name="text-130">
            <a:extLst>
              <a:ext uri="{FF2B5EF4-FFF2-40B4-BE49-F238E27FC236}">
                <a16:creationId xmlns:a16="http://schemas.microsoft.com/office/drawing/2014/main" id="{581BB11E-51D7-4EA2-A2CE-B86159AFB451}"/>
              </a:ext>
            </a:extLst>
          </p:cNvPr>
          <p:cNvSpPr>
            <a:spLocks noGrp="1"/>
          </p:cNvSpPr>
          <p:nvPr/>
        </p:nvSpPr>
        <p:spPr>
          <a:xfrm>
            <a:off x="6524625" y="5829300"/>
            <a:ext cx="5076825" cy="314325"/>
          </a:xfrm>
          <a:prstGeom prst="rect">
            <a:avLst/>
          </a:prstGeom>
          <a:noFill/>
          <a:ln w="0">
            <a:noFill/>
          </a:ln>
        </p:spPr>
        <p:txBody>
          <a:bodyPr wrap="square" lIns="0" tIns="0" rIns="0" bIns="0" anchor="t">
            <a:noAutofit/>
          </a:bodyPr>
          <a:lstStyle/>
          <a:p>
            <a:pPr>
              <a:defRPr sz="1500" b="0">
                <a:solidFill>
                  <a:srgbClr val="E7B77D"/>
                </a:solidFill>
                <a:latin typeface="Arial"/>
                <a:ea typeface="Arial"/>
                <a:cs typeface="Arial"/>
              </a:defRPr>
            </a:pPr>
            <a:r>
              <a:rPr sz="1500" b="0">
                <a:solidFill>
                  <a:srgbClr val="E7B77D"/>
                </a:solidFill>
                <a:latin typeface="Arial"/>
                <a:ea typeface="Arial"/>
                <a:cs typeface="Arial"/>
              </a:rPr>
              <a:t>Military demonstrations do not establish deployment scale.</a:t>
            </a:r>
          </a:p>
        </p:txBody>
      </p:sp>
    </p:spTree>
    <p:extLst>
      <p:ext uri="{BB962C8B-B14F-4D97-AF65-F5344CB8AC3E}">
        <p14:creationId xmlns:p14="http://schemas.microsoft.com/office/powerpoint/2010/main" val="956488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13" name="text-131">
            <a:extLst>
              <a:ext uri="{FF2B5EF4-FFF2-40B4-BE49-F238E27FC236}">
                <a16:creationId xmlns:a16="http://schemas.microsoft.com/office/drawing/2014/main" id="{AF3767D3-DCDF-4CE2-9F65-8D93FA7850A3}"/>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The FAA case: timing the ground network</a:t>
            </a:r>
          </a:p>
        </p:txBody>
      </p:sp>
      <p:sp>
        <p:nvSpPr>
          <p:cNvPr id="2" name="rule-132">
            <a:extLst>
              <a:ext uri="{FF2B5EF4-FFF2-40B4-BE49-F238E27FC236}">
                <a16:creationId xmlns:a16="http://schemas.microsoft.com/office/drawing/2014/main" id="{BE960829-39B3-4DE1-9756-1709C1F8A894}"/>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3" name="text-133">
            <a:extLst>
              <a:ext uri="{FF2B5EF4-FFF2-40B4-BE49-F238E27FC236}">
                <a16:creationId xmlns:a16="http://schemas.microsoft.com/office/drawing/2014/main" id="{3290FD2C-E13B-493B-B816-A8ACDE1EC594}"/>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FAA case   /   Zhou / Li / Miao   /   28 Sep 2026</a:t>
            </a:r>
          </a:p>
        </p:txBody>
      </p:sp>
      <p:sp>
        <p:nvSpPr>
          <p:cNvPr id="4" name="text-134">
            <a:extLst>
              <a:ext uri="{FF2B5EF4-FFF2-40B4-BE49-F238E27FC236}">
                <a16:creationId xmlns:a16="http://schemas.microsoft.com/office/drawing/2014/main" id="{2BB11671-6376-4F0B-822D-FC5E1CA3B857}"/>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09</a:t>
            </a:r>
          </a:p>
        </p:txBody>
      </p:sp>
      <p:sp>
        <p:nvSpPr>
          <p:cNvPr id="5" name="text-135">
            <a:extLst>
              <a:ext uri="{FF2B5EF4-FFF2-40B4-BE49-F238E27FC236}">
                <a16:creationId xmlns:a16="http://schemas.microsoft.com/office/drawing/2014/main" id="{6C9ADED2-517B-40CC-BE79-8F19DBD73506}"/>
              </a:ext>
            </a:extLst>
          </p:cNvPr>
          <p:cNvSpPr>
            <a:spLocks noGrp="1"/>
          </p:cNvSpPr>
          <p:nvPr/>
        </p:nvSpPr>
        <p:spPr>
          <a:xfrm>
            <a:off x="609600" y="1828800"/>
            <a:ext cx="5124450" cy="1028700"/>
          </a:xfrm>
          <a:prstGeom prst="rect">
            <a:avLst/>
          </a:prstGeom>
          <a:noFill/>
          <a:ln w="0">
            <a:noFill/>
          </a:ln>
        </p:spPr>
        <p:txBody>
          <a:bodyPr wrap="square" lIns="0" tIns="0" rIns="0" bIns="0" anchor="t">
            <a:noAutofit/>
          </a:bodyPr>
          <a:lstStyle/>
          <a:p>
            <a:pPr>
              <a:defRPr sz="6300" b="1">
                <a:solidFill>
                  <a:srgbClr val="6EDFC3"/>
                </a:solidFill>
                <a:latin typeface="Arial"/>
                <a:ea typeface="Arial"/>
                <a:cs typeface="Arial"/>
              </a:defRPr>
            </a:pPr>
            <a:r>
              <a:rPr sz="6300" b="1">
                <a:solidFill>
                  <a:srgbClr val="6EDFC3"/>
                </a:solidFill>
                <a:latin typeface="Arial"/>
                <a:ea typeface="Arial"/>
                <a:cs typeface="Arial"/>
              </a:rPr>
              <a:t>5 years</a:t>
            </a:r>
          </a:p>
        </p:txBody>
      </p:sp>
      <p:sp>
        <p:nvSpPr>
          <p:cNvPr id="6" name="text-136">
            <a:extLst>
              <a:ext uri="{FF2B5EF4-FFF2-40B4-BE49-F238E27FC236}">
                <a16:creationId xmlns:a16="http://schemas.microsoft.com/office/drawing/2014/main" id="{BA4C9367-A521-40CB-A847-550E9CE1F5E0}"/>
              </a:ext>
            </a:extLst>
          </p:cNvPr>
          <p:cNvSpPr>
            <a:spLocks noGrp="1"/>
          </p:cNvSpPr>
          <p:nvPr/>
        </p:nvSpPr>
        <p:spPr>
          <a:xfrm>
            <a:off x="657225" y="2971800"/>
            <a:ext cx="5143500" cy="895350"/>
          </a:xfrm>
          <a:prstGeom prst="rect">
            <a:avLst/>
          </a:prstGeom>
          <a:noFill/>
          <a:ln w="0">
            <a:noFill/>
          </a:ln>
        </p:spPr>
        <p:txBody>
          <a:bodyPr wrap="square" lIns="0" tIns="0" rIns="0" bIns="0" anchor="t">
            <a:noAutofit/>
          </a:bodyPr>
          <a:lstStyle/>
          <a:p>
            <a:pPr>
              <a:defRPr sz="2325" b="0">
                <a:solidFill>
                  <a:srgbClr val="F3F4ED"/>
                </a:solidFill>
                <a:latin typeface="Arial"/>
                <a:ea typeface="Arial"/>
                <a:cs typeface="Arial"/>
              </a:defRPr>
            </a:pPr>
            <a:r>
              <a:rPr sz="2325" b="0">
                <a:solidFill>
                  <a:srgbClr val="F3F4ED"/>
                </a:solidFill>
                <a:latin typeface="Arial"/>
                <a:ea typeface="Arial"/>
                <a:cs typeface="Arial"/>
              </a:rPr>
              <a:t>L3Harris contract announced</a:t>
            </a:r>
          </a:p>
          <a:p>
            <a:pPr>
              <a:defRPr sz="2325" b="0">
                <a:solidFill>
                  <a:srgbClr val="F3F4ED"/>
                </a:solidFill>
                <a:latin typeface="Arial"/>
                <a:ea typeface="Arial"/>
                <a:cs typeface="Arial"/>
              </a:defRPr>
            </a:pPr>
            <a:r>
              <a:rPr sz="2325" b="0">
                <a:solidFill>
                  <a:srgbClr val="F3F4ED"/>
                </a:solidFill>
                <a:latin typeface="Arial"/>
                <a:ea typeface="Arial"/>
                <a:cs typeface="Arial"/>
              </a:rPr>
              <a:t>9 April 2024</a:t>
            </a:r>
          </a:p>
        </p:txBody>
      </p:sp>
      <p:sp>
        <p:nvSpPr>
          <p:cNvPr id="7" name="text-137">
            <a:extLst>
              <a:ext uri="{FF2B5EF4-FFF2-40B4-BE49-F238E27FC236}">
                <a16:creationId xmlns:a16="http://schemas.microsoft.com/office/drawing/2014/main" id="{68CDBF5D-6740-4C0D-A53E-AA15FE5208E4}"/>
              </a:ext>
            </a:extLst>
          </p:cNvPr>
          <p:cNvSpPr>
            <a:spLocks noGrp="1"/>
          </p:cNvSpPr>
          <p:nvPr/>
        </p:nvSpPr>
        <p:spPr>
          <a:xfrm>
            <a:off x="609600" y="4410075"/>
            <a:ext cx="5305425" cy="857250"/>
          </a:xfrm>
          <a:prstGeom prst="rect">
            <a:avLst/>
          </a:prstGeom>
          <a:noFill/>
          <a:ln w="0">
            <a:noFill/>
          </a:ln>
        </p:spPr>
        <p:txBody>
          <a:bodyPr wrap="square" lIns="0" tIns="0" rIns="0" bIns="0" anchor="t">
            <a:noAutofit/>
          </a:bodyPr>
          <a:lstStyle/>
          <a:p>
            <a:pPr>
              <a:defRPr sz="4800" b="1">
                <a:solidFill>
                  <a:srgbClr val="F3F4ED"/>
                </a:solidFill>
                <a:latin typeface="Arial"/>
                <a:ea typeface="Arial"/>
                <a:cs typeface="Arial"/>
              </a:defRPr>
            </a:pPr>
            <a:r>
              <a:rPr sz="4800" b="1">
                <a:solidFill>
                  <a:srgbClr val="F3F4ED"/>
                </a:solidFill>
                <a:latin typeface="Arial"/>
                <a:ea typeface="Arial"/>
                <a:cs typeface="Arial"/>
              </a:rPr>
              <a:t>&gt;36 nodes</a:t>
            </a:r>
          </a:p>
        </p:txBody>
      </p:sp>
      <p:sp>
        <p:nvSpPr>
          <p:cNvPr id="8" name="text-138">
            <a:extLst>
              <a:ext uri="{FF2B5EF4-FFF2-40B4-BE49-F238E27FC236}">
                <a16:creationId xmlns:a16="http://schemas.microsoft.com/office/drawing/2014/main" id="{64D719C0-3F81-402A-BAEE-04B002EC5BDB}"/>
              </a:ext>
            </a:extLst>
          </p:cNvPr>
          <p:cNvSpPr>
            <a:spLocks noGrp="1"/>
          </p:cNvSpPr>
          <p:nvPr/>
        </p:nvSpPr>
        <p:spPr>
          <a:xfrm>
            <a:off x="657225" y="5410200"/>
            <a:ext cx="5219700" cy="676275"/>
          </a:xfrm>
          <a:prstGeom prst="rect">
            <a:avLst/>
          </a:prstGeom>
          <a:noFill/>
          <a:ln w="0">
            <a:noFill/>
          </a:ln>
        </p:spPr>
        <p:txBody>
          <a:bodyPr wrap="square" lIns="0" tIns="0" rIns="0" bIns="0" anchor="t">
            <a:noAutofit/>
          </a:bodyPr>
          <a:lstStyle/>
          <a:p>
            <a:pPr>
              <a:defRPr sz="1875" b="0">
                <a:solidFill>
                  <a:srgbClr val="A8BBC5"/>
                </a:solidFill>
                <a:latin typeface="Arial"/>
                <a:ea typeface="Arial"/>
                <a:cs typeface="Arial"/>
              </a:defRPr>
            </a:pPr>
            <a:r>
              <a:rPr sz="1875" b="0">
                <a:solidFill>
                  <a:srgbClr val="A8BBC5"/>
                </a:solidFill>
                <a:latin typeface="Arial"/>
                <a:ea typeface="Arial"/>
                <a:cs typeface="Arial"/>
              </a:rPr>
              <a:t>Plus a similar number of FAA facilities</a:t>
            </a:r>
          </a:p>
        </p:txBody>
      </p:sp>
      <p:sp>
        <p:nvSpPr>
          <p:cNvPr id="9" name="text-139">
            <a:extLst>
              <a:ext uri="{FF2B5EF4-FFF2-40B4-BE49-F238E27FC236}">
                <a16:creationId xmlns:a16="http://schemas.microsoft.com/office/drawing/2014/main" id="{E57F2D19-DDF0-48AA-AF08-C1D40332EA8E}"/>
              </a:ext>
            </a:extLst>
          </p:cNvPr>
          <p:cNvSpPr>
            <a:spLocks noGrp="1"/>
          </p:cNvSpPr>
          <p:nvPr/>
        </p:nvSpPr>
        <p:spPr>
          <a:xfrm>
            <a:off x="6705600" y="1914525"/>
            <a:ext cx="4876800" cy="457200"/>
          </a:xfrm>
          <a:prstGeom prst="rect">
            <a:avLst/>
          </a:prstGeom>
          <a:noFill/>
          <a:ln w="0">
            <a:noFill/>
          </a:ln>
        </p:spPr>
        <p:txBody>
          <a:bodyPr wrap="square" lIns="0" tIns="0" rIns="0" bIns="0" anchor="t">
            <a:noAutofit/>
          </a:bodyPr>
          <a:lstStyle/>
          <a:p>
            <a:pPr>
              <a:defRPr sz="2325" b="1">
                <a:solidFill>
                  <a:srgbClr val="F3F4ED"/>
                </a:solidFill>
                <a:latin typeface="Arial"/>
                <a:ea typeface="Arial"/>
                <a:cs typeface="Arial"/>
              </a:defRPr>
            </a:pPr>
            <a:r>
              <a:rPr sz="2325" b="1">
                <a:solidFill>
                  <a:srgbClr val="F3F4ED"/>
                </a:solidFill>
                <a:latin typeface="Arial"/>
                <a:ea typeface="Arial"/>
                <a:cs typeface="Arial"/>
              </a:rPr>
              <a:t>What the service supports</a:t>
            </a:r>
          </a:p>
        </p:txBody>
      </p:sp>
      <p:sp>
        <p:nvSpPr>
          <p:cNvPr id="10" name="text-140">
            <a:extLst>
              <a:ext uri="{FF2B5EF4-FFF2-40B4-BE49-F238E27FC236}">
                <a16:creationId xmlns:a16="http://schemas.microsoft.com/office/drawing/2014/main" id="{E0AB5382-EDB9-4302-8181-D2FB84D94B96}"/>
              </a:ext>
            </a:extLst>
          </p:cNvPr>
          <p:cNvSpPr>
            <a:spLocks noGrp="1"/>
          </p:cNvSpPr>
          <p:nvPr/>
        </p:nvSpPr>
        <p:spPr>
          <a:xfrm>
            <a:off x="6705600" y="2628900"/>
            <a:ext cx="4876800" cy="1304925"/>
          </a:xfrm>
          <a:prstGeom prst="rect">
            <a:avLst/>
          </a:prstGeom>
          <a:noFill/>
          <a:ln w="0">
            <a:noFill/>
          </a:ln>
        </p:spPr>
        <p:txBody>
          <a:bodyPr wrap="square" lIns="0" tIns="0" rIns="0" bIns="0" anchor="t">
            <a:noAutofit/>
          </a:bodyPr>
          <a:lstStyle/>
          <a:p>
            <a:pPr>
              <a:defRPr sz="2550" b="0">
                <a:solidFill>
                  <a:srgbClr val="F3F4ED"/>
                </a:solidFill>
                <a:latin typeface="Arial"/>
                <a:ea typeface="Arial"/>
                <a:cs typeface="Arial"/>
              </a:defRPr>
            </a:pPr>
            <a:r>
              <a:rPr sz="2550" b="0">
                <a:solidFill>
                  <a:srgbClr val="F3F4ED"/>
                </a:solidFill>
                <a:latin typeface="Arial"/>
                <a:ea typeface="Arial"/>
                <a:cs typeface="Arial"/>
              </a:rPr>
              <a:t>Synchronization of a U.S.</a:t>
            </a:r>
          </a:p>
          <a:p>
            <a:pPr>
              <a:defRPr sz="2550" b="0">
                <a:solidFill>
                  <a:srgbClr val="F3F4ED"/>
                </a:solidFill>
                <a:latin typeface="Arial"/>
                <a:ea typeface="Arial"/>
                <a:cs typeface="Arial"/>
              </a:defRPr>
            </a:pPr>
            <a:r>
              <a:rPr sz="2550" b="0">
                <a:solidFill>
                  <a:srgbClr val="F3F4ED"/>
                </a:solidFill>
                <a:latin typeface="Arial"/>
                <a:ea typeface="Arial"/>
                <a:cs typeface="Arial"/>
              </a:rPr>
              <a:t>communications backbone</a:t>
            </a:r>
          </a:p>
          <a:p>
            <a:pPr>
              <a:defRPr sz="2550" b="0">
                <a:solidFill>
                  <a:srgbClr val="F3F4ED"/>
                </a:solidFill>
                <a:latin typeface="Arial"/>
                <a:ea typeface="Arial"/>
                <a:cs typeface="Arial"/>
              </a:defRPr>
            </a:pPr>
            <a:r>
              <a:rPr sz="2550" b="0">
                <a:solidFill>
                  <a:srgbClr val="F3F4ED"/>
                </a:solidFill>
                <a:latin typeface="Arial"/>
                <a:ea typeface="Arial"/>
                <a:cs typeface="Arial"/>
              </a:rPr>
              <a:t>serving civil aviation</a:t>
            </a:r>
          </a:p>
        </p:txBody>
      </p:sp>
      <p:sp>
        <p:nvSpPr>
          <p:cNvPr id="11" name="text-141">
            <a:extLst>
              <a:ext uri="{FF2B5EF4-FFF2-40B4-BE49-F238E27FC236}">
                <a16:creationId xmlns:a16="http://schemas.microsoft.com/office/drawing/2014/main" id="{326A72AA-6B7E-4847-9F4F-D6C3CC32ABE5}"/>
              </a:ext>
            </a:extLst>
          </p:cNvPr>
          <p:cNvSpPr>
            <a:spLocks noGrp="1"/>
          </p:cNvSpPr>
          <p:nvPr/>
        </p:nvSpPr>
        <p:spPr>
          <a:xfrm>
            <a:off x="6705600" y="4324350"/>
            <a:ext cx="4876800" cy="1133475"/>
          </a:xfrm>
          <a:prstGeom prst="rect">
            <a:avLst/>
          </a:prstGeom>
          <a:noFill/>
          <a:ln w="0">
            <a:noFill/>
          </a:ln>
        </p:spPr>
        <p:txBody>
          <a:bodyPr wrap="square" lIns="0" tIns="0" rIns="0" bIns="0" anchor="t">
            <a:noAutofit/>
          </a:bodyPr>
          <a:lstStyle/>
          <a:p>
            <a:pPr>
              <a:defRPr sz="1950" b="0">
                <a:solidFill>
                  <a:srgbClr val="A8BBC5"/>
                </a:solidFill>
                <a:latin typeface="Arial"/>
                <a:ea typeface="Arial"/>
                <a:cs typeface="Arial"/>
              </a:defRPr>
            </a:pPr>
            <a:r>
              <a:rPr sz="1950" b="0">
                <a:solidFill>
                  <a:srgbClr val="A8BBC5"/>
                </a:solidFill>
                <a:latin typeface="Arial"/>
                <a:ea typeface="Arial"/>
                <a:cs typeface="Arial"/>
              </a:rPr>
              <a:t>Oscilloquartz timing devices receive STL.</a:t>
            </a:r>
          </a:p>
          <a:p>
            <a:pPr>
              <a:defRPr sz="1950" b="0">
                <a:solidFill>
                  <a:srgbClr val="A8BBC5"/>
                </a:solidFill>
                <a:latin typeface="Arial"/>
                <a:ea typeface="Arial"/>
                <a:cs typeface="Arial"/>
              </a:defRPr>
            </a:pPr>
            <a:r>
              <a:rPr sz="1950" b="0">
                <a:solidFill>
                  <a:srgbClr val="A8BBC5"/>
                </a:solidFill>
                <a:latin typeface="Arial"/>
                <a:ea typeface="Arial"/>
                <a:cs typeface="Arial"/>
              </a:rPr>
              <a:t>The architecture reduces dependence</a:t>
            </a:r>
          </a:p>
          <a:p>
            <a:pPr>
              <a:defRPr sz="1950" b="0">
                <a:solidFill>
                  <a:srgbClr val="A8BBC5"/>
                </a:solidFill>
                <a:latin typeface="Arial"/>
                <a:ea typeface="Arial"/>
                <a:cs typeface="Arial"/>
              </a:defRPr>
            </a:pPr>
            <a:r>
              <a:rPr sz="1950" b="0">
                <a:solidFill>
                  <a:srgbClr val="A8BBC5"/>
                </a:solidFill>
                <a:latin typeface="Arial"/>
                <a:ea typeface="Arial"/>
                <a:cs typeface="Arial"/>
              </a:rPr>
              <a:t>on GPS as the primary timing source.</a:t>
            </a:r>
          </a:p>
        </p:txBody>
      </p:sp>
      <p:sp>
        <p:nvSpPr>
          <p:cNvPr id="12" name="text-142">
            <a:extLst>
              <a:ext uri="{FF2B5EF4-FFF2-40B4-BE49-F238E27FC236}">
                <a16:creationId xmlns:a16="http://schemas.microsoft.com/office/drawing/2014/main" id="{9EBA746A-E1AE-442E-8941-BCA117E3E661}"/>
              </a:ext>
            </a:extLst>
          </p:cNvPr>
          <p:cNvSpPr>
            <a:spLocks noGrp="1"/>
          </p:cNvSpPr>
          <p:nvPr/>
        </p:nvSpPr>
        <p:spPr>
          <a:xfrm>
            <a:off x="6705600" y="5743575"/>
            <a:ext cx="4876800" cy="333375"/>
          </a:xfrm>
          <a:prstGeom prst="rect">
            <a:avLst/>
          </a:prstGeom>
          <a:noFill/>
          <a:ln w="0">
            <a:noFill/>
          </a:ln>
        </p:spPr>
        <p:txBody>
          <a:bodyPr wrap="square" lIns="0" tIns="0" rIns="0" bIns="0" anchor="t">
            <a:noAutofit/>
          </a:bodyPr>
          <a:lstStyle/>
          <a:p>
            <a:pPr>
              <a:defRPr sz="1725" b="0">
                <a:solidFill>
                  <a:srgbClr val="E7B77D"/>
                </a:solidFill>
                <a:latin typeface="Arial"/>
                <a:ea typeface="Arial"/>
                <a:cs typeface="Arial"/>
              </a:defRPr>
            </a:pPr>
            <a:r>
              <a:rPr sz="1725" b="0">
                <a:solidFill>
                  <a:srgbClr val="E7B77D"/>
                </a:solidFill>
                <a:latin typeface="Arial"/>
                <a:ea typeface="Arial"/>
                <a:cs typeface="Arial"/>
              </a:rPr>
              <a:t>The use case is ground communications.</a:t>
            </a:r>
          </a:p>
        </p:txBody>
      </p:sp>
    </p:spTree>
    <p:extLst>
      <p:ext uri="{BB962C8B-B14F-4D97-AF65-F5344CB8AC3E}">
        <p14:creationId xmlns:p14="http://schemas.microsoft.com/office/powerpoint/2010/main" val="1252572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16" name="text-143">
            <a:extLst>
              <a:ext uri="{FF2B5EF4-FFF2-40B4-BE49-F238E27FC236}">
                <a16:creationId xmlns:a16="http://schemas.microsoft.com/office/drawing/2014/main" id="{B4681053-EA66-479E-928A-466C03378390}"/>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Implications for markets and states</a:t>
            </a:r>
          </a:p>
        </p:txBody>
      </p:sp>
      <p:sp>
        <p:nvSpPr>
          <p:cNvPr id="2" name="text-144">
            <a:extLst>
              <a:ext uri="{FF2B5EF4-FFF2-40B4-BE49-F238E27FC236}">
                <a16:creationId xmlns:a16="http://schemas.microsoft.com/office/drawing/2014/main" id="{35AD6F14-04C2-4236-BC6F-FE5686089E1D}"/>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7  /  Incremental or disruptive, new markets, and displacement</a:t>
            </a:r>
          </a:p>
        </p:txBody>
      </p:sp>
      <p:sp>
        <p:nvSpPr>
          <p:cNvPr id="3" name="rule-145">
            <a:extLst>
              <a:ext uri="{FF2B5EF4-FFF2-40B4-BE49-F238E27FC236}">
                <a16:creationId xmlns:a16="http://schemas.microsoft.com/office/drawing/2014/main" id="{EC7C44E8-6FDF-47CC-B3F0-89922B6AB4E3}"/>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146">
            <a:extLst>
              <a:ext uri="{FF2B5EF4-FFF2-40B4-BE49-F238E27FC236}">
                <a16:creationId xmlns:a16="http://schemas.microsoft.com/office/drawing/2014/main" id="{1CF68D8C-D392-4F2E-830E-DD5448077F4C}"/>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Implications   /   Zhou / Li / Miao   /   28 Sep 2026</a:t>
            </a:r>
          </a:p>
        </p:txBody>
      </p:sp>
      <p:sp>
        <p:nvSpPr>
          <p:cNvPr id="5" name="text-147">
            <a:extLst>
              <a:ext uri="{FF2B5EF4-FFF2-40B4-BE49-F238E27FC236}">
                <a16:creationId xmlns:a16="http://schemas.microsoft.com/office/drawing/2014/main" id="{53226A4B-8612-4DD1-BAFF-7B11700B71B9}"/>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10</a:t>
            </a:r>
          </a:p>
        </p:txBody>
      </p:sp>
      <p:sp>
        <p:nvSpPr>
          <p:cNvPr id="6" name="text-148">
            <a:extLst>
              <a:ext uri="{FF2B5EF4-FFF2-40B4-BE49-F238E27FC236}">
                <a16:creationId xmlns:a16="http://schemas.microsoft.com/office/drawing/2014/main" id="{87C1F762-796B-4E34-ADD2-05AC486791C0}"/>
              </a:ext>
            </a:extLst>
          </p:cNvPr>
          <p:cNvSpPr>
            <a:spLocks noGrp="1"/>
          </p:cNvSpPr>
          <p:nvPr/>
        </p:nvSpPr>
        <p:spPr>
          <a:xfrm>
            <a:off x="609600" y="2066925"/>
            <a:ext cx="5162550" cy="485775"/>
          </a:xfrm>
          <a:prstGeom prst="rect">
            <a:avLst/>
          </a:prstGeom>
          <a:noFill/>
          <a:ln w="0">
            <a:noFill/>
          </a:ln>
        </p:spPr>
        <p:txBody>
          <a:bodyPr wrap="square" lIns="0" tIns="0" rIns="0" bIns="0" anchor="t">
            <a:noAutofit/>
          </a:bodyPr>
          <a:lstStyle/>
          <a:p>
            <a:pPr>
              <a:defRPr sz="2775" b="1">
                <a:solidFill>
                  <a:srgbClr val="6EDFC3"/>
                </a:solidFill>
                <a:latin typeface="Arial"/>
                <a:ea typeface="Arial"/>
                <a:cs typeface="Arial"/>
              </a:defRPr>
            </a:pPr>
            <a:r>
              <a:rPr sz="2775" b="1">
                <a:solidFill>
                  <a:srgbClr val="6EDFC3"/>
                </a:solidFill>
                <a:latin typeface="Arial"/>
                <a:ea typeface="Arial"/>
                <a:cs typeface="Arial"/>
              </a:rPr>
              <a:t>Backup timing</a:t>
            </a:r>
          </a:p>
        </p:txBody>
      </p:sp>
      <p:sp>
        <p:nvSpPr>
          <p:cNvPr id="7" name="text-149">
            <a:extLst>
              <a:ext uri="{FF2B5EF4-FFF2-40B4-BE49-F238E27FC236}">
                <a16:creationId xmlns:a16="http://schemas.microsoft.com/office/drawing/2014/main" id="{4BA376A6-F7C5-486F-BE05-F1B2FF92ED30}"/>
              </a:ext>
            </a:extLst>
          </p:cNvPr>
          <p:cNvSpPr>
            <a:spLocks noGrp="1"/>
          </p:cNvSpPr>
          <p:nvPr/>
        </p:nvSpPr>
        <p:spPr>
          <a:xfrm>
            <a:off x="609600" y="2781300"/>
            <a:ext cx="5162550" cy="428625"/>
          </a:xfrm>
          <a:prstGeom prst="rect">
            <a:avLst/>
          </a:prstGeom>
          <a:noFill/>
          <a:ln w="0">
            <a:noFill/>
          </a:ln>
        </p:spPr>
        <p:txBody>
          <a:bodyPr wrap="square" lIns="0" tIns="0" rIns="0" bIns="0" anchor="t">
            <a:noAutofit/>
          </a:bodyPr>
          <a:lstStyle/>
          <a:p>
            <a:pPr>
              <a:defRPr sz="2325" b="1">
                <a:solidFill>
                  <a:srgbClr val="F3F4ED"/>
                </a:solidFill>
                <a:latin typeface="Arial"/>
                <a:ea typeface="Arial"/>
                <a:cs typeface="Arial"/>
              </a:defRPr>
            </a:pPr>
            <a:r>
              <a:rPr sz="2325" b="1">
                <a:solidFill>
                  <a:srgbClr val="F3F4ED"/>
                </a:solidFill>
                <a:latin typeface="Arial"/>
                <a:ea typeface="Arial"/>
                <a:cs typeface="Arial"/>
              </a:rPr>
              <a:t>A case for disruption</a:t>
            </a:r>
          </a:p>
        </p:txBody>
      </p:sp>
      <p:sp>
        <p:nvSpPr>
          <p:cNvPr id="8" name="text-150">
            <a:extLst>
              <a:ext uri="{FF2B5EF4-FFF2-40B4-BE49-F238E27FC236}">
                <a16:creationId xmlns:a16="http://schemas.microsoft.com/office/drawing/2014/main" id="{E4D48399-C299-4E75-BF86-33BF7EEC2945}"/>
              </a:ext>
            </a:extLst>
          </p:cNvPr>
          <p:cNvSpPr>
            <a:spLocks noGrp="1"/>
          </p:cNvSpPr>
          <p:nvPr/>
        </p:nvSpPr>
        <p:spPr>
          <a:xfrm>
            <a:off x="609600" y="3438525"/>
            <a:ext cx="5172075" cy="1200150"/>
          </a:xfrm>
          <a:prstGeom prst="rect">
            <a:avLst/>
          </a:prstGeom>
          <a:noFill/>
          <a:ln w="0">
            <a:noFill/>
          </a:ln>
        </p:spPr>
        <p:txBody>
          <a:bodyPr wrap="square" lIns="0" tIns="0" rIns="0" bIns="0" anchor="t">
            <a:noAutofit/>
          </a:bodyPr>
          <a:lstStyle/>
          <a:p>
            <a:pPr>
              <a:defRPr sz="2175" b="0">
                <a:solidFill>
                  <a:srgbClr val="A8BBC5"/>
                </a:solidFill>
                <a:latin typeface="Arial"/>
                <a:ea typeface="Arial"/>
                <a:cs typeface="Arial"/>
              </a:defRPr>
            </a:pPr>
            <a:r>
              <a:rPr sz="2175" b="0">
                <a:solidFill>
                  <a:srgbClr val="A8BBC5"/>
                </a:solidFill>
                <a:latin typeface="Arial"/>
                <a:ea typeface="Arial"/>
                <a:cs typeface="Arial"/>
              </a:rPr>
              <a:t>Indoor use and authenticated time</a:t>
            </a:r>
          </a:p>
          <a:p>
            <a:pPr>
              <a:defRPr sz="2175" b="0">
                <a:solidFill>
                  <a:srgbClr val="A8BBC5"/>
                </a:solidFill>
                <a:latin typeface="Arial"/>
                <a:ea typeface="Arial"/>
                <a:cs typeface="Arial"/>
              </a:defRPr>
            </a:pPr>
            <a:r>
              <a:rPr sz="2175" b="0">
                <a:solidFill>
                  <a:srgbClr val="A8BBC5"/>
                </a:solidFill>
                <a:latin typeface="Arial"/>
                <a:ea typeface="Arial"/>
                <a:cs typeface="Arial"/>
              </a:rPr>
              <a:t>address weaknesses in GPS-dependent</a:t>
            </a:r>
          </a:p>
          <a:p>
            <a:pPr>
              <a:defRPr sz="2175" b="0">
                <a:solidFill>
                  <a:srgbClr val="A8BBC5"/>
                </a:solidFill>
                <a:latin typeface="Arial"/>
                <a:ea typeface="Arial"/>
                <a:cs typeface="Arial"/>
              </a:defRPr>
            </a:pPr>
            <a:r>
              <a:rPr sz="2175" b="0">
                <a:solidFill>
                  <a:srgbClr val="A8BBC5"/>
                </a:solidFill>
                <a:latin typeface="Arial"/>
                <a:ea typeface="Arial"/>
                <a:cs typeface="Arial"/>
              </a:rPr>
              <a:t>infrastructure.</a:t>
            </a:r>
          </a:p>
        </p:txBody>
      </p:sp>
      <p:sp>
        <p:nvSpPr>
          <p:cNvPr id="9" name="text-151">
            <a:extLst>
              <a:ext uri="{FF2B5EF4-FFF2-40B4-BE49-F238E27FC236}">
                <a16:creationId xmlns:a16="http://schemas.microsoft.com/office/drawing/2014/main" id="{7774692D-A9D5-4C4B-B074-4EA462B492FF}"/>
              </a:ext>
            </a:extLst>
          </p:cNvPr>
          <p:cNvSpPr>
            <a:spLocks noGrp="1"/>
          </p:cNvSpPr>
          <p:nvPr/>
        </p:nvSpPr>
        <p:spPr>
          <a:xfrm>
            <a:off x="6705600" y="2066925"/>
            <a:ext cx="4857750" cy="485775"/>
          </a:xfrm>
          <a:prstGeom prst="rect">
            <a:avLst/>
          </a:prstGeom>
          <a:noFill/>
          <a:ln w="0">
            <a:noFill/>
          </a:ln>
        </p:spPr>
        <p:txBody>
          <a:bodyPr wrap="square" lIns="0" tIns="0" rIns="0" bIns="0" anchor="t">
            <a:noAutofit/>
          </a:bodyPr>
          <a:lstStyle/>
          <a:p>
            <a:pPr>
              <a:defRPr sz="2775" b="1">
                <a:solidFill>
                  <a:srgbClr val="F3F4ED"/>
                </a:solidFill>
                <a:latin typeface="Arial"/>
                <a:ea typeface="Arial"/>
                <a:cs typeface="Arial"/>
              </a:defRPr>
            </a:pPr>
            <a:r>
              <a:rPr sz="2775" b="1">
                <a:solidFill>
                  <a:srgbClr val="F3F4ED"/>
                </a:solidFill>
                <a:latin typeface="Arial"/>
                <a:ea typeface="Arial"/>
                <a:cs typeface="Arial"/>
              </a:rPr>
              <a:t>Navigation</a:t>
            </a:r>
          </a:p>
        </p:txBody>
      </p:sp>
      <p:sp>
        <p:nvSpPr>
          <p:cNvPr id="10" name="text-152">
            <a:extLst>
              <a:ext uri="{FF2B5EF4-FFF2-40B4-BE49-F238E27FC236}">
                <a16:creationId xmlns:a16="http://schemas.microsoft.com/office/drawing/2014/main" id="{6D5D786A-0E77-4706-9D97-42B3FCDE43EE}"/>
              </a:ext>
            </a:extLst>
          </p:cNvPr>
          <p:cNvSpPr>
            <a:spLocks noGrp="1"/>
          </p:cNvSpPr>
          <p:nvPr/>
        </p:nvSpPr>
        <p:spPr>
          <a:xfrm>
            <a:off x="6705600" y="2781300"/>
            <a:ext cx="4876800" cy="428625"/>
          </a:xfrm>
          <a:prstGeom prst="rect">
            <a:avLst/>
          </a:prstGeom>
          <a:noFill/>
          <a:ln w="0">
            <a:noFill/>
          </a:ln>
        </p:spPr>
        <p:txBody>
          <a:bodyPr wrap="square" lIns="0" tIns="0" rIns="0" bIns="0" anchor="t">
            <a:noAutofit/>
          </a:bodyPr>
          <a:lstStyle/>
          <a:p>
            <a:pPr>
              <a:defRPr sz="2325" b="1">
                <a:solidFill>
                  <a:srgbClr val="F3F4ED"/>
                </a:solidFill>
                <a:latin typeface="Arial"/>
                <a:ea typeface="Arial"/>
                <a:cs typeface="Arial"/>
              </a:defRPr>
            </a:pPr>
            <a:r>
              <a:rPr sz="2325" b="1">
                <a:solidFill>
                  <a:srgbClr val="F3F4ED"/>
                </a:solidFill>
                <a:latin typeface="Arial"/>
                <a:ea typeface="Arial"/>
                <a:cs typeface="Arial"/>
              </a:rPr>
              <a:t>An incremental complement</a:t>
            </a:r>
          </a:p>
        </p:txBody>
      </p:sp>
      <p:sp>
        <p:nvSpPr>
          <p:cNvPr id="11" name="text-153">
            <a:extLst>
              <a:ext uri="{FF2B5EF4-FFF2-40B4-BE49-F238E27FC236}">
                <a16:creationId xmlns:a16="http://schemas.microsoft.com/office/drawing/2014/main" id="{58E93AE4-342A-4EA3-B633-EB0071492DD9}"/>
              </a:ext>
            </a:extLst>
          </p:cNvPr>
          <p:cNvSpPr>
            <a:spLocks noGrp="1"/>
          </p:cNvSpPr>
          <p:nvPr/>
        </p:nvSpPr>
        <p:spPr>
          <a:xfrm>
            <a:off x="6705600" y="3438525"/>
            <a:ext cx="4876800" cy="1200150"/>
          </a:xfrm>
          <a:prstGeom prst="rect">
            <a:avLst/>
          </a:prstGeom>
          <a:noFill/>
          <a:ln w="0">
            <a:noFill/>
          </a:ln>
        </p:spPr>
        <p:txBody>
          <a:bodyPr wrap="square" lIns="0" tIns="0" rIns="0" bIns="0" anchor="t">
            <a:noAutofit/>
          </a:bodyPr>
          <a:lstStyle/>
          <a:p>
            <a:pPr>
              <a:defRPr sz="2175" b="0">
                <a:solidFill>
                  <a:srgbClr val="A8BBC5"/>
                </a:solidFill>
                <a:latin typeface="Arial"/>
                <a:ea typeface="Arial"/>
                <a:cs typeface="Arial"/>
              </a:defRPr>
            </a:pPr>
            <a:r>
              <a:rPr sz="2175" b="0">
                <a:solidFill>
                  <a:srgbClr val="A8BBC5"/>
                </a:solidFill>
                <a:latin typeface="Arial"/>
                <a:ea typeface="Arial"/>
                <a:cs typeface="Arial"/>
              </a:rPr>
              <a:t>Coarse location limits substitution.</a:t>
            </a:r>
          </a:p>
          <a:p>
            <a:pPr>
              <a:defRPr sz="2175" b="0">
                <a:solidFill>
                  <a:srgbClr val="A8BBC5"/>
                </a:solidFill>
                <a:latin typeface="Arial"/>
                <a:ea typeface="Arial"/>
                <a:cs typeface="Arial"/>
              </a:defRPr>
            </a:pPr>
            <a:r>
              <a:rPr sz="2175" b="0">
                <a:solidFill>
                  <a:srgbClr val="A8BBC5"/>
                </a:solidFill>
                <a:latin typeface="Arial"/>
                <a:ea typeface="Arial"/>
                <a:cs typeface="Arial"/>
              </a:rPr>
              <a:t>These sources show no displacement</a:t>
            </a:r>
          </a:p>
          <a:p>
            <a:pPr>
              <a:defRPr sz="2175" b="0">
                <a:solidFill>
                  <a:srgbClr val="A8BBC5"/>
                </a:solidFill>
                <a:latin typeface="Arial"/>
                <a:ea typeface="Arial"/>
                <a:cs typeface="Arial"/>
              </a:defRPr>
            </a:pPr>
            <a:r>
              <a:rPr sz="2175" b="0">
                <a:solidFill>
                  <a:srgbClr val="A8BBC5"/>
                </a:solidFill>
                <a:latin typeface="Arial"/>
                <a:ea typeface="Arial"/>
                <a:cs typeface="Arial"/>
              </a:rPr>
              <a:t>of GPS or its dominant suppliers.</a:t>
            </a:r>
          </a:p>
        </p:txBody>
      </p:sp>
      <p:sp>
        <p:nvSpPr>
          <p:cNvPr id="17" name="text-implication-1">
            <a:extLst>
              <a:ext uri="{FF2B5EF4-FFF2-40B4-BE49-F238E27FC236}">
                <a16:creationId xmlns:a16="http://schemas.microsoft.com/office/drawing/2014/main" id="{D6B27B95-1C7C-4978-A2EC-A5423221DEE5}"/>
              </a:ext>
            </a:extLst>
          </p:cNvPr>
          <p:cNvSpPr>
            <a:spLocks noGrp="1"/>
          </p:cNvSpPr>
          <p:nvPr/>
        </p:nvSpPr>
        <p:spPr>
          <a:xfrm>
            <a:off x="609600" y="4850000"/>
            <a:ext cx="10953750" cy="300000"/>
          </a:xfrm>
          <a:prstGeom prst="rect">
            <a:avLst/>
          </a:prstGeom>
          <a:noFill/>
          <a:ln w="0">
            <a:noFill/>
          </a:ln>
        </p:spPr>
        <p:txBody>
          <a:bodyPr wrap="square" lIns="0" tIns="0" rIns="0" bIns="0" anchor="t">
            <a:noAutofit/>
          </a:bodyPr>
          <a:lstStyle/>
          <a:p>
            <a:pPr algn="l">
              <a:defRPr sz="1875" b="1">
                <a:solidFill>
                  <a:srgbClr val="F3F4ED"/>
                </a:solidFill>
                <a:latin typeface="Arial"/>
                <a:ea typeface="Arial"/>
                <a:cs typeface="Arial"/>
              </a:defRPr>
            </a:pPr>
            <a:r>
              <a:rPr b="1" sz="1500">
                <a:solidFill>
                  <a:srgbClr val="6EDFC3"/>
                </a:solidFill>
                <a:latin typeface="Arial"/>
              </a:rPr>
              <a:t>New market: </a:t>
            </a:r>
            <a:r>
              <a:rPr b="0" sz="1500">
                <a:solidFill>
                  <a:srgbClr val="A8BBC5"/>
                </a:solidFill>
                <a:latin typeface="Arial"/>
              </a:rPr>
              <a:t>yes — a commercial market for a GPS-backup clock, not a new navigation market.</a:t>
            </a:r>
          </a:p>
        </p:txBody>
      </p:sp>
      <p:sp>
        <p:nvSpPr>
          <p:cNvPr id="18" name="text-implication-2">
            <a:extLst>
              <a:ext uri="{FF2B5EF4-FFF2-40B4-BE49-F238E27FC236}">
                <a16:creationId xmlns:a16="http://schemas.microsoft.com/office/drawing/2014/main" id="{D6B27B95-1C7C-4978-A2EC-A5423221DEE5}"/>
              </a:ext>
            </a:extLst>
          </p:cNvPr>
          <p:cNvSpPr>
            <a:spLocks noGrp="1"/>
          </p:cNvSpPr>
          <p:nvPr/>
        </p:nvSpPr>
        <p:spPr>
          <a:xfrm>
            <a:off x="609600" y="5200000"/>
            <a:ext cx="10953750" cy="580000"/>
          </a:xfrm>
          <a:prstGeom prst="rect">
            <a:avLst/>
          </a:prstGeom>
          <a:noFill/>
          <a:ln w="0">
            <a:noFill/>
          </a:ln>
        </p:spPr>
        <p:txBody>
          <a:bodyPr wrap="square" lIns="0" tIns="0" rIns="0" bIns="0" anchor="t">
            <a:noAutofit/>
          </a:bodyPr>
          <a:lstStyle/>
          <a:p>
            <a:pPr algn="l">
              <a:defRPr sz="1875" b="1">
                <a:solidFill>
                  <a:srgbClr val="F3F4ED"/>
                </a:solidFill>
                <a:latin typeface="Arial"/>
                <a:ea typeface="Arial"/>
                <a:cs typeface="Arial"/>
              </a:defRPr>
            </a:pPr>
            <a:r>
              <a:rPr b="1" sz="1500">
                <a:solidFill>
                  <a:srgbClr val="6EDFC3"/>
                </a:solidFill>
                <a:latin typeface="Arial"/>
              </a:rPr>
              <a:t>Displace GPS? </a:t>
            </a:r>
            <a:r>
              <a:rPr b="0" sz="1500">
                <a:solidFill>
                  <a:srgbClr val="A8BBC5"/>
                </a:solidFill>
                <a:latin typeface="Arial"/>
              </a:rPr>
              <a:t>no — GPS and its suppliers stay. Iridium bought Satelles; that is the backup company being absorbed, not GPS being replaced.</a:t>
            </a:r>
          </a:p>
        </p:txBody>
      </p:sp>
      <p:sp>
        <p:nvSpPr>
          <p:cNvPr id="19" name="text-implication-3">
            <a:extLst>
              <a:ext uri="{FF2B5EF4-FFF2-40B4-BE49-F238E27FC236}">
                <a16:creationId xmlns:a16="http://schemas.microsoft.com/office/drawing/2014/main" id="{D6B27B95-1C7C-4978-A2EC-A5423221DEE5}"/>
              </a:ext>
            </a:extLst>
          </p:cNvPr>
          <p:cNvSpPr>
            <a:spLocks noGrp="1"/>
          </p:cNvSpPr>
          <p:nvPr/>
        </p:nvSpPr>
        <p:spPr>
          <a:xfrm>
            <a:off x="609600" y="5830000"/>
            <a:ext cx="10953750" cy="300000"/>
          </a:xfrm>
          <a:prstGeom prst="rect">
            <a:avLst/>
          </a:prstGeom>
          <a:noFill/>
          <a:ln w="0">
            <a:noFill/>
          </a:ln>
        </p:spPr>
        <p:txBody>
          <a:bodyPr wrap="square" lIns="0" tIns="0" rIns="0" bIns="0" anchor="t">
            <a:noAutofit/>
          </a:bodyPr>
          <a:lstStyle/>
          <a:p>
            <a:pPr algn="l">
              <a:defRPr sz="1875" b="1">
                <a:solidFill>
                  <a:srgbClr val="F3F4ED"/>
                </a:solidFill>
                <a:latin typeface="Arial"/>
                <a:ea typeface="Arial"/>
                <a:cs typeface="Arial"/>
              </a:defRPr>
            </a:pPr>
            <a:r>
              <a:rPr b="1" sz="1500">
                <a:solidFill>
                  <a:srgbClr val="6EDFC3"/>
                </a:solidFill>
                <a:latin typeface="Arial"/>
              </a:rPr>
              <a:t>Other effect: </a:t>
            </a:r>
            <a:r>
              <a:rPr b="0" sz="1500">
                <a:solidFill>
                  <a:srgbClr val="A8BBC5"/>
                </a:solidFill>
                <a:latin typeface="Arial"/>
              </a:rPr>
              <a:t>governments and critical infrastructure can buy timing resilience instead of building their own satellites.</a:t>
            </a:r>
          </a:p>
        </p:txBody>
      </p:sp>
    </p:spTree>
    <p:extLst>
      <p:ext uri="{BB962C8B-B14F-4D97-AF65-F5344CB8AC3E}">
        <p14:creationId xmlns:p14="http://schemas.microsoft.com/office/powerpoint/2010/main" val="699947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16" name="text-158">
            <a:extLst>
              <a:ext uri="{FF2B5EF4-FFF2-40B4-BE49-F238E27FC236}">
                <a16:creationId xmlns:a16="http://schemas.microsoft.com/office/drawing/2014/main" id="{A8F85C1B-F454-460C-82CD-8F81BD6CF519}"/>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A new use for an existing network</a:t>
            </a:r>
          </a:p>
        </p:txBody>
      </p:sp>
      <p:sp>
        <p:nvSpPr>
          <p:cNvPr id="2" name="rule-159">
            <a:extLst>
              <a:ext uri="{FF2B5EF4-FFF2-40B4-BE49-F238E27FC236}">
                <a16:creationId xmlns:a16="http://schemas.microsoft.com/office/drawing/2014/main" id="{AD70422D-4039-4131-9E69-7FDA23C712FD}"/>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3" name="text-160">
            <a:extLst>
              <a:ext uri="{FF2B5EF4-FFF2-40B4-BE49-F238E27FC236}">
                <a16:creationId xmlns:a16="http://schemas.microsoft.com/office/drawing/2014/main" id="{3DAC2BCB-2158-4D96-9B0F-CA8F1955B9D7}"/>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Course takeaway   /   Zhou / Li / Miao   /   28 Sep 2026</a:t>
            </a:r>
          </a:p>
        </p:txBody>
      </p:sp>
      <p:sp>
        <p:nvSpPr>
          <p:cNvPr id="4" name="text-161">
            <a:extLst>
              <a:ext uri="{FF2B5EF4-FFF2-40B4-BE49-F238E27FC236}">
                <a16:creationId xmlns:a16="http://schemas.microsoft.com/office/drawing/2014/main" id="{4DDD7160-4CC1-44B3-ABD1-A2AB102EDCAA}"/>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11</a:t>
            </a:r>
          </a:p>
        </p:txBody>
      </p:sp>
      <p:sp>
        <p:nvSpPr>
          <p:cNvPr id="5" name="text-162">
            <a:extLst>
              <a:ext uri="{FF2B5EF4-FFF2-40B4-BE49-F238E27FC236}">
                <a16:creationId xmlns:a16="http://schemas.microsoft.com/office/drawing/2014/main" id="{DD6DC58D-A8AA-4533-AC7E-1E8D42B8DD27}"/>
              </a:ext>
            </a:extLst>
          </p:cNvPr>
          <p:cNvSpPr>
            <a:spLocks noGrp="1"/>
          </p:cNvSpPr>
          <p:nvPr/>
        </p:nvSpPr>
        <p:spPr>
          <a:xfrm>
            <a:off x="609600" y="1809750"/>
            <a:ext cx="857250" cy="552450"/>
          </a:xfrm>
          <a:prstGeom prst="rect">
            <a:avLst/>
          </a:prstGeom>
          <a:noFill/>
          <a:ln w="0">
            <a:noFill/>
          </a:ln>
        </p:spPr>
        <p:txBody>
          <a:bodyPr wrap="square" lIns="0" tIns="0" rIns="0" bIns="0" anchor="t">
            <a:noAutofit/>
          </a:bodyPr>
          <a:lstStyle/>
          <a:p>
            <a:pPr>
              <a:defRPr sz="3225" b="1">
                <a:solidFill>
                  <a:srgbClr val="6EDFC3"/>
                </a:solidFill>
                <a:latin typeface="Arial"/>
                <a:ea typeface="Arial"/>
                <a:cs typeface="Arial"/>
              </a:defRPr>
            </a:pPr>
            <a:r>
              <a:rPr sz="3225" b="1">
                <a:solidFill>
                  <a:srgbClr val="6EDFC3"/>
                </a:solidFill>
                <a:latin typeface="Arial"/>
                <a:ea typeface="Arial"/>
                <a:cs typeface="Arial"/>
              </a:rPr>
              <a:t>01</a:t>
            </a:r>
          </a:p>
        </p:txBody>
      </p:sp>
      <p:sp>
        <p:nvSpPr>
          <p:cNvPr id="6" name="text-163">
            <a:extLst>
              <a:ext uri="{FF2B5EF4-FFF2-40B4-BE49-F238E27FC236}">
                <a16:creationId xmlns:a16="http://schemas.microsoft.com/office/drawing/2014/main" id="{E4B4DBDF-21E8-4628-93D1-518D42164F53}"/>
              </a:ext>
            </a:extLst>
          </p:cNvPr>
          <p:cNvSpPr>
            <a:spLocks noGrp="1"/>
          </p:cNvSpPr>
          <p:nvPr/>
        </p:nvSpPr>
        <p:spPr>
          <a:xfrm>
            <a:off x="1838325" y="1809750"/>
            <a:ext cx="9744075" cy="485775"/>
          </a:xfrm>
          <a:prstGeom prst="rect">
            <a:avLst/>
          </a:prstGeom>
          <a:noFill/>
          <a:ln w="0">
            <a:noFill/>
          </a:ln>
        </p:spPr>
        <p:txBody>
          <a:bodyPr wrap="square" lIns="0" tIns="0" rIns="0" bIns="0" anchor="t">
            <a:noAutofit/>
          </a:bodyPr>
          <a:lstStyle/>
          <a:p>
            <a:pPr>
              <a:defRPr sz="2550" b="1">
                <a:solidFill>
                  <a:srgbClr val="F3F4ED"/>
                </a:solidFill>
                <a:latin typeface="Arial"/>
                <a:ea typeface="Arial"/>
                <a:cs typeface="Arial"/>
              </a:defRPr>
            </a:pPr>
            <a:r>
              <a:rPr sz="2550" b="1">
                <a:solidFill>
                  <a:srgbClr val="F3F4ED"/>
                </a:solidFill>
                <a:latin typeface="Arial"/>
                <a:ea typeface="Arial"/>
                <a:cs typeface="Arial"/>
              </a:rPr>
              <a:t>Recombinant design</a:t>
            </a:r>
          </a:p>
        </p:txBody>
      </p:sp>
      <p:sp>
        <p:nvSpPr>
          <p:cNvPr id="7" name="text-164">
            <a:extLst>
              <a:ext uri="{FF2B5EF4-FFF2-40B4-BE49-F238E27FC236}">
                <a16:creationId xmlns:a16="http://schemas.microsoft.com/office/drawing/2014/main" id="{718D1132-19D8-4311-9DFB-CBA96DE46269}"/>
              </a:ext>
            </a:extLst>
          </p:cNvPr>
          <p:cNvSpPr>
            <a:spLocks noGrp="1"/>
          </p:cNvSpPr>
          <p:nvPr/>
        </p:nvSpPr>
        <p:spPr>
          <a:xfrm>
            <a:off x="1838325" y="2400300"/>
            <a:ext cx="9744075" cy="447675"/>
          </a:xfrm>
          <a:prstGeom prst="rect">
            <a:avLst/>
          </a:prstGeom>
          <a:noFill/>
          <a:ln w="0">
            <a:noFill/>
          </a:ln>
        </p:spPr>
        <p:txBody>
          <a:bodyPr wrap="square" lIns="0" tIns="0" rIns="0" bIns="0" anchor="t">
            <a:noAutofit/>
          </a:bodyPr>
          <a:lstStyle/>
          <a:p>
            <a:pPr>
              <a:defRPr sz="2025" b="0">
                <a:solidFill>
                  <a:srgbClr val="A8BBC5"/>
                </a:solidFill>
                <a:latin typeface="Arial"/>
                <a:ea typeface="Arial"/>
                <a:cs typeface="Arial"/>
              </a:defRPr>
            </a:pPr>
            <a:r>
              <a:rPr sz="2025" b="0">
                <a:solidFill>
                  <a:srgbClr val="A8BBC5"/>
                </a:solidFill>
                <a:latin typeface="Arial"/>
                <a:ea typeface="Arial"/>
                <a:cs typeface="Arial"/>
              </a:rPr>
              <a:t>Established components perform a new timing function.</a:t>
            </a:r>
          </a:p>
        </p:txBody>
      </p:sp>
      <p:sp>
        <p:nvSpPr>
          <p:cNvPr id="8" name="text-165">
            <a:extLst>
              <a:ext uri="{FF2B5EF4-FFF2-40B4-BE49-F238E27FC236}">
                <a16:creationId xmlns:a16="http://schemas.microsoft.com/office/drawing/2014/main" id="{0D9629F7-9952-4FC0-9421-2D02747080A4}"/>
              </a:ext>
            </a:extLst>
          </p:cNvPr>
          <p:cNvSpPr>
            <a:spLocks noGrp="1"/>
          </p:cNvSpPr>
          <p:nvPr/>
        </p:nvSpPr>
        <p:spPr>
          <a:xfrm>
            <a:off x="609600" y="3000375"/>
            <a:ext cx="857250" cy="552450"/>
          </a:xfrm>
          <a:prstGeom prst="rect">
            <a:avLst/>
          </a:prstGeom>
          <a:noFill/>
          <a:ln w="0">
            <a:noFill/>
          </a:ln>
        </p:spPr>
        <p:txBody>
          <a:bodyPr wrap="square" lIns="0" tIns="0" rIns="0" bIns="0" anchor="t">
            <a:noAutofit/>
          </a:bodyPr>
          <a:lstStyle/>
          <a:p>
            <a:pPr>
              <a:defRPr sz="3225" b="1">
                <a:solidFill>
                  <a:srgbClr val="6EDFC3"/>
                </a:solidFill>
                <a:latin typeface="Arial"/>
                <a:ea typeface="Arial"/>
                <a:cs typeface="Arial"/>
              </a:defRPr>
            </a:pPr>
            <a:r>
              <a:rPr sz="3225" b="1">
                <a:solidFill>
                  <a:srgbClr val="6EDFC3"/>
                </a:solidFill>
                <a:latin typeface="Arial"/>
                <a:ea typeface="Arial"/>
                <a:cs typeface="Arial"/>
              </a:rPr>
              <a:t>02</a:t>
            </a:r>
          </a:p>
        </p:txBody>
      </p:sp>
      <p:sp>
        <p:nvSpPr>
          <p:cNvPr id="9" name="text-166">
            <a:extLst>
              <a:ext uri="{FF2B5EF4-FFF2-40B4-BE49-F238E27FC236}">
                <a16:creationId xmlns:a16="http://schemas.microsoft.com/office/drawing/2014/main" id="{A12E4238-D730-41A8-9AE0-939D0D6CCE97}"/>
              </a:ext>
            </a:extLst>
          </p:cNvPr>
          <p:cNvSpPr>
            <a:spLocks noGrp="1"/>
          </p:cNvSpPr>
          <p:nvPr/>
        </p:nvSpPr>
        <p:spPr>
          <a:xfrm>
            <a:off x="1838325" y="3000375"/>
            <a:ext cx="9744075" cy="485775"/>
          </a:xfrm>
          <a:prstGeom prst="rect">
            <a:avLst/>
          </a:prstGeom>
          <a:noFill/>
          <a:ln w="0">
            <a:noFill/>
          </a:ln>
        </p:spPr>
        <p:txBody>
          <a:bodyPr wrap="square" lIns="0" tIns="0" rIns="0" bIns="0" anchor="t">
            <a:noAutofit/>
          </a:bodyPr>
          <a:lstStyle/>
          <a:p>
            <a:pPr>
              <a:defRPr sz="2550" b="1">
                <a:solidFill>
                  <a:srgbClr val="F3F4ED"/>
                </a:solidFill>
                <a:latin typeface="Arial"/>
                <a:ea typeface="Arial"/>
                <a:cs typeface="Arial"/>
              </a:defRPr>
            </a:pPr>
            <a:r>
              <a:rPr sz="2550" b="1">
                <a:solidFill>
                  <a:srgbClr val="F3F4ED"/>
                </a:solidFill>
                <a:latin typeface="Arial"/>
                <a:ea typeface="Arial"/>
                <a:cs typeface="Arial"/>
              </a:rPr>
              <a:t>Dual-use, with a spin-on trajectory</a:t>
            </a:r>
          </a:p>
        </p:txBody>
      </p:sp>
      <p:sp>
        <p:nvSpPr>
          <p:cNvPr id="10" name="text-167">
            <a:extLst>
              <a:ext uri="{FF2B5EF4-FFF2-40B4-BE49-F238E27FC236}">
                <a16:creationId xmlns:a16="http://schemas.microsoft.com/office/drawing/2014/main" id="{DFA45194-8054-422A-8AAF-CD24D7854E54}"/>
              </a:ext>
            </a:extLst>
          </p:cNvPr>
          <p:cNvSpPr>
            <a:spLocks noGrp="1"/>
          </p:cNvSpPr>
          <p:nvPr/>
        </p:nvSpPr>
        <p:spPr>
          <a:xfrm>
            <a:off x="1838325" y="3590925"/>
            <a:ext cx="9744075" cy="447675"/>
          </a:xfrm>
          <a:prstGeom prst="rect">
            <a:avLst/>
          </a:prstGeom>
          <a:noFill/>
          <a:ln w="0">
            <a:noFill/>
          </a:ln>
        </p:spPr>
        <p:txBody>
          <a:bodyPr wrap="square" lIns="0" tIns="0" rIns="0" bIns="0" anchor="t">
            <a:noAutofit/>
          </a:bodyPr>
          <a:lstStyle/>
          <a:p>
            <a:pPr>
              <a:defRPr sz="2025" b="0">
                <a:solidFill>
                  <a:srgbClr val="A8BBC5"/>
                </a:solidFill>
                <a:latin typeface="Arial"/>
                <a:ea typeface="Arial"/>
                <a:cs typeface="Arial"/>
              </a:defRPr>
            </a:pPr>
            <a:r>
              <a:rPr sz="2025" b="0">
                <a:solidFill>
                  <a:srgbClr val="A8BBC5"/>
                </a:solidFill>
                <a:latin typeface="Arial"/>
                <a:ea typeface="Arial"/>
                <a:cs typeface="Arial"/>
              </a:rPr>
              <a:t>A civilian network serves infrastructure and security needs.</a:t>
            </a:r>
          </a:p>
        </p:txBody>
      </p:sp>
      <p:sp>
        <p:nvSpPr>
          <p:cNvPr id="11" name="text-168">
            <a:extLst>
              <a:ext uri="{FF2B5EF4-FFF2-40B4-BE49-F238E27FC236}">
                <a16:creationId xmlns:a16="http://schemas.microsoft.com/office/drawing/2014/main" id="{C0B78DB0-3860-4FEA-9831-EB5703CBEBE6}"/>
              </a:ext>
            </a:extLst>
          </p:cNvPr>
          <p:cNvSpPr>
            <a:spLocks noGrp="1"/>
          </p:cNvSpPr>
          <p:nvPr/>
        </p:nvSpPr>
        <p:spPr>
          <a:xfrm>
            <a:off x="609600" y="4191000"/>
            <a:ext cx="857250" cy="552450"/>
          </a:xfrm>
          <a:prstGeom prst="rect">
            <a:avLst/>
          </a:prstGeom>
          <a:noFill/>
          <a:ln w="0">
            <a:noFill/>
          </a:ln>
        </p:spPr>
        <p:txBody>
          <a:bodyPr wrap="square" lIns="0" tIns="0" rIns="0" bIns="0" anchor="t">
            <a:noAutofit/>
          </a:bodyPr>
          <a:lstStyle/>
          <a:p>
            <a:pPr>
              <a:defRPr sz="3225" b="1">
                <a:solidFill>
                  <a:srgbClr val="6EDFC3"/>
                </a:solidFill>
                <a:latin typeface="Arial"/>
                <a:ea typeface="Arial"/>
                <a:cs typeface="Arial"/>
              </a:defRPr>
            </a:pPr>
            <a:r>
              <a:rPr sz="3225" b="1">
                <a:solidFill>
                  <a:srgbClr val="6EDFC3"/>
                </a:solidFill>
                <a:latin typeface="Arial"/>
                <a:ea typeface="Arial"/>
                <a:cs typeface="Arial"/>
              </a:rPr>
              <a:t>03</a:t>
            </a:r>
          </a:p>
        </p:txBody>
      </p:sp>
      <p:sp>
        <p:nvSpPr>
          <p:cNvPr id="12" name="text-169">
            <a:extLst>
              <a:ext uri="{FF2B5EF4-FFF2-40B4-BE49-F238E27FC236}">
                <a16:creationId xmlns:a16="http://schemas.microsoft.com/office/drawing/2014/main" id="{A0CB77A1-7A72-459C-B9C6-014B667599FD}"/>
              </a:ext>
            </a:extLst>
          </p:cNvPr>
          <p:cNvSpPr>
            <a:spLocks noGrp="1"/>
          </p:cNvSpPr>
          <p:nvPr/>
        </p:nvSpPr>
        <p:spPr>
          <a:xfrm>
            <a:off x="1838325" y="4191000"/>
            <a:ext cx="9744075" cy="485775"/>
          </a:xfrm>
          <a:prstGeom prst="rect">
            <a:avLst/>
          </a:prstGeom>
          <a:noFill/>
          <a:ln w="0">
            <a:noFill/>
          </a:ln>
        </p:spPr>
        <p:txBody>
          <a:bodyPr wrap="square" lIns="0" tIns="0" rIns="0" bIns="0" anchor="t">
            <a:noAutofit/>
          </a:bodyPr>
          <a:lstStyle/>
          <a:p>
            <a:pPr>
              <a:defRPr sz="2550" b="1">
                <a:solidFill>
                  <a:srgbClr val="F3F4ED"/>
                </a:solidFill>
                <a:latin typeface="Arial"/>
                <a:ea typeface="Arial"/>
                <a:cs typeface="Arial"/>
              </a:defRPr>
            </a:pPr>
            <a:r>
              <a:rPr sz="2550" b="1">
                <a:solidFill>
                  <a:srgbClr val="F3F4ED"/>
                </a:solidFill>
                <a:latin typeface="Arial"/>
                <a:ea typeface="Arial"/>
                <a:cs typeface="Arial"/>
              </a:rPr>
              <a:t>Potential disruption in backup timing</a:t>
            </a:r>
          </a:p>
        </p:txBody>
      </p:sp>
      <p:sp>
        <p:nvSpPr>
          <p:cNvPr id="13" name="text-170">
            <a:extLst>
              <a:ext uri="{FF2B5EF4-FFF2-40B4-BE49-F238E27FC236}">
                <a16:creationId xmlns:a16="http://schemas.microsoft.com/office/drawing/2014/main" id="{FF74FC61-1275-43B0-AFFC-F8D0D77130F9}"/>
              </a:ext>
            </a:extLst>
          </p:cNvPr>
          <p:cNvSpPr>
            <a:spLocks noGrp="1"/>
          </p:cNvSpPr>
          <p:nvPr/>
        </p:nvSpPr>
        <p:spPr>
          <a:xfrm>
            <a:off x="1838325" y="4781550"/>
            <a:ext cx="9744075" cy="447675"/>
          </a:xfrm>
          <a:prstGeom prst="rect">
            <a:avLst/>
          </a:prstGeom>
          <a:noFill/>
          <a:ln w="0">
            <a:noFill/>
          </a:ln>
        </p:spPr>
        <p:txBody>
          <a:bodyPr wrap="square" lIns="0" tIns="0" rIns="0" bIns="0" anchor="t">
            <a:noAutofit/>
          </a:bodyPr>
          <a:lstStyle/>
          <a:p>
            <a:pPr>
              <a:defRPr sz="2025" b="0">
                <a:solidFill>
                  <a:srgbClr val="A8BBC5"/>
                </a:solidFill>
                <a:latin typeface="Arial"/>
                <a:ea typeface="Arial"/>
                <a:cs typeface="Arial"/>
              </a:defRPr>
            </a:pPr>
            <a:r>
              <a:rPr sz="2025" b="0">
                <a:solidFill>
                  <a:srgbClr val="A8BBC5"/>
                </a:solidFill>
                <a:latin typeface="Arial"/>
                <a:ea typeface="Arial"/>
                <a:cs typeface="Arial"/>
              </a:rPr>
              <a:t>The strongest claim concerns a complement to GPS.</a:t>
            </a:r>
          </a:p>
        </p:txBody>
      </p:sp>
      <p:sp>
        <p:nvSpPr>
          <p:cNvPr id="14" name="text-171">
            <a:extLst>
              <a:ext uri="{FF2B5EF4-FFF2-40B4-BE49-F238E27FC236}">
                <a16:creationId xmlns:a16="http://schemas.microsoft.com/office/drawing/2014/main" id="{5604F9B1-5B64-4AD5-AED5-7B901EEDEEB8}"/>
              </a:ext>
            </a:extLst>
          </p:cNvPr>
          <p:cNvSpPr>
            <a:spLocks noGrp="1"/>
          </p:cNvSpPr>
          <p:nvPr/>
        </p:nvSpPr>
        <p:spPr>
          <a:xfrm>
            <a:off x="609600" y="5657850"/>
            <a:ext cx="4457700" cy="409575"/>
          </a:xfrm>
          <a:prstGeom prst="rect">
            <a:avLst/>
          </a:prstGeom>
          <a:noFill/>
          <a:ln w="0">
            <a:noFill/>
          </a:ln>
        </p:spPr>
        <p:txBody>
          <a:bodyPr wrap="square" lIns="0" tIns="0" rIns="0" bIns="0" anchor="t">
            <a:noAutofit/>
          </a:bodyPr>
          <a:lstStyle/>
          <a:p>
            <a:pPr>
              <a:defRPr sz="2400" b="1">
                <a:solidFill>
                  <a:srgbClr val="F3F4ED"/>
                </a:solidFill>
                <a:latin typeface="Arial"/>
                <a:ea typeface="Arial"/>
                <a:cs typeface="Arial"/>
              </a:defRPr>
            </a:pPr>
            <a:r>
              <a:rPr sz="2400" b="1">
                <a:solidFill>
                  <a:srgbClr val="F3F4ED"/>
                </a:solidFill>
                <a:latin typeface="Arial"/>
                <a:ea typeface="Arial"/>
                <a:cs typeface="Arial"/>
              </a:rPr>
              <a:t>Questions</a:t>
            </a:r>
          </a:p>
        </p:txBody>
      </p:sp>
      <p:sp>
        <p:nvSpPr>
          <p:cNvPr id="15" name="text-172">
            <a:extLst>
              <a:ext uri="{FF2B5EF4-FFF2-40B4-BE49-F238E27FC236}">
                <a16:creationId xmlns:a16="http://schemas.microsoft.com/office/drawing/2014/main" id="{EFB76EC1-CA12-4765-837C-EEE1F8AEF723}"/>
              </a:ext>
            </a:extLst>
          </p:cNvPr>
          <p:cNvSpPr>
            <a:spLocks noGrp="1"/>
          </p:cNvSpPr>
          <p:nvPr/>
        </p:nvSpPr>
        <p:spPr>
          <a:xfrm>
            <a:off x="5810250" y="5753100"/>
            <a:ext cx="5762625" cy="314325"/>
          </a:xfrm>
          <a:prstGeom prst="rect">
            <a:avLst/>
          </a:prstGeom>
          <a:noFill/>
          <a:ln w="0">
            <a:noFill/>
          </a:ln>
        </p:spPr>
        <p:txBody>
          <a:bodyPr wrap="square" lIns="0" tIns="0" rIns="0" bIns="0" anchor="t">
            <a:noAutofit/>
          </a:bodyPr>
          <a:lstStyle/>
          <a:p>
            <a:pPr algn="r">
              <a:defRPr sz="1575" b="0">
                <a:solidFill>
                  <a:srgbClr val="A8BBC5"/>
                </a:solidFill>
                <a:latin typeface="Arial"/>
                <a:ea typeface="Arial"/>
                <a:cs typeface="Arial"/>
              </a:defRPr>
            </a:pPr>
            <a:r>
              <a:rPr sz="1575" b="0">
                <a:solidFill>
                  <a:srgbClr val="A8BBC5"/>
                </a:solidFill>
                <a:latin typeface="Arial"/>
                <a:ea typeface="Arial"/>
                <a:cs typeface="Arial"/>
              </a:rPr>
              <a:t>Sources and evidence limits follow in the appendix.</a:t>
            </a:r>
          </a:p>
        </p:txBody>
      </p:sp>
    </p:spTree>
    <p:extLst>
      <p:ext uri="{BB962C8B-B14F-4D97-AF65-F5344CB8AC3E}">
        <p14:creationId xmlns:p14="http://schemas.microsoft.com/office/powerpoint/2010/main" val="825338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21" name="text-173">
            <a:extLst>
              <a:ext uri="{FF2B5EF4-FFF2-40B4-BE49-F238E27FC236}">
                <a16:creationId xmlns:a16="http://schemas.microsoft.com/office/drawing/2014/main" id="{BA113A15-2A8A-4682-BF6F-4AD588A0A2C7}"/>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Sources: technology and adoption</a:t>
            </a:r>
          </a:p>
        </p:txBody>
      </p:sp>
      <p:sp>
        <p:nvSpPr>
          <p:cNvPr id="2" name="text-174">
            <a:extLst>
              <a:ext uri="{FF2B5EF4-FFF2-40B4-BE49-F238E27FC236}">
                <a16:creationId xmlns:a16="http://schemas.microsoft.com/office/drawing/2014/main" id="{88F46CC2-52B2-41A4-8AF9-8BB08DE9D30F}"/>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Appendix A  /  Click a source title to open the original</a:t>
            </a:r>
          </a:p>
        </p:txBody>
      </p:sp>
      <p:sp>
        <p:nvSpPr>
          <p:cNvPr id="3" name="rule-175">
            <a:extLst>
              <a:ext uri="{FF2B5EF4-FFF2-40B4-BE49-F238E27FC236}">
                <a16:creationId xmlns:a16="http://schemas.microsoft.com/office/drawing/2014/main" id="{47F09CD8-BB70-4B74-B4B2-BD3BFBD55681}"/>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176">
            <a:extLst>
              <a:ext uri="{FF2B5EF4-FFF2-40B4-BE49-F238E27FC236}">
                <a16:creationId xmlns:a16="http://schemas.microsoft.com/office/drawing/2014/main" id="{1A77CB85-3B39-4F22-83A4-770705817F49}"/>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Sources A   /   Zhou / Li / Miao   /   28 Sep 2026</a:t>
            </a:r>
          </a:p>
        </p:txBody>
      </p:sp>
      <p:sp>
        <p:nvSpPr>
          <p:cNvPr id="5" name="text-177">
            <a:extLst>
              <a:ext uri="{FF2B5EF4-FFF2-40B4-BE49-F238E27FC236}">
                <a16:creationId xmlns:a16="http://schemas.microsoft.com/office/drawing/2014/main" id="{3FA6C617-BDF3-4197-874C-0C1D079431E5}"/>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12</a:t>
            </a:r>
          </a:p>
        </p:txBody>
      </p:sp>
      <p:sp>
        <p:nvSpPr>
          <p:cNvPr id="6" name="text-178">
            <a:extLst>
              <a:ext uri="{FF2B5EF4-FFF2-40B4-BE49-F238E27FC236}">
                <a16:creationId xmlns:a16="http://schemas.microsoft.com/office/drawing/2014/main" id="{74525BC7-AC52-4128-8F6E-7395F7F80B2E}"/>
              </a:ext>
            </a:extLst>
          </p:cNvPr>
          <p:cNvSpPr>
            <a:spLocks noGrp="1"/>
          </p:cNvSpPr>
          <p:nvPr/>
        </p:nvSpPr>
        <p:spPr>
          <a:xfrm>
            <a:off x="609600" y="1971675"/>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01</a:t>
            </a:r>
          </a:p>
        </p:txBody>
      </p:sp>
      <p:sp>
        <p:nvSpPr>
          <p:cNvPr id="7" name="text-179">
            <a:extLst>
              <a:ext uri="{FF2B5EF4-FFF2-40B4-BE49-F238E27FC236}">
                <a16:creationId xmlns:a16="http://schemas.microsoft.com/office/drawing/2014/main" id="{695033E1-2FE5-40CB-9DC1-CAC08388BCFF}"/>
              </a:ext>
            </a:extLst>
          </p:cNvPr>
          <p:cNvSpPr>
            <a:spLocks noGrp="1"/>
          </p:cNvSpPr>
          <p:nvPr/>
        </p:nvSpPr>
        <p:spPr>
          <a:xfrm>
            <a:off x="1333500" y="1971675"/>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Iridium</a:t>
            </a:r>
          </a:p>
        </p:txBody>
      </p:sp>
      <p:sp>
        <p:nvSpPr>
          <p:cNvPr id="8" name="text-180">
            <a:extLst>
              <a:ext uri="{FF2B5EF4-FFF2-40B4-BE49-F238E27FC236}">
                <a16:creationId xmlns:a16="http://schemas.microsoft.com/office/drawing/2014/main" id="{BAA52068-E4E5-4419-9423-2BF7BEEF6C79}"/>
              </a:ext>
            </a:extLst>
          </p:cNvPr>
          <p:cNvSpPr>
            <a:spLocks noGrp="1"/>
          </p:cNvSpPr>
          <p:nvPr/>
        </p:nvSpPr>
        <p:spPr>
          <a:xfrm>
            <a:off x="1333500" y="2362200"/>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3"/>
              </a:rPr>
              <a:t>STL commercial launch (23 May 2016)</a:t>
            </a:r>
          </a:p>
        </p:txBody>
      </p:sp>
      <p:sp>
        <p:nvSpPr>
          <p:cNvPr id="9" name="text-181">
            <a:extLst>
              <a:ext uri="{FF2B5EF4-FFF2-40B4-BE49-F238E27FC236}">
                <a16:creationId xmlns:a16="http://schemas.microsoft.com/office/drawing/2014/main" id="{392738B4-B618-4DA4-ABF0-9FD09ED3BD33}"/>
              </a:ext>
            </a:extLst>
          </p:cNvPr>
          <p:cNvSpPr>
            <a:spLocks noGrp="1"/>
          </p:cNvSpPr>
          <p:nvPr/>
        </p:nvSpPr>
        <p:spPr>
          <a:xfrm>
            <a:off x="609600" y="2800350"/>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02</a:t>
            </a:r>
          </a:p>
        </p:txBody>
      </p:sp>
      <p:sp>
        <p:nvSpPr>
          <p:cNvPr id="10" name="text-182">
            <a:extLst>
              <a:ext uri="{FF2B5EF4-FFF2-40B4-BE49-F238E27FC236}">
                <a16:creationId xmlns:a16="http://schemas.microsoft.com/office/drawing/2014/main" id="{00EE5A07-1F41-4F67-B721-F9ABFB323673}"/>
              </a:ext>
            </a:extLst>
          </p:cNvPr>
          <p:cNvSpPr>
            <a:spLocks noGrp="1"/>
          </p:cNvSpPr>
          <p:nvPr/>
        </p:nvSpPr>
        <p:spPr>
          <a:xfrm>
            <a:off x="1333500" y="2800350"/>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Iridium</a:t>
            </a:r>
          </a:p>
        </p:txBody>
      </p:sp>
      <p:sp>
        <p:nvSpPr>
          <p:cNvPr id="11" name="text-183">
            <a:extLst>
              <a:ext uri="{FF2B5EF4-FFF2-40B4-BE49-F238E27FC236}">
                <a16:creationId xmlns:a16="http://schemas.microsoft.com/office/drawing/2014/main" id="{D07A6E78-F608-4F6F-A035-B040AB39FFB2}"/>
              </a:ext>
            </a:extLst>
          </p:cNvPr>
          <p:cNvSpPr>
            <a:spLocks noGrp="1"/>
          </p:cNvSpPr>
          <p:nvPr/>
        </p:nvSpPr>
        <p:spPr>
          <a:xfrm>
            <a:off x="1333500" y="3190875"/>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4"/>
              </a:rPr>
              <a:t>Satelles acquisition closes (2 Apr 2024)</a:t>
            </a:r>
          </a:p>
        </p:txBody>
      </p:sp>
      <p:sp>
        <p:nvSpPr>
          <p:cNvPr id="12" name="text-184">
            <a:extLst>
              <a:ext uri="{FF2B5EF4-FFF2-40B4-BE49-F238E27FC236}">
                <a16:creationId xmlns:a16="http://schemas.microsoft.com/office/drawing/2014/main" id="{FB729F52-A121-4D47-8549-940E2FC4E11E}"/>
              </a:ext>
            </a:extLst>
          </p:cNvPr>
          <p:cNvSpPr>
            <a:spLocks noGrp="1"/>
          </p:cNvSpPr>
          <p:nvPr/>
        </p:nvSpPr>
        <p:spPr>
          <a:xfrm>
            <a:off x="609600" y="3629025"/>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03</a:t>
            </a:r>
          </a:p>
        </p:txBody>
      </p:sp>
      <p:sp>
        <p:nvSpPr>
          <p:cNvPr id="13" name="text-185">
            <a:extLst>
              <a:ext uri="{FF2B5EF4-FFF2-40B4-BE49-F238E27FC236}">
                <a16:creationId xmlns:a16="http://schemas.microsoft.com/office/drawing/2014/main" id="{07295134-B08D-46B2-947C-E70D4F54C490}"/>
              </a:ext>
            </a:extLst>
          </p:cNvPr>
          <p:cNvSpPr>
            <a:spLocks noGrp="1"/>
          </p:cNvSpPr>
          <p:nvPr/>
        </p:nvSpPr>
        <p:spPr>
          <a:xfrm>
            <a:off x="1333500" y="3629025"/>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Johnson, Novick &amp; Lombardi, NIST</a:t>
            </a:r>
          </a:p>
        </p:txBody>
      </p:sp>
      <p:sp>
        <p:nvSpPr>
          <p:cNvPr id="14" name="text-186">
            <a:extLst>
              <a:ext uri="{FF2B5EF4-FFF2-40B4-BE49-F238E27FC236}">
                <a16:creationId xmlns:a16="http://schemas.microsoft.com/office/drawing/2014/main" id="{7BB9AAFC-1C7A-45D5-B91D-52176DC0421F}"/>
              </a:ext>
            </a:extLst>
          </p:cNvPr>
          <p:cNvSpPr>
            <a:spLocks noGrp="1"/>
          </p:cNvSpPr>
          <p:nvPr/>
        </p:nvSpPr>
        <p:spPr>
          <a:xfrm>
            <a:off x="1333500" y="4019550"/>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5"/>
              </a:rPr>
              <a:t>Measuring the Timing Accuracy of STL Receivers (2023)</a:t>
            </a:r>
          </a:p>
        </p:txBody>
      </p:sp>
      <p:sp>
        <p:nvSpPr>
          <p:cNvPr id="15" name="text-187">
            <a:extLst>
              <a:ext uri="{FF2B5EF4-FFF2-40B4-BE49-F238E27FC236}">
                <a16:creationId xmlns:a16="http://schemas.microsoft.com/office/drawing/2014/main" id="{E55AA2FE-CCE9-4922-BD9B-2EC1C8ED35B0}"/>
              </a:ext>
            </a:extLst>
          </p:cNvPr>
          <p:cNvSpPr>
            <a:spLocks noGrp="1"/>
          </p:cNvSpPr>
          <p:nvPr/>
        </p:nvSpPr>
        <p:spPr>
          <a:xfrm>
            <a:off x="609600" y="4457700"/>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04</a:t>
            </a:r>
          </a:p>
        </p:txBody>
      </p:sp>
      <p:sp>
        <p:nvSpPr>
          <p:cNvPr id="16" name="text-188">
            <a:extLst>
              <a:ext uri="{FF2B5EF4-FFF2-40B4-BE49-F238E27FC236}">
                <a16:creationId xmlns:a16="http://schemas.microsoft.com/office/drawing/2014/main" id="{1F671F67-06AF-4A6C-8721-322F2D9954F1}"/>
              </a:ext>
            </a:extLst>
          </p:cNvPr>
          <p:cNvSpPr>
            <a:spLocks noGrp="1"/>
          </p:cNvSpPr>
          <p:nvPr/>
        </p:nvSpPr>
        <p:spPr>
          <a:xfrm>
            <a:off x="1333500" y="4457700"/>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Iridium</a:t>
            </a:r>
          </a:p>
        </p:txBody>
      </p:sp>
      <p:sp>
        <p:nvSpPr>
          <p:cNvPr id="17" name="text-189">
            <a:extLst>
              <a:ext uri="{FF2B5EF4-FFF2-40B4-BE49-F238E27FC236}">
                <a16:creationId xmlns:a16="http://schemas.microsoft.com/office/drawing/2014/main" id="{45B236AA-2BD2-4970-B6DB-F8C559BE07D9}"/>
              </a:ext>
            </a:extLst>
          </p:cNvPr>
          <p:cNvSpPr>
            <a:spLocks noGrp="1"/>
          </p:cNvSpPr>
          <p:nvPr/>
        </p:nvSpPr>
        <p:spPr>
          <a:xfrm>
            <a:off x="1333500" y="4848225"/>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6"/>
              </a:rPr>
              <a:t>Five-year L3Harris / FAA contract (9 Apr 2024)</a:t>
            </a:r>
          </a:p>
        </p:txBody>
      </p:sp>
      <p:sp>
        <p:nvSpPr>
          <p:cNvPr id="18" name="text-190">
            <a:extLst>
              <a:ext uri="{FF2B5EF4-FFF2-40B4-BE49-F238E27FC236}">
                <a16:creationId xmlns:a16="http://schemas.microsoft.com/office/drawing/2014/main" id="{12B21E46-160E-4E35-BF1B-B85FB72B9938}"/>
              </a:ext>
            </a:extLst>
          </p:cNvPr>
          <p:cNvSpPr>
            <a:spLocks noGrp="1"/>
          </p:cNvSpPr>
          <p:nvPr/>
        </p:nvSpPr>
        <p:spPr>
          <a:xfrm>
            <a:off x="609600" y="5286375"/>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05</a:t>
            </a:r>
          </a:p>
        </p:txBody>
      </p:sp>
      <p:sp>
        <p:nvSpPr>
          <p:cNvPr id="19" name="text-191">
            <a:extLst>
              <a:ext uri="{FF2B5EF4-FFF2-40B4-BE49-F238E27FC236}">
                <a16:creationId xmlns:a16="http://schemas.microsoft.com/office/drawing/2014/main" id="{013472AD-0C73-4581-9828-8E175266F018}"/>
              </a:ext>
            </a:extLst>
          </p:cNvPr>
          <p:cNvSpPr>
            <a:spLocks noGrp="1"/>
          </p:cNvSpPr>
          <p:nvPr/>
        </p:nvSpPr>
        <p:spPr>
          <a:xfrm>
            <a:off x="1333500" y="5286375"/>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Thales Alenia Space</a:t>
            </a:r>
          </a:p>
        </p:txBody>
      </p:sp>
      <p:sp>
        <p:nvSpPr>
          <p:cNvPr id="20" name="text-192">
            <a:extLst>
              <a:ext uri="{FF2B5EF4-FFF2-40B4-BE49-F238E27FC236}">
                <a16:creationId xmlns:a16="http://schemas.microsoft.com/office/drawing/2014/main" id="{F94B3A96-C2D2-4612-9DE6-DABA44A7D85B}"/>
              </a:ext>
            </a:extLst>
          </p:cNvPr>
          <p:cNvSpPr>
            <a:spLocks noGrp="1"/>
          </p:cNvSpPr>
          <p:nvPr/>
        </p:nvSpPr>
        <p:spPr>
          <a:xfrm>
            <a:off x="1333500" y="5676900"/>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7"/>
              </a:rPr>
              <a:t>Last batch of Iridium NEXT satellites in orbit (11 Jan 2019)</a:t>
            </a:r>
          </a:p>
        </p:txBody>
      </p:sp>
    </p:spTree>
    <p:extLst>
      <p:ext uri="{BB962C8B-B14F-4D97-AF65-F5344CB8AC3E}">
        <p14:creationId xmlns:p14="http://schemas.microsoft.com/office/powerpoint/2010/main" val="1745634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21" name="text-193">
            <a:extLst>
              <a:ext uri="{FF2B5EF4-FFF2-40B4-BE49-F238E27FC236}">
                <a16:creationId xmlns:a16="http://schemas.microsoft.com/office/drawing/2014/main" id="{5F92AB87-34A4-46FD-BCDA-95753946C2D9}"/>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Sources: policy, production, and history</a:t>
            </a:r>
          </a:p>
        </p:txBody>
      </p:sp>
      <p:sp>
        <p:nvSpPr>
          <p:cNvPr id="2" name="text-194">
            <a:extLst>
              <a:ext uri="{FF2B5EF4-FFF2-40B4-BE49-F238E27FC236}">
                <a16:creationId xmlns:a16="http://schemas.microsoft.com/office/drawing/2014/main" id="{617028BB-7857-443A-9C09-62FD552F7E34}"/>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Appendix B  /  Click a source title to open the original</a:t>
            </a:r>
          </a:p>
        </p:txBody>
      </p:sp>
      <p:sp>
        <p:nvSpPr>
          <p:cNvPr id="3" name="rule-195">
            <a:extLst>
              <a:ext uri="{FF2B5EF4-FFF2-40B4-BE49-F238E27FC236}">
                <a16:creationId xmlns:a16="http://schemas.microsoft.com/office/drawing/2014/main" id="{874C2161-82D1-4582-8A91-578A7F5C08C5}"/>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196">
            <a:extLst>
              <a:ext uri="{FF2B5EF4-FFF2-40B4-BE49-F238E27FC236}">
                <a16:creationId xmlns:a16="http://schemas.microsoft.com/office/drawing/2014/main" id="{0FA89B30-9CB4-4BF9-BA84-99C2D3E54B34}"/>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Sources B   /   Zhou / Li / Miao   /   28 Sep 2026</a:t>
            </a:r>
          </a:p>
        </p:txBody>
      </p:sp>
      <p:sp>
        <p:nvSpPr>
          <p:cNvPr id="5" name="text-197">
            <a:extLst>
              <a:ext uri="{FF2B5EF4-FFF2-40B4-BE49-F238E27FC236}">
                <a16:creationId xmlns:a16="http://schemas.microsoft.com/office/drawing/2014/main" id="{96249F28-842A-4D26-BC7C-37FB2CF50E97}"/>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13</a:t>
            </a:r>
          </a:p>
        </p:txBody>
      </p:sp>
      <p:sp>
        <p:nvSpPr>
          <p:cNvPr id="6" name="text-198">
            <a:extLst>
              <a:ext uri="{FF2B5EF4-FFF2-40B4-BE49-F238E27FC236}">
                <a16:creationId xmlns:a16="http://schemas.microsoft.com/office/drawing/2014/main" id="{A9A949CE-6BE6-4CAB-8343-880360499B11}"/>
              </a:ext>
            </a:extLst>
          </p:cNvPr>
          <p:cNvSpPr>
            <a:spLocks noGrp="1"/>
          </p:cNvSpPr>
          <p:nvPr/>
        </p:nvSpPr>
        <p:spPr>
          <a:xfrm>
            <a:off x="609600" y="1971675"/>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06</a:t>
            </a:r>
          </a:p>
        </p:txBody>
      </p:sp>
      <p:sp>
        <p:nvSpPr>
          <p:cNvPr id="7" name="text-199">
            <a:extLst>
              <a:ext uri="{FF2B5EF4-FFF2-40B4-BE49-F238E27FC236}">
                <a16:creationId xmlns:a16="http://schemas.microsoft.com/office/drawing/2014/main" id="{798508DD-BC20-4391-88B3-441FA79F8013}"/>
              </a:ext>
            </a:extLst>
          </p:cNvPr>
          <p:cNvSpPr>
            <a:spLocks noGrp="1"/>
          </p:cNvSpPr>
          <p:nvPr/>
        </p:nvSpPr>
        <p:spPr>
          <a:xfrm>
            <a:off x="1333500" y="1971675"/>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DHS / CISA</a:t>
            </a:r>
          </a:p>
        </p:txBody>
      </p:sp>
      <p:sp>
        <p:nvSpPr>
          <p:cNvPr id="8" name="text-200">
            <a:extLst>
              <a:ext uri="{FF2B5EF4-FFF2-40B4-BE49-F238E27FC236}">
                <a16:creationId xmlns:a16="http://schemas.microsoft.com/office/drawing/2014/main" id="{96065BB3-AA9D-4FFF-BE36-45C5C2A9EF88}"/>
              </a:ext>
            </a:extLst>
          </p:cNvPr>
          <p:cNvSpPr>
            <a:spLocks noGrp="1"/>
          </p:cNvSpPr>
          <p:nvPr/>
        </p:nvSpPr>
        <p:spPr>
          <a:xfrm>
            <a:off x="1333500" y="2362200"/>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3"/>
              </a:rPr>
              <a:t>PNT Backup and Complementary Capabilities to GPS (2020)</a:t>
            </a:r>
          </a:p>
        </p:txBody>
      </p:sp>
      <p:sp>
        <p:nvSpPr>
          <p:cNvPr id="9" name="text-201">
            <a:extLst>
              <a:ext uri="{FF2B5EF4-FFF2-40B4-BE49-F238E27FC236}">
                <a16:creationId xmlns:a16="http://schemas.microsoft.com/office/drawing/2014/main" id="{596E0F4C-97B6-468D-AD43-843BAE86AD45}"/>
              </a:ext>
            </a:extLst>
          </p:cNvPr>
          <p:cNvSpPr>
            <a:spLocks noGrp="1"/>
          </p:cNvSpPr>
          <p:nvPr/>
        </p:nvSpPr>
        <p:spPr>
          <a:xfrm>
            <a:off x="609600" y="2800350"/>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07</a:t>
            </a:r>
          </a:p>
        </p:txBody>
      </p:sp>
      <p:sp>
        <p:nvSpPr>
          <p:cNvPr id="10" name="text-202">
            <a:extLst>
              <a:ext uri="{FF2B5EF4-FFF2-40B4-BE49-F238E27FC236}">
                <a16:creationId xmlns:a16="http://schemas.microsoft.com/office/drawing/2014/main" id="{B506F032-306C-49DE-BF37-E68209FC9A96}"/>
              </a:ext>
            </a:extLst>
          </p:cNvPr>
          <p:cNvSpPr>
            <a:spLocks noGrp="1"/>
          </p:cNvSpPr>
          <p:nvPr/>
        </p:nvSpPr>
        <p:spPr>
          <a:xfrm>
            <a:off x="1333500" y="2800350"/>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Executive Order 13905</a:t>
            </a:r>
          </a:p>
        </p:txBody>
      </p:sp>
      <p:sp>
        <p:nvSpPr>
          <p:cNvPr id="11" name="text-203">
            <a:extLst>
              <a:ext uri="{FF2B5EF4-FFF2-40B4-BE49-F238E27FC236}">
                <a16:creationId xmlns:a16="http://schemas.microsoft.com/office/drawing/2014/main" id="{FA0D177F-AF28-4BE2-A81D-64845FDFC8AF}"/>
              </a:ext>
            </a:extLst>
          </p:cNvPr>
          <p:cNvSpPr>
            <a:spLocks noGrp="1"/>
          </p:cNvSpPr>
          <p:nvPr/>
        </p:nvSpPr>
        <p:spPr>
          <a:xfrm>
            <a:off x="1333500" y="3190875"/>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4"/>
              </a:rPr>
              <a:t>Responsible Use of PNT Services (12 Feb 2020)</a:t>
            </a:r>
          </a:p>
        </p:txBody>
      </p:sp>
      <p:sp>
        <p:nvSpPr>
          <p:cNvPr id="12" name="text-204">
            <a:extLst>
              <a:ext uri="{FF2B5EF4-FFF2-40B4-BE49-F238E27FC236}">
                <a16:creationId xmlns:a16="http://schemas.microsoft.com/office/drawing/2014/main" id="{25AB79E3-0D5C-407B-AA55-0DCFAA624C9C}"/>
              </a:ext>
            </a:extLst>
          </p:cNvPr>
          <p:cNvSpPr>
            <a:spLocks noGrp="1"/>
          </p:cNvSpPr>
          <p:nvPr/>
        </p:nvSpPr>
        <p:spPr>
          <a:xfrm>
            <a:off x="609600" y="3629025"/>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08</a:t>
            </a:r>
          </a:p>
        </p:txBody>
      </p:sp>
      <p:sp>
        <p:nvSpPr>
          <p:cNvPr id="13" name="text-205">
            <a:extLst>
              <a:ext uri="{FF2B5EF4-FFF2-40B4-BE49-F238E27FC236}">
                <a16:creationId xmlns:a16="http://schemas.microsoft.com/office/drawing/2014/main" id="{556CE5AA-E2F9-48FA-AE96-1902FBED5B4B}"/>
              </a:ext>
            </a:extLst>
          </p:cNvPr>
          <p:cNvSpPr>
            <a:spLocks noGrp="1"/>
          </p:cNvSpPr>
          <p:nvPr/>
        </p:nvSpPr>
        <p:spPr>
          <a:xfrm>
            <a:off x="1333500" y="3629025"/>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Jason Y. Kim, Office of Space Commerce</a:t>
            </a:r>
          </a:p>
        </p:txBody>
      </p:sp>
      <p:sp>
        <p:nvSpPr>
          <p:cNvPr id="14" name="text-206">
            <a:extLst>
              <a:ext uri="{FF2B5EF4-FFF2-40B4-BE49-F238E27FC236}">
                <a16:creationId xmlns:a16="http://schemas.microsoft.com/office/drawing/2014/main" id="{688F2F81-8237-4FDC-B87C-B215C4343900}"/>
              </a:ext>
            </a:extLst>
          </p:cNvPr>
          <p:cNvSpPr>
            <a:spLocks noGrp="1"/>
          </p:cNvSpPr>
          <p:nvPr/>
        </p:nvSpPr>
        <p:spPr>
          <a:xfrm>
            <a:off x="1333500" y="4019550"/>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5"/>
              </a:rPr>
              <a:t>U.S. Export Controls on GPS/GNSS Equipment (18 Mar 2022)</a:t>
            </a:r>
          </a:p>
        </p:txBody>
      </p:sp>
      <p:sp>
        <p:nvSpPr>
          <p:cNvPr id="15" name="text-207">
            <a:extLst>
              <a:ext uri="{FF2B5EF4-FFF2-40B4-BE49-F238E27FC236}">
                <a16:creationId xmlns:a16="http://schemas.microsoft.com/office/drawing/2014/main" id="{191182BC-6A46-4D5F-BFE8-FC71585AC3D8}"/>
              </a:ext>
            </a:extLst>
          </p:cNvPr>
          <p:cNvSpPr>
            <a:spLocks noGrp="1"/>
          </p:cNvSpPr>
          <p:nvPr/>
        </p:nvSpPr>
        <p:spPr>
          <a:xfrm>
            <a:off x="609600" y="4457700"/>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09</a:t>
            </a:r>
          </a:p>
        </p:txBody>
      </p:sp>
      <p:sp>
        <p:nvSpPr>
          <p:cNvPr id="16" name="text-208">
            <a:extLst>
              <a:ext uri="{FF2B5EF4-FFF2-40B4-BE49-F238E27FC236}">
                <a16:creationId xmlns:a16="http://schemas.microsoft.com/office/drawing/2014/main" id="{34473CBC-6FE9-45D8-BB8C-EF72381B1C90}"/>
              </a:ext>
            </a:extLst>
          </p:cNvPr>
          <p:cNvSpPr>
            <a:spLocks noGrp="1"/>
          </p:cNvSpPr>
          <p:nvPr/>
        </p:nvSpPr>
        <p:spPr>
          <a:xfrm>
            <a:off x="1333500" y="4457700"/>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Thales Alenia Space</a:t>
            </a:r>
          </a:p>
        </p:txBody>
      </p:sp>
      <p:sp>
        <p:nvSpPr>
          <p:cNvPr id="17" name="text-209">
            <a:extLst>
              <a:ext uri="{FF2B5EF4-FFF2-40B4-BE49-F238E27FC236}">
                <a16:creationId xmlns:a16="http://schemas.microsoft.com/office/drawing/2014/main" id="{2FEB853F-5431-4A2D-A396-6521107AAC39}"/>
              </a:ext>
            </a:extLst>
          </p:cNvPr>
          <p:cNvSpPr>
            <a:spLocks noGrp="1"/>
          </p:cNvSpPr>
          <p:nvPr/>
        </p:nvSpPr>
        <p:spPr>
          <a:xfrm>
            <a:off x="1333500" y="4848225"/>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6"/>
              </a:rPr>
              <a:t>Iridium NEXT production organization (6 Jan 2017)</a:t>
            </a:r>
          </a:p>
        </p:txBody>
      </p:sp>
      <p:sp>
        <p:nvSpPr>
          <p:cNvPr id="18" name="text-210">
            <a:extLst>
              <a:ext uri="{FF2B5EF4-FFF2-40B4-BE49-F238E27FC236}">
                <a16:creationId xmlns:a16="http://schemas.microsoft.com/office/drawing/2014/main" id="{47EA3DE0-A4B8-4941-8EB5-91B866984B20}"/>
              </a:ext>
            </a:extLst>
          </p:cNvPr>
          <p:cNvSpPr>
            <a:spLocks noGrp="1"/>
          </p:cNvSpPr>
          <p:nvPr/>
        </p:nvSpPr>
        <p:spPr>
          <a:xfrm>
            <a:off x="609600" y="5286375"/>
            <a:ext cx="523875" cy="285750"/>
          </a:xfrm>
          <a:prstGeom prst="rect">
            <a:avLst/>
          </a:prstGeom>
          <a:noFill/>
          <a:ln w="0">
            <a:noFill/>
          </a:ln>
        </p:spPr>
        <p:txBody>
          <a:bodyPr wrap="square" lIns="0" tIns="0" rIns="0" bIns="0" anchor="t">
            <a:noAutofit/>
          </a:bodyPr>
          <a:lstStyle/>
          <a:p>
            <a:pPr>
              <a:defRPr sz="1575" b="1">
                <a:solidFill>
                  <a:srgbClr val="6EDFC3"/>
                </a:solidFill>
                <a:latin typeface="Arial"/>
                <a:ea typeface="Arial"/>
                <a:cs typeface="Arial"/>
              </a:defRPr>
            </a:pPr>
            <a:r>
              <a:rPr sz="1575" b="1">
                <a:solidFill>
                  <a:srgbClr val="6EDFC3"/>
                </a:solidFill>
                <a:latin typeface="Arial"/>
                <a:ea typeface="Arial"/>
                <a:cs typeface="Arial"/>
              </a:rPr>
              <a:t>10</a:t>
            </a:r>
          </a:p>
        </p:txBody>
      </p:sp>
      <p:sp>
        <p:nvSpPr>
          <p:cNvPr id="19" name="text-211">
            <a:extLst>
              <a:ext uri="{FF2B5EF4-FFF2-40B4-BE49-F238E27FC236}">
                <a16:creationId xmlns:a16="http://schemas.microsoft.com/office/drawing/2014/main" id="{F83FA5CB-3625-4340-BFD7-C3C815C257FD}"/>
              </a:ext>
            </a:extLst>
          </p:cNvPr>
          <p:cNvSpPr>
            <a:spLocks noGrp="1"/>
          </p:cNvSpPr>
          <p:nvPr/>
        </p:nvSpPr>
        <p:spPr>
          <a:xfrm>
            <a:off x="1333500" y="5286375"/>
            <a:ext cx="10248900" cy="323850"/>
          </a:xfrm>
          <a:prstGeom prst="rect">
            <a:avLst/>
          </a:prstGeom>
          <a:noFill/>
          <a:ln w="0">
            <a:noFill/>
          </a:ln>
        </p:spPr>
        <p:txBody>
          <a:bodyPr wrap="square" lIns="0" tIns="0" rIns="0" bIns="0" anchor="t">
            <a:noAutofit/>
          </a:bodyPr>
          <a:lstStyle/>
          <a:p>
            <a:pPr>
              <a:defRPr sz="1800" b="1">
                <a:solidFill>
                  <a:srgbClr val="F3F4ED"/>
                </a:solidFill>
                <a:latin typeface="Arial"/>
                <a:ea typeface="Arial"/>
                <a:cs typeface="Arial"/>
              </a:defRPr>
            </a:pPr>
            <a:r>
              <a:rPr sz="1800" b="1">
                <a:solidFill>
                  <a:srgbClr val="F3F4ED"/>
                </a:solidFill>
                <a:latin typeface="Arial"/>
                <a:ea typeface="Arial"/>
                <a:cs typeface="Arial"/>
              </a:rPr>
              <a:t>Iridium Museum</a:t>
            </a:r>
          </a:p>
        </p:txBody>
      </p:sp>
      <p:sp>
        <p:nvSpPr>
          <p:cNvPr id="20" name="text-212">
            <a:extLst>
              <a:ext uri="{FF2B5EF4-FFF2-40B4-BE49-F238E27FC236}">
                <a16:creationId xmlns:a16="http://schemas.microsoft.com/office/drawing/2014/main" id="{68A65652-B2A8-42FC-9E9C-D07928867619}"/>
              </a:ext>
            </a:extLst>
          </p:cNvPr>
          <p:cNvSpPr>
            <a:spLocks noGrp="1"/>
          </p:cNvSpPr>
          <p:nvPr/>
        </p:nvSpPr>
        <p:spPr>
          <a:xfrm>
            <a:off x="1333500" y="5676900"/>
            <a:ext cx="10248900" cy="457200"/>
          </a:xfrm>
          <a:prstGeom prst="rect">
            <a:avLst/>
          </a:prstGeom>
          <a:noFill/>
          <a:ln w="0">
            <a:noFill/>
          </a:ln>
        </p:spPr>
        <p:txBody>
          <a:bodyPr wrap="square" lIns="0" tIns="0" rIns="0" bIns="0" anchor="t">
            <a:noAutofit/>
          </a:bodyPr>
          <a:lstStyle/>
          <a:p>
            <a:pPr>
              <a:defRPr sz="1650" b="0">
                <a:solidFill>
                  <a:srgbClr val="A8BBC5"/>
                </a:solidFill>
                <a:latin typeface="Arial"/>
                <a:ea typeface="Arial"/>
                <a:cs typeface="Arial"/>
              </a:defRPr>
            </a:pPr>
            <a:r>
              <a:rPr sz="1650" b="0">
                <a:solidFill>
                  <a:srgbClr val="A8BBC5"/>
                </a:solidFill>
                <a:latin typeface="Arial"/>
                <a:ea typeface="Arial"/>
                <a:cs typeface="Arial"/>
                <a:hlinkClick r:id="rId7"/>
              </a:rPr>
              <a:t>Iridium Timeline (Corporate history)</a:t>
            </a:r>
          </a:p>
        </p:txBody>
      </p:sp>
    </p:spTree>
    <p:extLst>
      <p:ext uri="{BB962C8B-B14F-4D97-AF65-F5344CB8AC3E}">
        <p14:creationId xmlns:p14="http://schemas.microsoft.com/office/powerpoint/2010/main" val="1191886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720"/>
        </a:solidFill>
        <a:effectLst/>
      </p:bgPr>
    </p:bg>
    <p:spTree>
      <p:nvGrpSpPr>
        <p:cNvPr id="1" name=""/>
        <p:cNvGrpSpPr/>
        <p:nvPr/>
      </p:nvGrpSpPr>
      <p:grpSpPr>
        <a:xfrm>
          <a:off x="0" y="0"/>
          <a:ext cx="0" cy="0"/>
          <a:chOff x="0" y="0"/>
          <a:chExt cx="0" cy="0"/>
        </a:xfrm>
      </p:grpSpPr>
      <p:sp>
        <p:nvSpPr>
          <p:cNvPr id="14" name="text-213">
            <a:extLst>
              <a:ext uri="{FF2B5EF4-FFF2-40B4-BE49-F238E27FC236}">
                <a16:creationId xmlns:a16="http://schemas.microsoft.com/office/drawing/2014/main" id="{EFA0D1A3-A289-4F18-A67C-4F0707B852C3}"/>
              </a:ext>
            </a:extLst>
          </p:cNvPr>
          <p:cNvSpPr>
            <a:spLocks noGrp="1"/>
          </p:cNvSpPr>
          <p:nvPr/>
        </p:nvSpPr>
        <p:spPr>
          <a:xfrm>
            <a:off x="609600" y="504825"/>
            <a:ext cx="10953750" cy="685800"/>
          </a:xfrm>
          <a:prstGeom prst="rect">
            <a:avLst/>
          </a:prstGeom>
          <a:noFill/>
          <a:ln w="0">
            <a:noFill/>
          </a:ln>
        </p:spPr>
        <p:txBody>
          <a:bodyPr wrap="square" lIns="0" tIns="0" rIns="0" bIns="0" anchor="t">
            <a:noAutofit/>
          </a:bodyPr>
          <a:lstStyle/>
          <a:p>
            <a:pPr>
              <a:defRPr sz="3450" b="1">
                <a:solidFill>
                  <a:srgbClr val="F3F4ED"/>
                </a:solidFill>
                <a:latin typeface="Arial"/>
                <a:ea typeface="Arial"/>
                <a:cs typeface="Arial"/>
              </a:defRPr>
            </a:pPr>
            <a:r>
              <a:rPr sz="3450" b="1">
                <a:solidFill>
                  <a:srgbClr val="F3F4ED"/>
                </a:solidFill>
                <a:latin typeface="Arial"/>
                <a:ea typeface="Arial"/>
                <a:cs typeface="Arial"/>
              </a:rPr>
              <a:t>What the evidence can support</a:t>
            </a:r>
          </a:p>
        </p:txBody>
      </p:sp>
      <p:sp>
        <p:nvSpPr>
          <p:cNvPr id="2" name="text-214">
            <a:extLst>
              <a:ext uri="{FF2B5EF4-FFF2-40B4-BE49-F238E27FC236}">
                <a16:creationId xmlns:a16="http://schemas.microsoft.com/office/drawing/2014/main" id="{07E659F2-8668-4188-B011-AC946E0491EC}"/>
              </a:ext>
            </a:extLst>
          </p:cNvPr>
          <p:cNvSpPr>
            <a:spLocks noGrp="1"/>
          </p:cNvSpPr>
          <p:nvPr/>
        </p:nvSpPr>
        <p:spPr>
          <a:xfrm>
            <a:off x="609600" y="1276350"/>
            <a:ext cx="10953750" cy="476250"/>
          </a:xfrm>
          <a:prstGeom prst="rect">
            <a:avLst/>
          </a:prstGeom>
          <a:noFill/>
          <a:ln w="0">
            <a:noFill/>
          </a:ln>
        </p:spPr>
        <p:txBody>
          <a:bodyPr wrap="square" lIns="0" tIns="0" rIns="0" bIns="0" anchor="t">
            <a:noAutofit/>
          </a:bodyPr>
          <a:lstStyle/>
          <a:p>
            <a:pPr>
              <a:defRPr sz="1575" b="0">
                <a:solidFill>
                  <a:srgbClr val="A8BBC5"/>
                </a:solidFill>
                <a:latin typeface="Arial"/>
                <a:ea typeface="Arial"/>
                <a:cs typeface="Arial"/>
              </a:defRPr>
            </a:pPr>
            <a:r>
              <a:rPr sz="1575" b="0">
                <a:solidFill>
                  <a:srgbClr val="A8BBC5"/>
                </a:solidFill>
                <a:latin typeface="Arial"/>
                <a:ea typeface="Arial"/>
                <a:cs typeface="Arial"/>
              </a:rPr>
              <a:t>Appendix C  /  Boundaries for Q&amp;A</a:t>
            </a:r>
          </a:p>
        </p:txBody>
      </p:sp>
      <p:sp>
        <p:nvSpPr>
          <p:cNvPr id="3" name="rule-215">
            <a:extLst>
              <a:ext uri="{FF2B5EF4-FFF2-40B4-BE49-F238E27FC236}">
                <a16:creationId xmlns:a16="http://schemas.microsoft.com/office/drawing/2014/main" id="{96F76ACD-D0DA-423D-BB88-5E47DE9A7C48}"/>
              </a:ext>
            </a:extLst>
          </p:cNvPr>
          <p:cNvSpPr>
            <a:spLocks noGrp="1"/>
          </p:cNvSpPr>
          <p:nvPr/>
        </p:nvSpPr>
        <p:spPr>
          <a:xfrm>
            <a:off x="609600" y="6286500"/>
            <a:ext cx="10972800" cy="0"/>
          </a:xfrm>
          <a:prstGeom prst="line">
            <a:avLst/>
          </a:prstGeom>
          <a:noFill/>
          <a:ln w="9525">
            <a:solidFill>
              <a:srgbClr val="29414D"/>
            </a:solidFill>
          </a:ln>
        </p:spPr>
        <p:txBody>
          <a:bodyPr/>
          <a:lstStyle/>
          <a:p>
            <a:endParaRPr lang="zh-CN" altLang="en-US"/>
          </a:p>
        </p:txBody>
      </p:sp>
      <p:sp>
        <p:nvSpPr>
          <p:cNvPr id="4" name="text-216">
            <a:extLst>
              <a:ext uri="{FF2B5EF4-FFF2-40B4-BE49-F238E27FC236}">
                <a16:creationId xmlns:a16="http://schemas.microsoft.com/office/drawing/2014/main" id="{BB4C6700-CFDC-4BA0-93B5-1DCE0950F30C}"/>
              </a:ext>
            </a:extLst>
          </p:cNvPr>
          <p:cNvSpPr>
            <a:spLocks noGrp="1"/>
          </p:cNvSpPr>
          <p:nvPr/>
        </p:nvSpPr>
        <p:spPr>
          <a:xfrm>
            <a:off x="609600" y="6467475"/>
            <a:ext cx="10287000" cy="171450"/>
          </a:xfrm>
          <a:prstGeom prst="rect">
            <a:avLst/>
          </a:prstGeom>
          <a:noFill/>
          <a:ln w="0">
            <a:noFill/>
          </a:ln>
        </p:spPr>
        <p:txBody>
          <a:bodyPr wrap="square" lIns="0" tIns="0" rIns="0" bIns="0" anchor="t">
            <a:noAutofit/>
          </a:bodyPr>
          <a:lstStyle/>
          <a:p>
            <a:pPr>
              <a:defRPr sz="1125" b="0">
                <a:solidFill>
                  <a:srgbClr val="A8BBC5"/>
                </a:solidFill>
                <a:latin typeface="Arial"/>
                <a:ea typeface="Arial"/>
                <a:cs typeface="Arial"/>
              </a:defRPr>
            </a:pPr>
            <a:r>
              <a:rPr sz="1125" b="0">
                <a:solidFill>
                  <a:srgbClr val="A8BBC5"/>
                </a:solidFill>
                <a:latin typeface="Arial"/>
                <a:ea typeface="Arial"/>
                <a:cs typeface="Arial"/>
              </a:rPr>
              <a:t>Evidence limits   /   Zhou / Li / Miao   /   28 Sep 2026</a:t>
            </a:r>
          </a:p>
        </p:txBody>
      </p:sp>
      <p:sp>
        <p:nvSpPr>
          <p:cNvPr id="5" name="text-217">
            <a:extLst>
              <a:ext uri="{FF2B5EF4-FFF2-40B4-BE49-F238E27FC236}">
                <a16:creationId xmlns:a16="http://schemas.microsoft.com/office/drawing/2014/main" id="{6D3A2E68-2765-4C19-9776-A818C8D30ECE}"/>
              </a:ext>
            </a:extLst>
          </p:cNvPr>
          <p:cNvSpPr>
            <a:spLocks noGrp="1"/>
          </p:cNvSpPr>
          <p:nvPr/>
        </p:nvSpPr>
        <p:spPr>
          <a:xfrm>
            <a:off x="11068050" y="6419850"/>
            <a:ext cx="514350" cy="266700"/>
          </a:xfrm>
          <a:prstGeom prst="rect">
            <a:avLst/>
          </a:prstGeom>
          <a:noFill/>
          <a:ln w="0">
            <a:noFill/>
          </a:ln>
        </p:spPr>
        <p:txBody>
          <a:bodyPr wrap="square" lIns="0" tIns="0" rIns="0" bIns="0" anchor="t">
            <a:noAutofit/>
          </a:bodyPr>
          <a:lstStyle/>
          <a:p>
            <a:pPr algn="r">
              <a:defRPr sz="1500" b="0">
                <a:solidFill>
                  <a:srgbClr val="6EDFC3"/>
                </a:solidFill>
                <a:latin typeface="Arial"/>
                <a:ea typeface="Arial"/>
                <a:cs typeface="Arial"/>
              </a:defRPr>
            </a:pPr>
            <a:r>
              <a:rPr sz="1500" b="0">
                <a:solidFill>
                  <a:srgbClr val="6EDFC3"/>
                </a:solidFill>
                <a:latin typeface="Arial"/>
                <a:ea typeface="Arial"/>
                <a:cs typeface="Arial"/>
              </a:rPr>
              <a:t>14</a:t>
            </a:r>
          </a:p>
        </p:txBody>
      </p:sp>
      <p:sp>
        <p:nvSpPr>
          <p:cNvPr id="6" name="text-218">
            <a:extLst>
              <a:ext uri="{FF2B5EF4-FFF2-40B4-BE49-F238E27FC236}">
                <a16:creationId xmlns:a16="http://schemas.microsoft.com/office/drawing/2014/main" id="{88992EBC-5A92-49DD-975C-2EC767CEDDAD}"/>
              </a:ext>
            </a:extLst>
          </p:cNvPr>
          <p:cNvSpPr>
            <a:spLocks noGrp="1"/>
          </p:cNvSpPr>
          <p:nvPr/>
        </p:nvSpPr>
        <p:spPr>
          <a:xfrm>
            <a:off x="609600" y="1981200"/>
            <a:ext cx="2743200" cy="361950"/>
          </a:xfrm>
          <a:prstGeom prst="rect">
            <a:avLst/>
          </a:prstGeom>
          <a:noFill/>
          <a:ln w="0">
            <a:noFill/>
          </a:ln>
        </p:spPr>
        <p:txBody>
          <a:bodyPr wrap="square" lIns="0" tIns="0" rIns="0" bIns="0" anchor="t">
            <a:noAutofit/>
          </a:bodyPr>
          <a:lstStyle/>
          <a:p>
            <a:pPr>
              <a:defRPr sz="2025" b="1">
                <a:solidFill>
                  <a:srgbClr val="6EDFC3"/>
                </a:solidFill>
                <a:latin typeface="Arial"/>
                <a:ea typeface="Arial"/>
                <a:cs typeface="Arial"/>
              </a:defRPr>
            </a:pPr>
            <a:r>
              <a:rPr sz="2025" b="1">
                <a:solidFill>
                  <a:srgbClr val="6EDFC3"/>
                </a:solidFill>
                <a:latin typeface="Arial"/>
                <a:ea typeface="Arial"/>
                <a:cs typeface="Arial"/>
              </a:rPr>
              <a:t>Performance</a:t>
            </a:r>
          </a:p>
        </p:txBody>
      </p:sp>
      <p:sp>
        <p:nvSpPr>
          <p:cNvPr id="7" name="text-219">
            <a:extLst>
              <a:ext uri="{FF2B5EF4-FFF2-40B4-BE49-F238E27FC236}">
                <a16:creationId xmlns:a16="http://schemas.microsoft.com/office/drawing/2014/main" id="{1A92180C-7A60-4EDF-B0A1-A9E3893066DD}"/>
              </a:ext>
            </a:extLst>
          </p:cNvPr>
          <p:cNvSpPr>
            <a:spLocks noGrp="1"/>
          </p:cNvSpPr>
          <p:nvPr/>
        </p:nvSpPr>
        <p:spPr>
          <a:xfrm>
            <a:off x="3829050" y="1981200"/>
            <a:ext cx="7753350" cy="733425"/>
          </a:xfrm>
          <a:prstGeom prst="rect">
            <a:avLst/>
          </a:prstGeom>
          <a:noFill/>
          <a:ln w="0">
            <a:noFill/>
          </a:ln>
        </p:spPr>
        <p:txBody>
          <a:bodyPr wrap="square" lIns="0" tIns="0" rIns="0" bIns="0" anchor="t">
            <a:noAutofit/>
          </a:bodyPr>
          <a:lstStyle/>
          <a:p>
            <a:pPr>
              <a:defRPr sz="2025" b="0">
                <a:solidFill>
                  <a:srgbClr val="F3F4ED"/>
                </a:solidFill>
                <a:latin typeface="Arial"/>
                <a:ea typeface="Arial"/>
                <a:cs typeface="Arial"/>
              </a:defRPr>
            </a:pPr>
            <a:r>
              <a:rPr sz="2025" b="0">
                <a:solidFill>
                  <a:srgbClr val="F3F4ED"/>
                </a:solidFill>
                <a:latin typeface="Arial"/>
                <a:ea typeface="Arial"/>
                <a:cs typeface="Arial"/>
              </a:rPr>
              <a:t>NIST measured specific receiver configurations.</a:t>
            </a:r>
          </a:p>
          <a:p>
            <a:pPr>
              <a:defRPr sz="2025" b="0">
                <a:solidFill>
                  <a:srgbClr val="F3F4ED"/>
                </a:solidFill>
                <a:latin typeface="Arial"/>
                <a:ea typeface="Arial"/>
                <a:cs typeface="Arial"/>
              </a:defRPr>
            </a:pPr>
            <a:r>
              <a:rPr sz="2025" b="0">
                <a:solidFill>
                  <a:srgbClr val="F3F4ED"/>
                </a:solidFill>
                <a:latin typeface="Arial"/>
                <a:ea typeface="Arial"/>
                <a:cs typeface="Arial"/>
              </a:rPr>
              <a:t>CISA’s 2020 comparison used submitter-reported data.</a:t>
            </a:r>
          </a:p>
        </p:txBody>
      </p:sp>
      <p:sp>
        <p:nvSpPr>
          <p:cNvPr id="8" name="text-220">
            <a:extLst>
              <a:ext uri="{FF2B5EF4-FFF2-40B4-BE49-F238E27FC236}">
                <a16:creationId xmlns:a16="http://schemas.microsoft.com/office/drawing/2014/main" id="{BAA801E0-569C-42F3-93B8-7F2D2BCCD704}"/>
              </a:ext>
            </a:extLst>
          </p:cNvPr>
          <p:cNvSpPr>
            <a:spLocks noGrp="1"/>
          </p:cNvSpPr>
          <p:nvPr/>
        </p:nvSpPr>
        <p:spPr>
          <a:xfrm>
            <a:off x="609600" y="2981325"/>
            <a:ext cx="2743200" cy="361950"/>
          </a:xfrm>
          <a:prstGeom prst="rect">
            <a:avLst/>
          </a:prstGeom>
          <a:noFill/>
          <a:ln w="0">
            <a:noFill/>
          </a:ln>
        </p:spPr>
        <p:txBody>
          <a:bodyPr wrap="square" lIns="0" tIns="0" rIns="0" bIns="0" anchor="t">
            <a:noAutofit/>
          </a:bodyPr>
          <a:lstStyle/>
          <a:p>
            <a:pPr>
              <a:defRPr sz="2025" b="1">
                <a:solidFill>
                  <a:srgbClr val="6EDFC3"/>
                </a:solidFill>
                <a:latin typeface="Arial"/>
                <a:ea typeface="Arial"/>
                <a:cs typeface="Arial"/>
              </a:defRPr>
            </a:pPr>
            <a:r>
              <a:rPr sz="2025" b="1">
                <a:solidFill>
                  <a:srgbClr val="6EDFC3"/>
                </a:solidFill>
                <a:latin typeface="Arial"/>
                <a:ea typeface="Arial"/>
                <a:cs typeface="Arial"/>
              </a:rPr>
              <a:t>Military use</a:t>
            </a:r>
          </a:p>
        </p:txBody>
      </p:sp>
      <p:sp>
        <p:nvSpPr>
          <p:cNvPr id="9" name="text-221">
            <a:extLst>
              <a:ext uri="{FF2B5EF4-FFF2-40B4-BE49-F238E27FC236}">
                <a16:creationId xmlns:a16="http://schemas.microsoft.com/office/drawing/2014/main" id="{1886CDCE-6AB3-4F51-9A37-06C554FA226E}"/>
              </a:ext>
            </a:extLst>
          </p:cNvPr>
          <p:cNvSpPr>
            <a:spLocks noGrp="1"/>
          </p:cNvSpPr>
          <p:nvPr/>
        </p:nvSpPr>
        <p:spPr>
          <a:xfrm>
            <a:off x="3829050" y="2981325"/>
            <a:ext cx="7753350" cy="733425"/>
          </a:xfrm>
          <a:prstGeom prst="rect">
            <a:avLst/>
          </a:prstGeom>
          <a:noFill/>
          <a:ln w="0">
            <a:noFill/>
          </a:ln>
        </p:spPr>
        <p:txBody>
          <a:bodyPr wrap="square" lIns="0" tIns="0" rIns="0" bIns="0" anchor="t">
            <a:noAutofit/>
          </a:bodyPr>
          <a:lstStyle/>
          <a:p>
            <a:pPr>
              <a:defRPr sz="2025" b="0">
                <a:solidFill>
                  <a:srgbClr val="F3F4ED"/>
                </a:solidFill>
                <a:latin typeface="Arial"/>
                <a:ea typeface="Arial"/>
                <a:cs typeface="Arial"/>
              </a:defRPr>
            </a:pPr>
            <a:r>
              <a:rPr sz="2025" b="0">
                <a:solidFill>
                  <a:srgbClr val="F3F4ED"/>
                </a:solidFill>
                <a:latin typeface="Arial"/>
                <a:ea typeface="Arial"/>
                <a:cs typeface="Arial"/>
              </a:rPr>
              <a:t>Public sources report military demonstrations and an offering.</a:t>
            </a:r>
          </a:p>
          <a:p>
            <a:pPr>
              <a:defRPr sz="2025" b="0">
                <a:solidFill>
                  <a:srgbClr val="F3F4ED"/>
                </a:solidFill>
                <a:latin typeface="Arial"/>
                <a:ea typeface="Arial"/>
                <a:cs typeface="Arial"/>
              </a:defRPr>
            </a:pPr>
            <a:r>
              <a:rPr sz="2025" b="0">
                <a:solidFill>
                  <a:srgbClr val="F3F4ED"/>
                </a:solidFill>
                <a:latin typeface="Arial"/>
                <a:ea typeface="Arial"/>
                <a:cs typeface="Arial"/>
              </a:rPr>
              <a:t>The named FAA case establishes civilian infrastructure use.</a:t>
            </a:r>
          </a:p>
        </p:txBody>
      </p:sp>
      <p:sp>
        <p:nvSpPr>
          <p:cNvPr id="10" name="text-222">
            <a:extLst>
              <a:ext uri="{FF2B5EF4-FFF2-40B4-BE49-F238E27FC236}">
                <a16:creationId xmlns:a16="http://schemas.microsoft.com/office/drawing/2014/main" id="{FC96BA7D-395C-477A-9AAF-889681281419}"/>
              </a:ext>
            </a:extLst>
          </p:cNvPr>
          <p:cNvSpPr>
            <a:spLocks noGrp="1"/>
          </p:cNvSpPr>
          <p:nvPr/>
        </p:nvSpPr>
        <p:spPr>
          <a:xfrm>
            <a:off x="609600" y="3981450"/>
            <a:ext cx="2743200" cy="361950"/>
          </a:xfrm>
          <a:prstGeom prst="rect">
            <a:avLst/>
          </a:prstGeom>
          <a:noFill/>
          <a:ln w="0">
            <a:noFill/>
          </a:ln>
        </p:spPr>
        <p:txBody>
          <a:bodyPr wrap="square" lIns="0" tIns="0" rIns="0" bIns="0" anchor="t">
            <a:noAutofit/>
          </a:bodyPr>
          <a:lstStyle/>
          <a:p>
            <a:pPr>
              <a:defRPr sz="2025" b="1">
                <a:solidFill>
                  <a:srgbClr val="6EDFC3"/>
                </a:solidFill>
                <a:latin typeface="Arial"/>
                <a:ea typeface="Arial"/>
                <a:cs typeface="Arial"/>
              </a:defRPr>
            </a:pPr>
            <a:r>
              <a:rPr sz="2025" b="1">
                <a:solidFill>
                  <a:srgbClr val="6EDFC3"/>
                </a:solidFill>
                <a:latin typeface="Arial"/>
                <a:ea typeface="Arial"/>
                <a:cs typeface="Arial"/>
              </a:rPr>
              <a:t>Export controls</a:t>
            </a:r>
          </a:p>
        </p:txBody>
      </p:sp>
      <p:sp>
        <p:nvSpPr>
          <p:cNvPr id="11" name="text-223">
            <a:extLst>
              <a:ext uri="{FF2B5EF4-FFF2-40B4-BE49-F238E27FC236}">
                <a16:creationId xmlns:a16="http://schemas.microsoft.com/office/drawing/2014/main" id="{5CA8D3C3-959C-47FE-96B8-B6453BA7F584}"/>
              </a:ext>
            </a:extLst>
          </p:cNvPr>
          <p:cNvSpPr>
            <a:spLocks noGrp="1"/>
          </p:cNvSpPr>
          <p:nvPr/>
        </p:nvSpPr>
        <p:spPr>
          <a:xfrm>
            <a:off x="3829050" y="3981450"/>
            <a:ext cx="7753350" cy="733425"/>
          </a:xfrm>
          <a:prstGeom prst="rect">
            <a:avLst/>
          </a:prstGeom>
          <a:noFill/>
          <a:ln w="0">
            <a:noFill/>
          </a:ln>
        </p:spPr>
        <p:txBody>
          <a:bodyPr wrap="square" lIns="0" tIns="0" rIns="0" bIns="0" anchor="t">
            <a:noAutofit/>
          </a:bodyPr>
          <a:lstStyle/>
          <a:p>
            <a:pPr>
              <a:defRPr sz="2025" b="0">
                <a:solidFill>
                  <a:srgbClr val="F3F4ED"/>
                </a:solidFill>
                <a:latin typeface="Arial"/>
                <a:ea typeface="Arial"/>
                <a:cs typeface="Arial"/>
              </a:defRPr>
            </a:pPr>
            <a:r>
              <a:rPr sz="2025" b="0">
                <a:solidFill>
                  <a:srgbClr val="F3F4ED"/>
                </a:solidFill>
                <a:latin typeface="Arial"/>
                <a:ea typeface="Arial"/>
                <a:cs typeface="Arial"/>
              </a:rPr>
              <a:t>The 2022 briefing raised a policy concern.</a:t>
            </a:r>
          </a:p>
          <a:p>
            <a:pPr>
              <a:defRPr sz="2025" b="0">
                <a:solidFill>
                  <a:srgbClr val="F3F4ED"/>
                </a:solidFill>
                <a:latin typeface="Arial"/>
                <a:ea typeface="Arial"/>
                <a:cs typeface="Arial"/>
              </a:defRPr>
            </a:pPr>
            <a:r>
              <a:rPr sz="2025" b="0">
                <a:solidFill>
                  <a:srgbClr val="F3F4ED"/>
                </a:solidFill>
                <a:latin typeface="Arial"/>
                <a:ea typeface="Arial"/>
                <a:cs typeface="Arial"/>
              </a:rPr>
              <a:t>It does not classify STL spacecraft or receivers.</a:t>
            </a:r>
          </a:p>
        </p:txBody>
      </p:sp>
      <p:sp>
        <p:nvSpPr>
          <p:cNvPr id="12" name="text-224">
            <a:extLst>
              <a:ext uri="{FF2B5EF4-FFF2-40B4-BE49-F238E27FC236}">
                <a16:creationId xmlns:a16="http://schemas.microsoft.com/office/drawing/2014/main" id="{06EABAB3-4A10-44B9-978B-4C938D5068CD}"/>
              </a:ext>
            </a:extLst>
          </p:cNvPr>
          <p:cNvSpPr>
            <a:spLocks noGrp="1"/>
          </p:cNvSpPr>
          <p:nvPr/>
        </p:nvSpPr>
        <p:spPr>
          <a:xfrm>
            <a:off x="609600" y="4981575"/>
            <a:ext cx="2743200" cy="361950"/>
          </a:xfrm>
          <a:prstGeom prst="rect">
            <a:avLst/>
          </a:prstGeom>
          <a:noFill/>
          <a:ln w="0">
            <a:noFill/>
          </a:ln>
        </p:spPr>
        <p:txBody>
          <a:bodyPr wrap="square" lIns="0" tIns="0" rIns="0" bIns="0" anchor="t">
            <a:noAutofit/>
          </a:bodyPr>
          <a:lstStyle/>
          <a:p>
            <a:pPr>
              <a:defRPr sz="2025" b="1">
                <a:solidFill>
                  <a:srgbClr val="6EDFC3"/>
                </a:solidFill>
                <a:latin typeface="Arial"/>
                <a:ea typeface="Arial"/>
                <a:cs typeface="Arial"/>
              </a:defRPr>
            </a:pPr>
            <a:r>
              <a:rPr sz="2025" b="1">
                <a:solidFill>
                  <a:srgbClr val="6EDFC3"/>
                </a:solidFill>
                <a:latin typeface="Arial"/>
                <a:ea typeface="Arial"/>
                <a:cs typeface="Arial"/>
              </a:rPr>
              <a:t>Market impact</a:t>
            </a:r>
          </a:p>
        </p:txBody>
      </p:sp>
      <p:sp>
        <p:nvSpPr>
          <p:cNvPr id="13" name="text-225">
            <a:extLst>
              <a:ext uri="{FF2B5EF4-FFF2-40B4-BE49-F238E27FC236}">
                <a16:creationId xmlns:a16="http://schemas.microsoft.com/office/drawing/2014/main" id="{DC5F6B44-7FB3-4E0C-AB22-CB26B194B2F0}"/>
              </a:ext>
            </a:extLst>
          </p:cNvPr>
          <p:cNvSpPr>
            <a:spLocks noGrp="1"/>
          </p:cNvSpPr>
          <p:nvPr/>
        </p:nvSpPr>
        <p:spPr>
          <a:xfrm>
            <a:off x="3829050" y="4981575"/>
            <a:ext cx="7753350" cy="733425"/>
          </a:xfrm>
          <a:prstGeom prst="rect">
            <a:avLst/>
          </a:prstGeom>
          <a:noFill/>
          <a:ln w="0">
            <a:noFill/>
          </a:ln>
        </p:spPr>
        <p:txBody>
          <a:bodyPr wrap="square" lIns="0" tIns="0" rIns="0" bIns="0" anchor="t">
            <a:noAutofit/>
          </a:bodyPr>
          <a:lstStyle/>
          <a:p>
            <a:pPr>
              <a:defRPr sz="2025" b="0">
                <a:solidFill>
                  <a:srgbClr val="F3F4ED"/>
                </a:solidFill>
                <a:latin typeface="Arial"/>
                <a:ea typeface="Arial"/>
                <a:cs typeface="Arial"/>
              </a:defRPr>
            </a:pPr>
            <a:r>
              <a:rPr sz="2025" b="0">
                <a:solidFill>
                  <a:srgbClr val="F3F4ED"/>
                </a:solidFill>
                <a:latin typeface="Arial"/>
                <a:ea typeface="Arial"/>
                <a:cs typeface="Arial"/>
              </a:rPr>
              <a:t>Disruption is an argument. Displacement is unproven here.</a:t>
            </a:r>
          </a:p>
          <a:p>
            <a:pPr>
              <a:defRPr sz="2025" b="0">
                <a:solidFill>
                  <a:srgbClr val="F3F4ED"/>
                </a:solidFill>
                <a:latin typeface="Arial"/>
                <a:ea typeface="Arial"/>
                <a:cs typeface="Arial"/>
              </a:defRPr>
            </a:pPr>
            <a:r>
              <a:rPr sz="2025" b="0">
                <a:solidFill>
                  <a:srgbClr val="F3F4ED"/>
                </a:solidFill>
                <a:latin typeface="Arial"/>
                <a:ea typeface="Arial"/>
                <a:cs typeface="Arial"/>
              </a:rPr>
              <a:t>The 2030 revenue target is a company forecast from 2024.</a:t>
            </a:r>
          </a:p>
        </p:txBody>
      </p:sp>
    </p:spTree>
    <p:extLst>
      <p:ext uri="{BB962C8B-B14F-4D97-AF65-F5344CB8AC3E}">
        <p14:creationId xmlns:p14="http://schemas.microsoft.com/office/powerpoint/2010/main" val="86230021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6630</Words>
  <Application>Microsoft Office PowerPoint</Application>
  <DocSecurity>0</DocSecurity>
  <PresentationFormat>Widescreen</PresentationFormat>
  <Paragraphs>577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Steve Zhou</cp:lastModifiedBy>
  <cp:revision>1</cp:revision>
  <dcterms:created xsi:type="dcterms:W3CDTF">2026-09-24T15:31:11Z</dcterms:created>
  <dcterms:modified xsi:type="dcterms:W3CDTF">2026-09-24T16:56:39Z</dcterms:modified>
</cp:coreProperties>
</file>